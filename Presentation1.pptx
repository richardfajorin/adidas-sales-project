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FB49070-5842-40B5-BC40-ACE6FD42E09F}">
          <p14:sldIdLst>
            <p14:sldId id="256"/>
            <p14:sldId id="257"/>
            <p14:sldId id="258"/>
            <p14:sldId id="259"/>
            <p14:sldId id="260"/>
          </p14:sldIdLst>
        </p14:section>
        <p14:section name="Untitled Section" id="{77395D71-785E-438A-BE72-31362856BBCE}">
          <p14:sldIdLst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DDE16"/>
    <a:srgbClr val="C9C9B5"/>
    <a:srgbClr val="122013"/>
    <a:srgbClr val="232323"/>
    <a:srgbClr val="1C1C1C"/>
    <a:srgbClr val="98EE42"/>
    <a:srgbClr val="54E34D"/>
    <a:srgbClr val="88C967"/>
    <a:srgbClr val="0D0D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226"/>
      </p:cViewPr>
      <p:guideLst>
        <p:guide orient="horz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Top\Desktop\DA%20Projec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Top\Desktop\DA%20Project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Top\Desktop\EXCEL\still%20working%20on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Top\Desktop\DA%20Project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Top\Desktop\DA%20Project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 Project.xlsx]Pivot tables!PivotTable6</c:name>
    <c:fmtId val="5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'Pivot tables'!$B$8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5DDE1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EB97-42D1-9304-B877C2A48EAC}"/>
              </c:ext>
            </c:extLst>
          </c:dPt>
          <c:dPt>
            <c:idx val="1"/>
            <c:invertIfNegative val="0"/>
            <c:bubble3D val="0"/>
            <c:spPr>
              <a:solidFill>
                <a:srgbClr val="5DDE1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EB97-42D1-9304-B877C2A48EAC}"/>
              </c:ext>
            </c:extLst>
          </c:dPt>
          <c:dPt>
            <c:idx val="2"/>
            <c:invertIfNegative val="0"/>
            <c:bubble3D val="0"/>
            <c:spPr>
              <a:solidFill>
                <a:srgbClr val="5DDE1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B97-42D1-9304-B877C2A48EAC}"/>
              </c:ext>
            </c:extLst>
          </c:dPt>
          <c:dPt>
            <c:idx val="3"/>
            <c:invertIfNegative val="0"/>
            <c:bubble3D val="0"/>
            <c:spPr>
              <a:solidFill>
                <a:srgbClr val="5DDE1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EB97-42D1-9304-B877C2A48EAC}"/>
              </c:ext>
            </c:extLst>
          </c:dPt>
          <c:dPt>
            <c:idx val="4"/>
            <c:invertIfNegative val="0"/>
            <c:bubble3D val="0"/>
            <c:spPr>
              <a:solidFill>
                <a:srgbClr val="5DDE1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EB97-42D1-9304-B877C2A48EAC}"/>
              </c:ext>
            </c:extLst>
          </c:dPt>
          <c:dPt>
            <c:idx val="5"/>
            <c:invertIfNegative val="0"/>
            <c:bubble3D val="0"/>
            <c:spPr>
              <a:solidFill>
                <a:srgbClr val="5DDE1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EB97-42D1-9304-B877C2A48EA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 tables'!$A$9:$A$15</c:f>
              <c:strCache>
                <c:ptCount val="6"/>
                <c:pt idx="0">
                  <c:v>Men's Apparel</c:v>
                </c:pt>
                <c:pt idx="1">
                  <c:v>Men's Athletic Footwear</c:v>
                </c:pt>
                <c:pt idx="2">
                  <c:v>Men's Street Footwear</c:v>
                </c:pt>
                <c:pt idx="3">
                  <c:v>Women's Apparel</c:v>
                </c:pt>
                <c:pt idx="4">
                  <c:v>Women's Athletic Footwear</c:v>
                </c:pt>
                <c:pt idx="5">
                  <c:v>Women's Street Footwear</c:v>
                </c:pt>
              </c:strCache>
            </c:strRef>
          </c:cat>
          <c:val>
            <c:numRef>
              <c:f>'Pivot tables'!$B$9:$B$15</c:f>
              <c:numCache>
                <c:formatCode>"$"#,##0.00</c:formatCode>
                <c:ptCount val="6"/>
                <c:pt idx="0">
                  <c:v>123728632</c:v>
                </c:pt>
                <c:pt idx="1">
                  <c:v>153673680</c:v>
                </c:pt>
                <c:pt idx="2">
                  <c:v>208826244</c:v>
                </c:pt>
                <c:pt idx="3">
                  <c:v>179038860</c:v>
                </c:pt>
                <c:pt idx="4">
                  <c:v>106631896</c:v>
                </c:pt>
                <c:pt idx="5">
                  <c:v>128002813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B97-42D1-9304-B877C2A48EA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321575360"/>
        <c:axId val="1039786016"/>
      </c:barChart>
      <c:catAx>
        <c:axId val="13215753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39786016"/>
        <c:crosses val="autoZero"/>
        <c:auto val="1"/>
        <c:lblAlgn val="ctr"/>
        <c:lblOffset val="100"/>
        <c:noMultiLvlLbl val="0"/>
      </c:catAx>
      <c:valAx>
        <c:axId val="1039786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$&quot;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215753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 Project.xlsx]Pivot tables!PivotTable7</c:name>
    <c:fmtId val="8"/>
  </c:pivotSource>
  <c:chart>
    <c:autoTitleDeleted val="1"/>
    <c:pivotFmts>
      <c:pivotFmt>
        <c:idx val="0"/>
      </c:pivotFmt>
      <c:pivotFmt>
        <c:idx val="1"/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</c:pivotFmt>
      <c:pivotFmt>
        <c:idx val="3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marker>
          <c:symbol val="circle"/>
          <c:size val="6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6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7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8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9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10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12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13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14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15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</c:pivotFmts>
    <c:plotArea>
      <c:layout/>
      <c:doughnutChart>
        <c:varyColors val="1"/>
        <c:ser>
          <c:idx val="0"/>
          <c:order val="0"/>
          <c:tx>
            <c:strRef>
              <c:f>'Pivot tables'!$E$8</c:f>
              <c:strCache>
                <c:ptCount val="1"/>
                <c:pt idx="0">
                  <c:v>Total</c:v>
                </c:pt>
              </c:strCache>
            </c:strRef>
          </c:tx>
          <c:spPr>
            <a:ln w="38100">
              <a:solidFill>
                <a:srgbClr val="1C1C1C"/>
              </a:solidFill>
            </a:ln>
          </c:spPr>
          <c:dPt>
            <c:idx val="0"/>
            <c:bubble3D val="0"/>
            <c:explosion val="1"/>
            <c:spPr>
              <a:solidFill>
                <a:schemeClr val="bg1">
                  <a:lumMod val="75000"/>
                  <a:lumOff val="25000"/>
                </a:schemeClr>
              </a:solidFill>
              <a:ln w="38100">
                <a:solidFill>
                  <a:srgbClr val="1C1C1C"/>
                </a:solidFill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8A2A-44E1-B272-AFB3029432B7}"/>
              </c:ext>
            </c:extLst>
          </c:dPt>
          <c:dPt>
            <c:idx val="1"/>
            <c:bubble3D val="0"/>
            <c:spPr>
              <a:solidFill>
                <a:schemeClr val="tx1">
                  <a:lumMod val="85000"/>
                </a:schemeClr>
              </a:solidFill>
              <a:ln w="38100">
                <a:solidFill>
                  <a:srgbClr val="1C1C1C"/>
                </a:solidFill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8A2A-44E1-B272-AFB3029432B7}"/>
              </c:ext>
            </c:extLst>
          </c:dPt>
          <c:dPt>
            <c:idx val="2"/>
            <c:bubble3D val="0"/>
            <c:spPr>
              <a:solidFill>
                <a:schemeClr val="bg1">
                  <a:lumMod val="50000"/>
                  <a:lumOff val="50000"/>
                </a:schemeClr>
              </a:solidFill>
              <a:ln w="38100">
                <a:solidFill>
                  <a:srgbClr val="1C1C1C"/>
                </a:solidFill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8A2A-44E1-B272-AFB3029432B7}"/>
              </c:ext>
            </c:extLst>
          </c:dPt>
          <c:dPt>
            <c:idx val="3"/>
            <c:bubble3D val="0"/>
            <c:spPr>
              <a:solidFill>
                <a:schemeClr val="bg1">
                  <a:lumMod val="65000"/>
                  <a:lumOff val="35000"/>
                </a:schemeClr>
              </a:solidFill>
              <a:ln w="38100">
                <a:solidFill>
                  <a:srgbClr val="1C1C1C"/>
                </a:solidFill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8A2A-44E1-B272-AFB3029432B7}"/>
              </c:ext>
            </c:extLst>
          </c:dPt>
          <c:dPt>
            <c:idx val="4"/>
            <c:bubble3D val="0"/>
            <c:spPr>
              <a:solidFill>
                <a:srgbClr val="5DDE16"/>
              </a:solidFill>
              <a:ln w="38100">
                <a:solidFill>
                  <a:srgbClr val="1C1C1C"/>
                </a:solidFill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9-8A2A-44E1-B272-AFB3029432B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'Pivot tables'!$D$9:$D$14</c:f>
              <c:strCache>
                <c:ptCount val="5"/>
                <c:pt idx="0">
                  <c:v>Midwest</c:v>
                </c:pt>
                <c:pt idx="1">
                  <c:v>Northeast</c:v>
                </c:pt>
                <c:pt idx="2">
                  <c:v>South</c:v>
                </c:pt>
                <c:pt idx="3">
                  <c:v>Southeast</c:v>
                </c:pt>
                <c:pt idx="4">
                  <c:v>West</c:v>
                </c:pt>
              </c:strCache>
            </c:strRef>
          </c:cat>
          <c:val>
            <c:numRef>
              <c:f>'Pivot tables'!$E$9:$E$14</c:f>
              <c:numCache>
                <c:formatCode>"$"#,##0.00</c:formatCode>
                <c:ptCount val="5"/>
                <c:pt idx="0">
                  <c:v>135800459</c:v>
                </c:pt>
                <c:pt idx="1">
                  <c:v>186324067</c:v>
                </c:pt>
                <c:pt idx="2">
                  <c:v>144663181</c:v>
                </c:pt>
                <c:pt idx="3">
                  <c:v>163171236</c:v>
                </c:pt>
                <c:pt idx="4">
                  <c:v>269943182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A2A-44E1-B272-AFB3029432B7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[still working on.xlsx]PIVOT TABLE!PivotTable5</c:name>
    <c:fmtId val="31"/>
  </c:pivotSource>
  <c:chart>
    <c:autoTitleDeleted val="1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</c:pivotFmt>
    </c:pivotFmts>
    <c:plotArea>
      <c:layout/>
      <c:lineChart>
        <c:grouping val="stacked"/>
        <c:varyColors val="0"/>
        <c:ser>
          <c:idx val="0"/>
          <c:order val="0"/>
          <c:tx>
            <c:strRef>
              <c:f>'PIVOT TABLE'!$E$12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rgbClr val="5DDE1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rgbClr val="5DDE16"/>
                </a:solidFill>
              </a:ln>
              <a:effectLst/>
            </c:spPr>
          </c:marker>
          <c:cat>
            <c:strRef>
              <c:f>'PIVOT TABLE'!$D$13:$D$25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'PIVOT TABLE'!$E$13:$E$25</c:f>
              <c:numCache>
                <c:formatCode>"$"#,##0.00</c:formatCode>
                <c:ptCount val="12"/>
                <c:pt idx="0">
                  <c:v>71479142</c:v>
                </c:pt>
                <c:pt idx="1">
                  <c:v>61100153</c:v>
                </c:pt>
                <c:pt idx="2">
                  <c:v>56809109</c:v>
                </c:pt>
                <c:pt idx="3">
                  <c:v>72339970</c:v>
                </c:pt>
                <c:pt idx="4">
                  <c:v>80507695</c:v>
                </c:pt>
                <c:pt idx="5">
                  <c:v>74747372</c:v>
                </c:pt>
                <c:pt idx="6">
                  <c:v>95480694</c:v>
                </c:pt>
                <c:pt idx="7">
                  <c:v>92166201</c:v>
                </c:pt>
                <c:pt idx="8">
                  <c:v>77661459</c:v>
                </c:pt>
                <c:pt idx="9">
                  <c:v>63911033</c:v>
                </c:pt>
                <c:pt idx="10">
                  <c:v>67857340</c:v>
                </c:pt>
                <c:pt idx="11">
                  <c:v>85841957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9E6-4009-B148-BFB38CA30F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01633440"/>
        <c:axId val="2001644256"/>
      </c:lineChart>
      <c:catAx>
        <c:axId val="20016334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01644256"/>
        <c:crosses val="autoZero"/>
        <c:auto val="1"/>
        <c:lblAlgn val="ctr"/>
        <c:lblOffset val="100"/>
        <c:noMultiLvlLbl val="0"/>
      </c:catAx>
      <c:valAx>
        <c:axId val="20016442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$&quot;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016334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 Project.xlsx]Pivot tables!PivotTable10</c:name>
    <c:fmtId val="5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'Pivot tables'!$B$26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5DDE16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50000"/>
                  <a:lumOff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F25-4822-966E-F0CED250CC55}"/>
              </c:ext>
            </c:extLst>
          </c:dPt>
          <c:dPt>
            <c:idx val="1"/>
            <c:invertIfNegative val="0"/>
            <c:bubble3D val="0"/>
            <c:spPr>
              <a:solidFill>
                <a:schemeClr val="tx1">
                  <a:lumMod val="8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0F25-4822-966E-F0CED250CC55}"/>
              </c:ext>
            </c:extLst>
          </c:dPt>
          <c:dPt>
            <c:idx val="2"/>
            <c:invertIfNegative val="0"/>
            <c:bubble3D val="0"/>
            <c:spPr>
              <a:solidFill>
                <a:schemeClr val="bg1">
                  <a:lumMod val="75000"/>
                  <a:lumOff val="2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F25-4822-966E-F0CED250CC55}"/>
              </c:ext>
            </c:extLst>
          </c:dPt>
          <c:dPt>
            <c:idx val="4"/>
            <c:invertIfNegative val="0"/>
            <c:bubble3D val="0"/>
            <c:spPr>
              <a:solidFill>
                <a:schemeClr val="tx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0F25-4822-966E-F0CED250CC5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 tables'!$A$27:$A$33</c:f>
              <c:strCache>
                <c:ptCount val="6"/>
                <c:pt idx="0">
                  <c:v>Amazon</c:v>
                </c:pt>
                <c:pt idx="1">
                  <c:v>Foot Locker</c:v>
                </c:pt>
                <c:pt idx="2">
                  <c:v>Kohl's</c:v>
                </c:pt>
                <c:pt idx="3">
                  <c:v>Sports Direct</c:v>
                </c:pt>
                <c:pt idx="4">
                  <c:v>Walmart</c:v>
                </c:pt>
                <c:pt idx="5">
                  <c:v>West Gear</c:v>
                </c:pt>
              </c:strCache>
            </c:strRef>
          </c:cat>
          <c:val>
            <c:numRef>
              <c:f>'Pivot tables'!$B$27:$B$33</c:f>
              <c:numCache>
                <c:formatCode>"$"#,##0.00</c:formatCode>
                <c:ptCount val="6"/>
                <c:pt idx="0">
                  <c:v>77698912</c:v>
                </c:pt>
                <c:pt idx="1">
                  <c:v>220094720</c:v>
                </c:pt>
                <c:pt idx="2">
                  <c:v>102114753</c:v>
                </c:pt>
                <c:pt idx="3">
                  <c:v>182470997</c:v>
                </c:pt>
                <c:pt idx="4">
                  <c:v>74558410</c:v>
                </c:pt>
                <c:pt idx="5">
                  <c:v>242964333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F25-4822-966E-F0CED250CC5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402811312"/>
        <c:axId val="1506239696"/>
      </c:barChart>
      <c:catAx>
        <c:axId val="14028113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06239696"/>
        <c:crosses val="autoZero"/>
        <c:auto val="1"/>
        <c:lblAlgn val="ctr"/>
        <c:lblOffset val="100"/>
        <c:noMultiLvlLbl val="0"/>
      </c:catAx>
      <c:valAx>
        <c:axId val="15062396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$&quot;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028113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 Project.xlsx]Pivot tables!PivotTable8</c:name>
    <c:fmtId val="13"/>
  </c:pivotSource>
  <c:chart>
    <c:autoTitleDeleted val="1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</c:pivotFmt>
      <c:pivotFmt>
        <c:idx val="1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/>
      <c:pieChart>
        <c:varyColors val="1"/>
        <c:ser>
          <c:idx val="0"/>
          <c:order val="0"/>
          <c:tx>
            <c:strRef>
              <c:f>'Pivot tables'!$E$17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rgbClr val="5DDE16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0355-4314-9288-9DB8EC40F38F}"/>
              </c:ext>
            </c:extLst>
          </c:dPt>
          <c:dPt>
            <c:idx val="1"/>
            <c:bubble3D val="0"/>
            <c:spPr>
              <a:solidFill>
                <a:srgbClr val="C9C9B5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0355-4314-9288-9DB8EC40F38F}"/>
              </c:ext>
            </c:extLst>
          </c:dPt>
          <c:dPt>
            <c:idx val="2"/>
            <c:bubble3D val="0"/>
            <c:spPr>
              <a:solidFill>
                <a:schemeClr val="bg1">
                  <a:lumMod val="50000"/>
                  <a:lumOff val="50000"/>
                </a:schemeClr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0355-4314-9288-9DB8EC40F38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dk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'Pivot tables'!$D$18:$D$21</c:f>
              <c:strCache>
                <c:ptCount val="3"/>
                <c:pt idx="0">
                  <c:v>In-store</c:v>
                </c:pt>
                <c:pt idx="1">
                  <c:v>Online</c:v>
                </c:pt>
                <c:pt idx="2">
                  <c:v>Outlet</c:v>
                </c:pt>
              </c:strCache>
            </c:strRef>
          </c:cat>
          <c:val>
            <c:numRef>
              <c:f>'Pivot tables'!$E$18:$E$21</c:f>
              <c:numCache>
                <c:formatCode>"$"#,##0.00</c:formatCode>
                <c:ptCount val="3"/>
                <c:pt idx="0">
                  <c:v>356643750</c:v>
                </c:pt>
                <c:pt idx="1">
                  <c:v>247672882</c:v>
                </c:pt>
                <c:pt idx="2">
                  <c:v>295585493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355-4314-9288-9DB8EC40F38F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/>
      <c:overlay val="0"/>
      <c:spPr>
        <a:solidFill>
          <a:schemeClr val="lt1">
            <a:alpha val="78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61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categoryAxis>
  <cs:chartArea>
    <cs:lnRef idx="0"/>
    <cs:fillRef idx="0"/>
    <cs:effectRef idx="0"/>
    <cs:fontRef idx="minor">
      <a:schemeClr val="dk1"/>
    </cs:fontRef>
    <cs:spPr>
      <a:pattFill prst="dkDnDiag">
        <a:fgClr>
          <a:schemeClr val="lt1">
            <a:lumMod val="95000"/>
          </a:schemeClr>
        </a:fgClr>
        <a:bgClr>
          <a:schemeClr val="lt1"/>
        </a:bgClr>
      </a:patt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5000"/>
        </a:schemeClr>
      </a:solidFill>
      <a:ln w="9525"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317500" algn="ctr" rotWithShape="0">
          <a:prstClr val="black">
            <a:alpha val="25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20000"/>
          </a:prstClr>
        </a:outerShdw>
      </a:effectLst>
      <a:scene3d>
        <a:camera prst="orthographicFront"/>
        <a:lightRig rig="threePt" dir="t"/>
      </a:scene3d>
      <a:sp3d prstMaterial="matte"/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noFill/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8000"/>
        </a:schemeClr>
      </a:solidFill>
    </cs:spPr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3D994E-2F58-4907-9ABB-464A51FA2BB8}" type="datetimeFigureOut">
              <a:rPr lang="en-CA" smtClean="0"/>
              <a:t>2026-03-26</a:t>
            </a:fld>
            <a:endParaRPr lang="en-CA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39EB0D-EC3B-4762-97A0-EB6D0E07DBF4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014480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BD766-1B0A-431F-BDFA-A36826D00FD7}" type="datetimeFigureOut">
              <a:rPr lang="en-CA" smtClean="0"/>
              <a:t>2026-03-26</a:t>
            </a:fld>
            <a:endParaRPr lang="en-C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89772-E179-4494-9B45-B22AF1061E8F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472309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BD766-1B0A-431F-BDFA-A36826D00FD7}" type="datetimeFigureOut">
              <a:rPr lang="en-CA" smtClean="0"/>
              <a:t>2026-03-26</a:t>
            </a:fld>
            <a:endParaRPr lang="en-C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89772-E179-4494-9B45-B22AF1061E8F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753064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BD766-1B0A-431F-BDFA-A36826D00FD7}" type="datetimeFigureOut">
              <a:rPr lang="en-CA" smtClean="0"/>
              <a:t>2026-03-26</a:t>
            </a:fld>
            <a:endParaRPr lang="en-C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89772-E179-4494-9B45-B22AF1061E8F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227977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BD766-1B0A-431F-BDFA-A36826D00FD7}" type="datetimeFigureOut">
              <a:rPr lang="en-CA" smtClean="0"/>
              <a:t>2026-03-26</a:t>
            </a:fld>
            <a:endParaRPr lang="en-CA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89772-E179-4494-9B45-B22AF1061E8F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8086417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BD766-1B0A-431F-BDFA-A36826D00FD7}" type="datetimeFigureOut">
              <a:rPr lang="en-CA" smtClean="0"/>
              <a:t>2026-03-26</a:t>
            </a:fld>
            <a:endParaRPr lang="en-CA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89772-E179-4494-9B45-B22AF1061E8F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82936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BD766-1B0A-431F-BDFA-A36826D00FD7}" type="datetimeFigureOut">
              <a:rPr lang="en-CA" smtClean="0"/>
              <a:t>2026-03-26</a:t>
            </a:fld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89772-E179-4494-9B45-B22AF1061E8F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053904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BD766-1B0A-431F-BDFA-A36826D00FD7}" type="datetimeFigureOut">
              <a:rPr lang="en-CA" smtClean="0"/>
              <a:t>2026-03-26</a:t>
            </a:fld>
            <a:endParaRPr lang="en-CA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89772-E179-4494-9B45-B22AF1061E8F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133661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BD766-1B0A-431F-BDFA-A36826D00FD7}" type="datetimeFigureOut">
              <a:rPr lang="en-CA" smtClean="0"/>
              <a:t>2026-03-26</a:t>
            </a:fld>
            <a:endParaRPr lang="en-CA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89772-E179-4494-9B45-B22AF1061E8F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965489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BD766-1B0A-431F-BDFA-A36826D00FD7}" type="datetimeFigureOut">
              <a:rPr lang="en-CA" smtClean="0"/>
              <a:t>2026-03-26</a:t>
            </a:fld>
            <a:endParaRPr lang="en-CA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89772-E179-4494-9B45-B22AF1061E8F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416338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BD766-1B0A-431F-BDFA-A36826D00FD7}" type="datetimeFigureOut">
              <a:rPr lang="en-CA" smtClean="0"/>
              <a:t>2026-03-26</a:t>
            </a:fld>
            <a:endParaRPr lang="en-C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89772-E179-4494-9B45-B22AF1061E8F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668309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BD766-1B0A-431F-BDFA-A36826D00FD7}" type="datetimeFigureOut">
              <a:rPr lang="en-CA" smtClean="0"/>
              <a:t>2026-03-26</a:t>
            </a:fld>
            <a:endParaRPr lang="en-C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89772-E179-4494-9B45-B22AF1061E8F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006549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9BD766-1B0A-431F-BDFA-A36826D00FD7}" type="datetimeFigureOut">
              <a:rPr lang="en-CA" smtClean="0"/>
              <a:t>2026-03-26</a:t>
            </a:fld>
            <a:endParaRPr lang="en-C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D89772-E179-4494-9B45-B22AF1061E8F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95672224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513806" y="391886"/>
            <a:ext cx="9886439" cy="5323619"/>
            <a:chOff x="513806" y="391886"/>
            <a:chExt cx="9886439" cy="5323619"/>
          </a:xfrm>
        </p:grpSpPr>
        <p:sp>
          <p:nvSpPr>
            <p:cNvPr id="4" name="Rounded Rectangle 3"/>
            <p:cNvSpPr/>
            <p:nvPr/>
          </p:nvSpPr>
          <p:spPr>
            <a:xfrm>
              <a:off x="513806" y="391886"/>
              <a:ext cx="2567722" cy="458506"/>
            </a:xfrm>
            <a:prstGeom prst="roundRect">
              <a:avLst/>
            </a:prstGeom>
            <a:solidFill>
              <a:srgbClr val="5DDE16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CA" sz="1400" dirty="0" smtClean="0">
                  <a:solidFill>
                    <a:schemeClr val="bg1"/>
                  </a:solidFill>
                  <a:latin typeface="Cooper Black" panose="0208090404030B020404" pitchFamily="18" charset="0"/>
                </a:rPr>
                <a:t>SALES ANALYIS REPORT</a:t>
              </a:r>
              <a:endParaRPr lang="en-CA" dirty="0">
                <a:solidFill>
                  <a:schemeClr val="bg1"/>
                </a:solidFill>
                <a:latin typeface="Cooper Black" panose="0208090404030B020404" pitchFamily="18" charset="0"/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513806" y="1558835"/>
              <a:ext cx="492905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3600" dirty="0" smtClean="0">
                  <a:solidFill>
                    <a:schemeClr val="tx2">
                      <a:lumMod val="90000"/>
                    </a:schemeClr>
                  </a:solidFill>
                  <a:latin typeface="Cooper Black" panose="0208090404030B020404" pitchFamily="18" charset="0"/>
                </a:rPr>
                <a:t>Adidas Sales</a:t>
              </a:r>
              <a:r>
                <a:rPr lang="en-CA" sz="4000" dirty="0" smtClean="0">
                  <a:solidFill>
                    <a:schemeClr val="tx2">
                      <a:lumMod val="90000"/>
                    </a:schemeClr>
                  </a:solidFill>
                  <a:latin typeface="Cooper Black" panose="0208090404030B020404" pitchFamily="18" charset="0"/>
                </a:rPr>
                <a:t> </a:t>
              </a:r>
            </a:p>
            <a:p>
              <a:r>
                <a:rPr lang="en-CA" sz="3200" dirty="0" smtClean="0">
                  <a:solidFill>
                    <a:srgbClr val="5DDE16"/>
                  </a:solidFill>
                  <a:latin typeface="Cooper Black" panose="0208090404030B020404" pitchFamily="18" charset="0"/>
                </a:rPr>
                <a:t>Performance</a:t>
              </a:r>
              <a:r>
                <a:rPr lang="en-CA" sz="3200" dirty="0" smtClean="0">
                  <a:latin typeface="Cooper Black" panose="0208090404030B020404" pitchFamily="18" charset="0"/>
                </a:rPr>
                <a:t> </a:t>
              </a:r>
              <a:r>
                <a:rPr lang="en-CA" sz="3200" dirty="0" smtClean="0">
                  <a:solidFill>
                    <a:schemeClr val="tx2">
                      <a:lumMod val="90000"/>
                    </a:schemeClr>
                  </a:solidFill>
                  <a:latin typeface="Cooper Black" panose="0208090404030B020404" pitchFamily="18" charset="0"/>
                </a:rPr>
                <a:t>Analysis</a:t>
              </a:r>
              <a:endParaRPr lang="en-CA" sz="3200" dirty="0">
                <a:solidFill>
                  <a:schemeClr val="tx2">
                    <a:lumMod val="90000"/>
                  </a:schemeClr>
                </a:solidFill>
                <a:latin typeface="Cooper Black" panose="0208090404030B020404" pitchFamily="18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13806" y="3054307"/>
              <a:ext cx="593784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 smtClean="0">
                  <a:solidFill>
                    <a:schemeClr val="tx2">
                      <a:lumMod val="90000"/>
                    </a:schemeClr>
                  </a:solidFill>
                  <a:latin typeface="Britannic Bold" panose="020B0903060703020204" pitchFamily="34" charset="0"/>
                  <a:cs typeface="Times New Roman" panose="02020603050405020304" pitchFamily="18" charset="0"/>
                </a:rPr>
                <a:t>Strategic Insight &amp; Data-Driven Recommendations</a:t>
              </a:r>
            </a:p>
            <a:p>
              <a:r>
                <a:rPr lang="en-CA" dirty="0" smtClean="0">
                  <a:solidFill>
                    <a:schemeClr val="tx2">
                      <a:lumMod val="90000"/>
                    </a:schemeClr>
                  </a:solidFill>
                  <a:latin typeface="Britannic Bold" panose="020B0903060703020204" pitchFamily="34" charset="0"/>
                  <a:cs typeface="Times New Roman" panose="02020603050405020304" pitchFamily="18" charset="0"/>
                </a:rPr>
                <a:t>Based on 2020-2021 Comprehensive Sales Data review.</a:t>
              </a:r>
            </a:p>
          </p:txBody>
        </p:sp>
        <p:grpSp>
          <p:nvGrpSpPr>
            <p:cNvPr id="16" name="Group 15"/>
            <p:cNvGrpSpPr/>
            <p:nvPr/>
          </p:nvGrpSpPr>
          <p:grpSpPr>
            <a:xfrm>
              <a:off x="513806" y="4877670"/>
              <a:ext cx="1814152" cy="836023"/>
              <a:chOff x="670560" y="5042262"/>
              <a:chExt cx="1814152" cy="836023"/>
            </a:xfrm>
          </p:grpSpPr>
          <p:sp>
            <p:nvSpPr>
              <p:cNvPr id="13" name="Rectangle 12"/>
              <p:cNvSpPr/>
              <p:nvPr/>
            </p:nvSpPr>
            <p:spPr>
              <a:xfrm>
                <a:off x="670560" y="5042262"/>
                <a:ext cx="45719" cy="836023"/>
              </a:xfrm>
              <a:prstGeom prst="rect">
                <a:avLst/>
              </a:prstGeom>
              <a:solidFill>
                <a:srgbClr val="5DDE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716279" y="5042262"/>
                <a:ext cx="120417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2000" b="1" kern="1500" spc="100" dirty="0" smtClean="0">
                    <a:solidFill>
                      <a:srgbClr val="5DDE16"/>
                    </a:solidFill>
                    <a:latin typeface="Impact" panose="020B0806030902050204" pitchFamily="34" charset="0"/>
                    <a:cs typeface="Times New Roman" panose="02020603050405020304" pitchFamily="18" charset="0"/>
                  </a:rPr>
                  <a:t>$899.9M</a:t>
                </a:r>
                <a:endParaRPr lang="en-CA" sz="2000" kern="1500" spc="100" dirty="0">
                  <a:solidFill>
                    <a:srgbClr val="5DDE16"/>
                  </a:solidFill>
                  <a:latin typeface="Impact" panose="020B080603090205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716279" y="5570508"/>
                <a:ext cx="176843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1400" dirty="0" smtClean="0">
                    <a:solidFill>
                      <a:schemeClr val="tx2">
                        <a:lumMod val="90000"/>
                      </a:schemeClr>
                    </a:solidFill>
                    <a:latin typeface="Britannic Bold" panose="020B0903060703020204" pitchFamily="34" charset="0"/>
                    <a:cs typeface="Times New Roman" panose="02020603050405020304" pitchFamily="18" charset="0"/>
                  </a:rPr>
                  <a:t>Total </a:t>
                </a:r>
                <a:r>
                  <a:rPr lang="en-CA" sz="1400" dirty="0">
                    <a:solidFill>
                      <a:schemeClr val="tx2">
                        <a:lumMod val="90000"/>
                      </a:schemeClr>
                    </a:solidFill>
                    <a:latin typeface="Britannic Bold" panose="020B0903060703020204" pitchFamily="34" charset="0"/>
                    <a:cs typeface="Times New Roman" panose="02020603050405020304" pitchFamily="18" charset="0"/>
                  </a:rPr>
                  <a:t>Sales</a:t>
                </a:r>
                <a:r>
                  <a:rPr lang="en-CA" sz="1400" dirty="0" smtClean="0">
                    <a:solidFill>
                      <a:schemeClr val="tx2">
                        <a:lumMod val="90000"/>
                      </a:schemeClr>
                    </a:solidFill>
                    <a:latin typeface="Britannic Bold" panose="020B0903060703020204" pitchFamily="34" charset="0"/>
                    <a:cs typeface="Times New Roman" panose="02020603050405020304" pitchFamily="18" charset="0"/>
                  </a:rPr>
                  <a:t> Revenue</a:t>
                </a:r>
                <a:endParaRPr lang="en-CA" sz="1600" dirty="0">
                  <a:solidFill>
                    <a:schemeClr val="tx2">
                      <a:lumMod val="90000"/>
                    </a:schemeClr>
                  </a:solidFill>
                  <a:latin typeface="Britannic Bold" panose="020B0903060703020204" pitchFamily="34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7" name="Group 16"/>
            <p:cNvGrpSpPr/>
            <p:nvPr/>
          </p:nvGrpSpPr>
          <p:grpSpPr>
            <a:xfrm>
              <a:off x="4909022" y="4879482"/>
              <a:ext cx="1756444" cy="836023"/>
              <a:chOff x="670560" y="5042262"/>
              <a:chExt cx="1756444" cy="836023"/>
            </a:xfrm>
          </p:grpSpPr>
          <p:sp>
            <p:nvSpPr>
              <p:cNvPr id="18" name="Rectangle 17"/>
              <p:cNvSpPr/>
              <p:nvPr/>
            </p:nvSpPr>
            <p:spPr>
              <a:xfrm>
                <a:off x="670560" y="5042262"/>
                <a:ext cx="45719" cy="836023"/>
              </a:xfrm>
              <a:prstGeom prst="rect">
                <a:avLst/>
              </a:prstGeom>
              <a:solidFill>
                <a:srgbClr val="5DDE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716279" y="5042262"/>
                <a:ext cx="32412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2000" b="1" dirty="0">
                    <a:solidFill>
                      <a:schemeClr val="tx1">
                        <a:lumMod val="65000"/>
                      </a:schemeClr>
                    </a:solidFill>
                    <a:latin typeface="Impact" panose="020B0806030902050204" pitchFamily="34" charset="0"/>
                    <a:cs typeface="Times New Roman" panose="02020603050405020304" pitchFamily="18" charset="0"/>
                  </a:rPr>
                  <a:t>6</a:t>
                </a:r>
                <a:endParaRPr lang="en-CA" sz="2000" dirty="0">
                  <a:solidFill>
                    <a:schemeClr val="tx1">
                      <a:lumMod val="65000"/>
                    </a:schemeClr>
                  </a:solidFill>
                  <a:latin typeface="Impact" panose="020B080603090205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716279" y="5570508"/>
                <a:ext cx="171072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1400" dirty="0" smtClean="0">
                    <a:solidFill>
                      <a:schemeClr val="tx2">
                        <a:lumMod val="90000"/>
                      </a:schemeClr>
                    </a:solidFill>
                    <a:latin typeface="Britannic Bold" panose="020B0903060703020204" pitchFamily="34" charset="0"/>
                    <a:cs typeface="Times New Roman" panose="02020603050405020304" pitchFamily="18" charset="0"/>
                  </a:rPr>
                  <a:t>Product Categories</a:t>
                </a:r>
                <a:endParaRPr lang="en-CA" sz="1600" dirty="0">
                  <a:solidFill>
                    <a:schemeClr val="tx2">
                      <a:lumMod val="90000"/>
                    </a:schemeClr>
                  </a:solidFill>
                  <a:latin typeface="Britannic Bold" panose="020B0903060703020204" pitchFamily="34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1" name="Group 20"/>
            <p:cNvGrpSpPr/>
            <p:nvPr/>
          </p:nvGrpSpPr>
          <p:grpSpPr>
            <a:xfrm>
              <a:off x="9304238" y="4877670"/>
              <a:ext cx="1096007" cy="836023"/>
              <a:chOff x="670560" y="5042262"/>
              <a:chExt cx="1096007" cy="836023"/>
            </a:xfrm>
          </p:grpSpPr>
          <p:sp>
            <p:nvSpPr>
              <p:cNvPr id="22" name="Rectangle 21"/>
              <p:cNvSpPr/>
              <p:nvPr/>
            </p:nvSpPr>
            <p:spPr>
              <a:xfrm>
                <a:off x="670560" y="5042262"/>
                <a:ext cx="45719" cy="836023"/>
              </a:xfrm>
              <a:prstGeom prst="rect">
                <a:avLst/>
              </a:prstGeom>
              <a:solidFill>
                <a:srgbClr val="5DDE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716279" y="5042262"/>
                <a:ext cx="33534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2000" b="1" kern="1500" spc="100" dirty="0">
                    <a:solidFill>
                      <a:srgbClr val="5DDE16"/>
                    </a:solidFill>
                    <a:latin typeface="Impact" panose="020B0806030902050204" pitchFamily="34" charset="0"/>
                    <a:cs typeface="Times New Roman" panose="02020603050405020304" pitchFamily="18" charset="0"/>
                  </a:rPr>
                  <a:t>5</a:t>
                </a:r>
                <a:endParaRPr lang="en-CA" sz="2000" kern="1500" spc="100" dirty="0">
                  <a:solidFill>
                    <a:srgbClr val="5DDE16"/>
                  </a:solidFill>
                  <a:latin typeface="Impact" panose="020B080603090205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716279" y="5570508"/>
                <a:ext cx="105028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1400" dirty="0" smtClean="0">
                    <a:solidFill>
                      <a:schemeClr val="tx2">
                        <a:lumMod val="90000"/>
                      </a:schemeClr>
                    </a:solidFill>
                    <a:latin typeface="Britannic Bold" panose="020B0903060703020204" pitchFamily="34" charset="0"/>
                    <a:cs typeface="Times New Roman" panose="02020603050405020304" pitchFamily="18" charset="0"/>
                  </a:rPr>
                  <a:t>US </a:t>
                </a:r>
                <a:r>
                  <a:rPr lang="en-CA" sz="1400" dirty="0">
                    <a:solidFill>
                      <a:schemeClr val="tx2">
                        <a:lumMod val="90000"/>
                      </a:schemeClr>
                    </a:solidFill>
                    <a:latin typeface="Britannic Bold" panose="020B0903060703020204" pitchFamily="34" charset="0"/>
                    <a:cs typeface="Times New Roman" panose="02020603050405020304" pitchFamily="18" charset="0"/>
                  </a:rPr>
                  <a:t>REGION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87231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/>
          <p:cNvGrpSpPr/>
          <p:nvPr/>
        </p:nvGrpSpPr>
        <p:grpSpPr>
          <a:xfrm>
            <a:off x="389981" y="227675"/>
            <a:ext cx="11470333" cy="6264585"/>
            <a:chOff x="513806" y="218150"/>
            <a:chExt cx="11470333" cy="6264585"/>
          </a:xfrm>
        </p:grpSpPr>
        <p:sp>
          <p:nvSpPr>
            <p:cNvPr id="2" name="Rounded Rectangle 1"/>
            <p:cNvSpPr/>
            <p:nvPr/>
          </p:nvSpPr>
          <p:spPr>
            <a:xfrm>
              <a:off x="513806" y="218150"/>
              <a:ext cx="1580170" cy="302644"/>
            </a:xfrm>
            <a:prstGeom prst="roundRect">
              <a:avLst/>
            </a:prstGeom>
            <a:solidFill>
              <a:srgbClr val="5DDE16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CA" sz="1200" dirty="0" smtClean="0">
                  <a:solidFill>
                    <a:schemeClr val="bg1"/>
                  </a:solidFill>
                  <a:latin typeface="Cooper Black" panose="0208090404030B020404" pitchFamily="18" charset="0"/>
                </a:rPr>
                <a:t>NAVIGATION</a:t>
              </a:r>
              <a:endParaRPr lang="en-CA" sz="1600" dirty="0">
                <a:solidFill>
                  <a:schemeClr val="bg1"/>
                </a:solidFill>
                <a:latin typeface="Cooper Black" panose="0208090404030B020404" pitchFamily="18" charset="0"/>
              </a:endParaRP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513806" y="568762"/>
              <a:ext cx="492905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2800" dirty="0" smtClean="0">
                  <a:solidFill>
                    <a:schemeClr val="tx2">
                      <a:lumMod val="90000"/>
                    </a:schemeClr>
                  </a:solidFill>
                  <a:latin typeface="Cooper Black" panose="0208090404030B020404" pitchFamily="18" charset="0"/>
                </a:rPr>
                <a:t>Executive Overview</a:t>
              </a:r>
              <a:endParaRPr lang="en-CA" sz="4000" dirty="0" smtClean="0">
                <a:solidFill>
                  <a:schemeClr val="tx2">
                    <a:lumMod val="90000"/>
                  </a:schemeClr>
                </a:solidFill>
                <a:latin typeface="Cooper Black" panose="0208090404030B020404" pitchFamily="18" charset="0"/>
              </a:endParaRP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13806" y="1055442"/>
              <a:ext cx="581384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400" dirty="0" smtClean="0">
                  <a:solidFill>
                    <a:schemeClr val="tx2">
                      <a:lumMod val="90000"/>
                    </a:schemeClr>
                  </a:solidFill>
                  <a:latin typeface="Impact" panose="020B0806030902050204" pitchFamily="34" charset="0"/>
                  <a:cs typeface="Times New Roman" panose="02020603050405020304" pitchFamily="18" charset="0"/>
                </a:rPr>
                <a:t>Comprehensive analysis framework covering all key business dimension</a:t>
              </a:r>
              <a:endParaRPr lang="en-CA" dirty="0" smtClean="0">
                <a:solidFill>
                  <a:schemeClr val="tx2">
                    <a:lumMod val="9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2" name="Group 21"/>
            <p:cNvGrpSpPr/>
            <p:nvPr/>
          </p:nvGrpSpPr>
          <p:grpSpPr>
            <a:xfrm>
              <a:off x="513806" y="1663847"/>
              <a:ext cx="5635067" cy="1124712"/>
              <a:chOff x="450669" y="4736592"/>
              <a:chExt cx="4011603" cy="1124712"/>
            </a:xfrm>
          </p:grpSpPr>
          <p:sp>
            <p:nvSpPr>
              <p:cNvPr id="21" name="Rounded Rectangle 20"/>
              <p:cNvSpPr/>
              <p:nvPr/>
            </p:nvSpPr>
            <p:spPr>
              <a:xfrm>
                <a:off x="450669" y="4736592"/>
                <a:ext cx="1094667" cy="1124712"/>
              </a:xfrm>
              <a:prstGeom prst="roundRect">
                <a:avLst/>
              </a:prstGeom>
              <a:solidFill>
                <a:srgbClr val="5DDE16"/>
              </a:solidFill>
              <a:ln>
                <a:noFill/>
              </a:ln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CA" sz="1600" dirty="0">
                  <a:solidFill>
                    <a:schemeClr val="bg1"/>
                  </a:solidFill>
                  <a:latin typeface="Cooper Black" panose="0208090404030B020404" pitchFamily="18" charset="0"/>
                </a:endParaRPr>
              </a:p>
            </p:txBody>
          </p:sp>
          <p:sp>
            <p:nvSpPr>
              <p:cNvPr id="19" name="Rounded Rectangle 18"/>
              <p:cNvSpPr/>
              <p:nvPr/>
            </p:nvSpPr>
            <p:spPr>
              <a:xfrm>
                <a:off x="513806" y="4736592"/>
                <a:ext cx="3948466" cy="1124712"/>
              </a:xfrm>
              <a:prstGeom prst="roundRect">
                <a:avLst/>
              </a:prstGeom>
              <a:solidFill>
                <a:srgbClr val="0D0D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</p:grpSp>
        <p:grpSp>
          <p:nvGrpSpPr>
            <p:cNvPr id="23" name="Group 22"/>
            <p:cNvGrpSpPr/>
            <p:nvPr/>
          </p:nvGrpSpPr>
          <p:grpSpPr>
            <a:xfrm>
              <a:off x="513806" y="2895239"/>
              <a:ext cx="5635067" cy="1124712"/>
              <a:chOff x="450669" y="4736592"/>
              <a:chExt cx="4011603" cy="1124712"/>
            </a:xfrm>
          </p:grpSpPr>
          <p:sp>
            <p:nvSpPr>
              <p:cNvPr id="24" name="Rounded Rectangle 23"/>
              <p:cNvSpPr/>
              <p:nvPr/>
            </p:nvSpPr>
            <p:spPr>
              <a:xfrm>
                <a:off x="450669" y="4736592"/>
                <a:ext cx="1094667" cy="1124712"/>
              </a:xfrm>
              <a:prstGeom prst="roundRect">
                <a:avLst/>
              </a:prstGeom>
              <a:solidFill>
                <a:srgbClr val="5DDE16"/>
              </a:solidFill>
              <a:ln>
                <a:noFill/>
              </a:ln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CA" sz="1600" dirty="0">
                  <a:solidFill>
                    <a:schemeClr val="bg1"/>
                  </a:solidFill>
                  <a:latin typeface="Cooper Black" panose="0208090404030B020404" pitchFamily="18" charset="0"/>
                </a:endParaRPr>
              </a:p>
            </p:txBody>
          </p:sp>
          <p:sp>
            <p:nvSpPr>
              <p:cNvPr id="25" name="Rounded Rectangle 24"/>
              <p:cNvSpPr/>
              <p:nvPr/>
            </p:nvSpPr>
            <p:spPr>
              <a:xfrm>
                <a:off x="513806" y="4736592"/>
                <a:ext cx="3948466" cy="1124712"/>
              </a:xfrm>
              <a:prstGeom prst="roundRect">
                <a:avLst/>
              </a:prstGeom>
              <a:solidFill>
                <a:srgbClr val="0D0D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</p:grpSp>
        <p:grpSp>
          <p:nvGrpSpPr>
            <p:cNvPr id="26" name="Group 25"/>
            <p:cNvGrpSpPr/>
            <p:nvPr/>
          </p:nvGrpSpPr>
          <p:grpSpPr>
            <a:xfrm>
              <a:off x="513806" y="4126631"/>
              <a:ext cx="5635067" cy="1124712"/>
              <a:chOff x="450669" y="4736592"/>
              <a:chExt cx="4011603" cy="1124712"/>
            </a:xfrm>
          </p:grpSpPr>
          <p:sp>
            <p:nvSpPr>
              <p:cNvPr id="27" name="Rounded Rectangle 26"/>
              <p:cNvSpPr/>
              <p:nvPr/>
            </p:nvSpPr>
            <p:spPr>
              <a:xfrm>
                <a:off x="450669" y="4736592"/>
                <a:ext cx="1094667" cy="1124712"/>
              </a:xfrm>
              <a:prstGeom prst="roundRect">
                <a:avLst/>
              </a:prstGeom>
              <a:solidFill>
                <a:srgbClr val="5DDE16"/>
              </a:solidFill>
              <a:ln>
                <a:noFill/>
              </a:ln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CA" sz="1600" dirty="0">
                  <a:solidFill>
                    <a:schemeClr val="bg1"/>
                  </a:solidFill>
                  <a:latin typeface="Cooper Black" panose="0208090404030B020404" pitchFamily="18" charset="0"/>
                </a:endParaRPr>
              </a:p>
            </p:txBody>
          </p:sp>
          <p:sp>
            <p:nvSpPr>
              <p:cNvPr id="28" name="Rounded Rectangle 27"/>
              <p:cNvSpPr/>
              <p:nvPr/>
            </p:nvSpPr>
            <p:spPr>
              <a:xfrm>
                <a:off x="513806" y="4736592"/>
                <a:ext cx="3948466" cy="1124712"/>
              </a:xfrm>
              <a:prstGeom prst="roundRect">
                <a:avLst/>
              </a:prstGeom>
              <a:solidFill>
                <a:srgbClr val="0D0D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</p:grpSp>
        <p:grpSp>
          <p:nvGrpSpPr>
            <p:cNvPr id="29" name="Group 28"/>
            <p:cNvGrpSpPr/>
            <p:nvPr/>
          </p:nvGrpSpPr>
          <p:grpSpPr>
            <a:xfrm>
              <a:off x="513806" y="5358023"/>
              <a:ext cx="5635067" cy="1124712"/>
              <a:chOff x="450669" y="4736592"/>
              <a:chExt cx="4011603" cy="1124712"/>
            </a:xfrm>
          </p:grpSpPr>
          <p:sp>
            <p:nvSpPr>
              <p:cNvPr id="30" name="Rounded Rectangle 29"/>
              <p:cNvSpPr/>
              <p:nvPr/>
            </p:nvSpPr>
            <p:spPr>
              <a:xfrm>
                <a:off x="450669" y="4736592"/>
                <a:ext cx="1094667" cy="1124712"/>
              </a:xfrm>
              <a:prstGeom prst="roundRect">
                <a:avLst/>
              </a:prstGeom>
              <a:solidFill>
                <a:srgbClr val="5DDE16"/>
              </a:solidFill>
              <a:ln>
                <a:noFill/>
              </a:ln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CA" sz="1600" dirty="0">
                  <a:solidFill>
                    <a:schemeClr val="bg1"/>
                  </a:solidFill>
                  <a:latin typeface="Cooper Black" panose="0208090404030B020404" pitchFamily="18" charset="0"/>
                </a:endParaRPr>
              </a:p>
            </p:txBody>
          </p:sp>
          <p:sp>
            <p:nvSpPr>
              <p:cNvPr id="31" name="Rounded Rectangle 30"/>
              <p:cNvSpPr/>
              <p:nvPr/>
            </p:nvSpPr>
            <p:spPr>
              <a:xfrm>
                <a:off x="513806" y="4736592"/>
                <a:ext cx="3948466" cy="1124712"/>
              </a:xfrm>
              <a:prstGeom prst="roundRect">
                <a:avLst/>
              </a:prstGeom>
              <a:solidFill>
                <a:srgbClr val="0D0D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</p:grpSp>
        <p:sp>
          <p:nvSpPr>
            <p:cNvPr id="33" name="Oval 32"/>
            <p:cNvSpPr/>
            <p:nvPr/>
          </p:nvSpPr>
          <p:spPr>
            <a:xfrm>
              <a:off x="768095" y="1906311"/>
              <a:ext cx="466345" cy="438912"/>
            </a:xfrm>
            <a:prstGeom prst="ellipse">
              <a:avLst/>
            </a:prstGeom>
            <a:solidFill>
              <a:srgbClr val="5DDE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900" dirty="0" smtClean="0">
                  <a:solidFill>
                    <a:srgbClr val="0D0D0D"/>
                  </a:solidFill>
                  <a:latin typeface="Impact" panose="020B0806030902050204" pitchFamily="34" charset="0"/>
                </a:rPr>
                <a:t>01</a:t>
              </a:r>
              <a:endParaRPr lang="en-CA" dirty="0">
                <a:solidFill>
                  <a:srgbClr val="0D0D0D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255901" y="1887649"/>
              <a:ext cx="320127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600" dirty="0" smtClean="0">
                  <a:latin typeface="Cooper Black" panose="0208090404030B020404" pitchFamily="18" charset="0"/>
                </a:rPr>
                <a:t>Key Performance Metrics</a:t>
              </a:r>
              <a:endParaRPr lang="en-CA" sz="1600" dirty="0">
                <a:latin typeface="Cooper Black" panose="0208090404030B020404" pitchFamily="18" charset="0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1234440" y="2189627"/>
              <a:ext cx="475965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000" dirty="0" smtClean="0">
                  <a:solidFill>
                    <a:schemeClr val="tx1">
                      <a:lumMod val="50000"/>
                    </a:schemeClr>
                  </a:solidFill>
                </a:rPr>
                <a:t>Total Revenue, Top categories, Leading Region, and best retailers at a glance</a:t>
              </a:r>
              <a:endParaRPr lang="en-CA" sz="1000" dirty="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2" name="Oval 51"/>
            <p:cNvSpPr/>
            <p:nvPr/>
          </p:nvSpPr>
          <p:spPr>
            <a:xfrm>
              <a:off x="768095" y="3189505"/>
              <a:ext cx="466346" cy="446511"/>
            </a:xfrm>
            <a:prstGeom prst="ellipse">
              <a:avLst/>
            </a:prstGeom>
            <a:solidFill>
              <a:srgbClr val="5DDE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900" dirty="0" smtClean="0">
                  <a:solidFill>
                    <a:srgbClr val="0D0D0D"/>
                  </a:solidFill>
                  <a:latin typeface="Impact" panose="020B0806030902050204" pitchFamily="34" charset="0"/>
                </a:rPr>
                <a:t>03</a:t>
              </a:r>
              <a:endParaRPr lang="en-CA" dirty="0">
                <a:solidFill>
                  <a:srgbClr val="0D0D0D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1271764" y="3127112"/>
              <a:ext cx="248638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1600" dirty="0">
                  <a:latin typeface="Cooper Black" panose="0208090404030B020404" pitchFamily="18" charset="0"/>
                </a:rPr>
                <a:t>Regional Performance</a:t>
              </a: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1243771" y="3437212"/>
              <a:ext cx="6096000" cy="24622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r>
                <a:rPr lang="en-CA" sz="1000" dirty="0">
                  <a:solidFill>
                    <a:schemeClr val="tx1">
                      <a:lumMod val="50000"/>
                    </a:schemeClr>
                  </a:solidFill>
                </a:rPr>
                <a:t>Sales analysis across 5 US regions with growth potential assessment</a:t>
              </a:r>
            </a:p>
          </p:txBody>
        </p:sp>
        <p:sp>
          <p:nvSpPr>
            <p:cNvPr id="55" name="Oval 54"/>
            <p:cNvSpPr/>
            <p:nvPr/>
          </p:nvSpPr>
          <p:spPr>
            <a:xfrm>
              <a:off x="789555" y="4396507"/>
              <a:ext cx="466346" cy="446511"/>
            </a:xfrm>
            <a:prstGeom prst="ellipse">
              <a:avLst/>
            </a:prstGeom>
            <a:solidFill>
              <a:srgbClr val="5DDE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900" dirty="0" smtClean="0">
                  <a:solidFill>
                    <a:srgbClr val="0D0D0D"/>
                  </a:solidFill>
                  <a:latin typeface="Impact" panose="020B0806030902050204" pitchFamily="34" charset="0"/>
                </a:rPr>
                <a:t>05</a:t>
              </a:r>
              <a:endParaRPr lang="en-CA" dirty="0">
                <a:solidFill>
                  <a:srgbClr val="0D0D0D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1271764" y="4350289"/>
              <a:ext cx="270131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CA" dirty="0" smtClean="0">
                  <a:latin typeface="Cooper Black" panose="0208090404030B020404" pitchFamily="18" charset="0"/>
                </a:rPr>
                <a:t>Retailer </a:t>
              </a:r>
              <a:r>
                <a:rPr lang="en-CA" dirty="0">
                  <a:latin typeface="Cooper Black" panose="0208090404030B020404" pitchFamily="18" charset="0"/>
                </a:rPr>
                <a:t>Performance</a:t>
              </a:r>
              <a:endParaRPr lang="en-CA" dirty="0">
                <a:latin typeface="Cooper Black" panose="0208090404030B020404" pitchFamily="18" charset="0"/>
              </a:endParaRPr>
            </a:p>
          </p:txBody>
        </p:sp>
        <p:sp>
          <p:nvSpPr>
            <p:cNvPr id="58" name="Rectangle 57"/>
            <p:cNvSpPr/>
            <p:nvPr/>
          </p:nvSpPr>
          <p:spPr>
            <a:xfrm>
              <a:off x="1243771" y="4669626"/>
              <a:ext cx="4914433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CA" sz="1000" dirty="0">
                  <a:solidFill>
                    <a:schemeClr val="tx1">
                      <a:lumMod val="50000"/>
                    </a:schemeClr>
                  </a:solidFill>
                </a:rPr>
                <a:t>Ranking of 6 major retailers by sales </a:t>
              </a:r>
              <a:r>
                <a:rPr lang="en-CA" sz="1000" dirty="0" smtClean="0">
                  <a:solidFill>
                    <a:schemeClr val="tx1">
                      <a:lumMod val="50000"/>
                    </a:schemeClr>
                  </a:solidFill>
                </a:rPr>
                <a:t>contribution </a:t>
              </a:r>
              <a:r>
                <a:rPr lang="en-CA" sz="1000" dirty="0">
                  <a:solidFill>
                    <a:schemeClr val="tx1">
                      <a:lumMod val="50000"/>
                    </a:schemeClr>
                  </a:solidFill>
                </a:rPr>
                <a:t>and market share</a:t>
              </a:r>
              <a:endParaRPr lang="en-CA" sz="1000" dirty="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1271764" y="5679914"/>
              <a:ext cx="285116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CA" dirty="0" smtClean="0">
                  <a:latin typeface="Cooper Black" panose="0208090404030B020404" pitchFamily="18" charset="0"/>
                </a:rPr>
                <a:t>Growth Opportunities</a:t>
              </a:r>
              <a:endParaRPr lang="en-CA" dirty="0">
                <a:latin typeface="Cooper Black" panose="0208090404030B020404" pitchFamily="18" charset="0"/>
              </a:endParaRPr>
            </a:p>
          </p:txBody>
        </p:sp>
        <p:sp>
          <p:nvSpPr>
            <p:cNvPr id="60" name="Oval 59"/>
            <p:cNvSpPr/>
            <p:nvPr/>
          </p:nvSpPr>
          <p:spPr>
            <a:xfrm>
              <a:off x="768094" y="5697123"/>
              <a:ext cx="466346" cy="446511"/>
            </a:xfrm>
            <a:prstGeom prst="ellipse">
              <a:avLst/>
            </a:prstGeom>
            <a:solidFill>
              <a:srgbClr val="5DDE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900" dirty="0" smtClean="0">
                  <a:solidFill>
                    <a:srgbClr val="0D0D0D"/>
                  </a:solidFill>
                  <a:latin typeface="Impact" panose="020B0806030902050204" pitchFamily="34" charset="0"/>
                </a:rPr>
                <a:t>07</a:t>
              </a:r>
              <a:endParaRPr lang="en-CA" dirty="0">
                <a:solidFill>
                  <a:srgbClr val="0D0D0D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61" name="Rectangle 60"/>
            <p:cNvSpPr/>
            <p:nvPr/>
          </p:nvSpPr>
          <p:spPr>
            <a:xfrm>
              <a:off x="1255901" y="5992337"/>
              <a:ext cx="6096000" cy="24622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r>
                <a:rPr lang="en-CA" sz="1000" dirty="0">
                  <a:solidFill>
                    <a:schemeClr val="tx1">
                      <a:lumMod val="50000"/>
                    </a:schemeClr>
                  </a:solidFill>
                </a:rPr>
                <a:t>Product with strong potential and areas sowing declining demand</a:t>
              </a:r>
              <a:endParaRPr lang="en-CA" sz="1000" dirty="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grpSp>
          <p:nvGrpSpPr>
            <p:cNvPr id="63" name="Group 62"/>
            <p:cNvGrpSpPr/>
            <p:nvPr/>
          </p:nvGrpSpPr>
          <p:grpSpPr>
            <a:xfrm>
              <a:off x="6349072" y="1663847"/>
              <a:ext cx="5635067" cy="1124712"/>
              <a:chOff x="6349072" y="1663847"/>
              <a:chExt cx="5635067" cy="1124712"/>
            </a:xfrm>
          </p:grpSpPr>
          <p:grpSp>
            <p:nvGrpSpPr>
              <p:cNvPr id="37" name="Group 36"/>
              <p:cNvGrpSpPr/>
              <p:nvPr/>
            </p:nvGrpSpPr>
            <p:grpSpPr>
              <a:xfrm>
                <a:off x="6349072" y="1663847"/>
                <a:ext cx="5635067" cy="1124712"/>
                <a:chOff x="450669" y="4736592"/>
                <a:chExt cx="4011603" cy="1124712"/>
              </a:xfrm>
            </p:grpSpPr>
            <p:sp>
              <p:nvSpPr>
                <p:cNvPr id="38" name="Rounded Rectangle 37"/>
                <p:cNvSpPr/>
                <p:nvPr/>
              </p:nvSpPr>
              <p:spPr>
                <a:xfrm>
                  <a:off x="450669" y="4736592"/>
                  <a:ext cx="1094667" cy="1124712"/>
                </a:xfrm>
                <a:prstGeom prst="roundRect">
                  <a:avLst/>
                </a:prstGeom>
                <a:solidFill>
                  <a:schemeClr val="tx1">
                    <a:lumMod val="50000"/>
                  </a:schemeClr>
                </a:solidFill>
                <a:ln>
                  <a:noFill/>
                </a:ln>
              </p:spPr>
              <p:style>
                <a:lnRef idx="3">
                  <a:schemeClr val="lt1"/>
                </a:lnRef>
                <a:fillRef idx="1">
                  <a:schemeClr val="accent6"/>
                </a:fillRef>
                <a:effectRef idx="1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CA" sz="1600" dirty="0">
                    <a:solidFill>
                      <a:schemeClr val="bg1"/>
                    </a:solidFill>
                    <a:latin typeface="Cooper Black" panose="0208090404030B020404" pitchFamily="18" charset="0"/>
                  </a:endParaRPr>
                </a:p>
              </p:txBody>
            </p:sp>
            <p:sp>
              <p:nvSpPr>
                <p:cNvPr id="39" name="Rounded Rectangle 38"/>
                <p:cNvSpPr/>
                <p:nvPr/>
              </p:nvSpPr>
              <p:spPr>
                <a:xfrm>
                  <a:off x="513806" y="4736592"/>
                  <a:ext cx="3948466" cy="1124712"/>
                </a:xfrm>
                <a:prstGeom prst="roundRect">
                  <a:avLst/>
                </a:prstGeom>
                <a:solidFill>
                  <a:srgbClr val="0D0D0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 dirty="0"/>
                </a:p>
              </p:txBody>
            </p:sp>
          </p:grpSp>
          <p:sp>
            <p:nvSpPr>
              <p:cNvPr id="50" name="TextBox 49"/>
              <p:cNvSpPr txBox="1"/>
              <p:nvPr/>
            </p:nvSpPr>
            <p:spPr>
              <a:xfrm>
                <a:off x="7069706" y="1924073"/>
                <a:ext cx="320127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sz="1600" dirty="0" smtClean="0">
                    <a:latin typeface="Cooper Black" panose="0208090404030B020404" pitchFamily="18" charset="0"/>
                  </a:rPr>
                  <a:t>Product Category Analysis</a:t>
                </a:r>
                <a:endParaRPr lang="en-CA" sz="1600" dirty="0">
                  <a:latin typeface="Cooper Black" panose="0208090404030B020404" pitchFamily="18" charset="0"/>
                </a:endParaRPr>
              </a:p>
            </p:txBody>
          </p:sp>
          <p:sp>
            <p:nvSpPr>
              <p:cNvPr id="51" name="TextBox 50"/>
              <p:cNvSpPr txBox="1"/>
              <p:nvPr/>
            </p:nvSpPr>
            <p:spPr>
              <a:xfrm>
                <a:off x="7069706" y="2200871"/>
                <a:ext cx="475965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sz="1000" dirty="0" smtClean="0">
                    <a:solidFill>
                      <a:schemeClr val="tx1">
                        <a:lumMod val="50000"/>
                      </a:schemeClr>
                    </a:solidFill>
                  </a:rPr>
                  <a:t>Deep dive into 6 categories: revenue, market share, and profit margins</a:t>
                </a:r>
                <a:endParaRPr lang="en-CA" sz="1000" dirty="0">
                  <a:solidFill>
                    <a:schemeClr val="tx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62" name="Oval 61"/>
              <p:cNvSpPr/>
              <p:nvPr/>
            </p:nvSpPr>
            <p:spPr>
              <a:xfrm>
                <a:off x="6603361" y="1919714"/>
                <a:ext cx="466345" cy="438912"/>
              </a:xfrm>
              <a:prstGeom prst="ellipse">
                <a:avLst/>
              </a:prstGeom>
              <a:solidFill>
                <a:schemeClr val="tx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CA" sz="900" dirty="0" smtClean="0">
                    <a:solidFill>
                      <a:srgbClr val="0D0D0D"/>
                    </a:solidFill>
                    <a:latin typeface="Impact" panose="020B0806030902050204" pitchFamily="34" charset="0"/>
                  </a:rPr>
                  <a:t>02</a:t>
                </a:r>
                <a:endParaRPr lang="en-CA" dirty="0">
                  <a:solidFill>
                    <a:srgbClr val="0D0D0D"/>
                  </a:solidFill>
                  <a:latin typeface="Impact" panose="020B0806030902050204" pitchFamily="34" charset="0"/>
                </a:endParaRPr>
              </a:p>
            </p:txBody>
          </p:sp>
        </p:grpSp>
        <p:grpSp>
          <p:nvGrpSpPr>
            <p:cNvPr id="64" name="Group 63"/>
            <p:cNvGrpSpPr/>
            <p:nvPr/>
          </p:nvGrpSpPr>
          <p:grpSpPr>
            <a:xfrm>
              <a:off x="6314474" y="2895239"/>
              <a:ext cx="5635067" cy="1124712"/>
              <a:chOff x="6349072" y="1663847"/>
              <a:chExt cx="5635067" cy="1124712"/>
            </a:xfrm>
          </p:grpSpPr>
          <p:grpSp>
            <p:nvGrpSpPr>
              <p:cNvPr id="65" name="Group 64"/>
              <p:cNvGrpSpPr/>
              <p:nvPr/>
            </p:nvGrpSpPr>
            <p:grpSpPr>
              <a:xfrm>
                <a:off x="6349072" y="1663847"/>
                <a:ext cx="5635067" cy="1124712"/>
                <a:chOff x="450669" y="4736592"/>
                <a:chExt cx="4011603" cy="1124712"/>
              </a:xfrm>
            </p:grpSpPr>
            <p:sp>
              <p:nvSpPr>
                <p:cNvPr id="69" name="Rounded Rectangle 68"/>
                <p:cNvSpPr/>
                <p:nvPr/>
              </p:nvSpPr>
              <p:spPr>
                <a:xfrm>
                  <a:off x="450669" y="4736592"/>
                  <a:ext cx="1094667" cy="1124712"/>
                </a:xfrm>
                <a:prstGeom prst="roundRect">
                  <a:avLst/>
                </a:prstGeom>
                <a:solidFill>
                  <a:schemeClr val="tx1">
                    <a:lumMod val="50000"/>
                  </a:schemeClr>
                </a:solidFill>
                <a:ln>
                  <a:noFill/>
                </a:ln>
              </p:spPr>
              <p:style>
                <a:lnRef idx="3">
                  <a:schemeClr val="lt1"/>
                </a:lnRef>
                <a:fillRef idx="1">
                  <a:schemeClr val="accent6"/>
                </a:fillRef>
                <a:effectRef idx="1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CA" sz="1600" dirty="0">
                    <a:solidFill>
                      <a:schemeClr val="bg1"/>
                    </a:solidFill>
                    <a:latin typeface="Cooper Black" panose="0208090404030B020404" pitchFamily="18" charset="0"/>
                  </a:endParaRPr>
                </a:p>
              </p:txBody>
            </p:sp>
            <p:sp>
              <p:nvSpPr>
                <p:cNvPr id="70" name="Rounded Rectangle 69"/>
                <p:cNvSpPr/>
                <p:nvPr/>
              </p:nvSpPr>
              <p:spPr>
                <a:xfrm>
                  <a:off x="513806" y="4736592"/>
                  <a:ext cx="3948466" cy="1124712"/>
                </a:xfrm>
                <a:prstGeom prst="roundRect">
                  <a:avLst/>
                </a:prstGeom>
                <a:solidFill>
                  <a:srgbClr val="0D0D0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 dirty="0"/>
                </a:p>
              </p:txBody>
            </p:sp>
          </p:grpSp>
          <p:sp>
            <p:nvSpPr>
              <p:cNvPr id="66" name="TextBox 65"/>
              <p:cNvSpPr txBox="1"/>
              <p:nvPr/>
            </p:nvSpPr>
            <p:spPr>
              <a:xfrm>
                <a:off x="7069706" y="1924073"/>
                <a:ext cx="320127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sz="1600" dirty="0" smtClean="0">
                    <a:latin typeface="Cooper Black" panose="0208090404030B020404" pitchFamily="18" charset="0"/>
                  </a:rPr>
                  <a:t>Sales Trends &amp; Seasonality</a:t>
                </a:r>
                <a:endParaRPr lang="en-CA" sz="1600" dirty="0">
                  <a:latin typeface="Cooper Black" panose="0208090404030B020404" pitchFamily="18" charset="0"/>
                </a:endParaRPr>
              </a:p>
            </p:txBody>
          </p:sp>
          <p:sp>
            <p:nvSpPr>
              <p:cNvPr id="67" name="TextBox 66"/>
              <p:cNvSpPr txBox="1"/>
              <p:nvPr/>
            </p:nvSpPr>
            <p:spPr>
              <a:xfrm>
                <a:off x="7069706" y="2200871"/>
                <a:ext cx="475965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sz="1000" dirty="0" smtClean="0">
                    <a:solidFill>
                      <a:schemeClr val="tx1">
                        <a:lumMod val="50000"/>
                      </a:schemeClr>
                    </a:solidFill>
                  </a:rPr>
                  <a:t>Monthly patterns, peak seasons , and quarterly insight for planning</a:t>
                </a:r>
                <a:endParaRPr lang="en-CA" sz="1000" dirty="0">
                  <a:solidFill>
                    <a:schemeClr val="tx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68" name="Oval 67"/>
              <p:cNvSpPr/>
              <p:nvPr/>
            </p:nvSpPr>
            <p:spPr>
              <a:xfrm>
                <a:off x="6603361" y="1919714"/>
                <a:ext cx="466345" cy="438912"/>
              </a:xfrm>
              <a:prstGeom prst="ellipse">
                <a:avLst/>
              </a:prstGeom>
              <a:solidFill>
                <a:schemeClr val="tx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CA" sz="900" dirty="0" smtClean="0">
                    <a:solidFill>
                      <a:srgbClr val="0D0D0D"/>
                    </a:solidFill>
                    <a:latin typeface="Impact" panose="020B0806030902050204" pitchFamily="34" charset="0"/>
                  </a:rPr>
                  <a:t>04</a:t>
                </a:r>
                <a:endParaRPr lang="en-CA" dirty="0">
                  <a:solidFill>
                    <a:srgbClr val="0D0D0D"/>
                  </a:solidFill>
                  <a:latin typeface="Impact" panose="020B0806030902050204" pitchFamily="34" charset="0"/>
                </a:endParaRPr>
              </a:p>
            </p:txBody>
          </p:sp>
        </p:grpSp>
        <p:grpSp>
          <p:nvGrpSpPr>
            <p:cNvPr id="71" name="Group 70"/>
            <p:cNvGrpSpPr/>
            <p:nvPr/>
          </p:nvGrpSpPr>
          <p:grpSpPr>
            <a:xfrm>
              <a:off x="6349072" y="4126631"/>
              <a:ext cx="5635067" cy="1124712"/>
              <a:chOff x="6349072" y="1663847"/>
              <a:chExt cx="5635067" cy="1124712"/>
            </a:xfrm>
          </p:grpSpPr>
          <p:grpSp>
            <p:nvGrpSpPr>
              <p:cNvPr id="72" name="Group 71"/>
              <p:cNvGrpSpPr/>
              <p:nvPr/>
            </p:nvGrpSpPr>
            <p:grpSpPr>
              <a:xfrm>
                <a:off x="6349072" y="1663847"/>
                <a:ext cx="5635067" cy="1124712"/>
                <a:chOff x="450669" y="4736592"/>
                <a:chExt cx="4011603" cy="1124712"/>
              </a:xfrm>
            </p:grpSpPr>
            <p:sp>
              <p:nvSpPr>
                <p:cNvPr id="76" name="Rounded Rectangle 75"/>
                <p:cNvSpPr/>
                <p:nvPr/>
              </p:nvSpPr>
              <p:spPr>
                <a:xfrm>
                  <a:off x="450669" y="4736592"/>
                  <a:ext cx="1094667" cy="1124712"/>
                </a:xfrm>
                <a:prstGeom prst="roundRect">
                  <a:avLst/>
                </a:prstGeom>
                <a:solidFill>
                  <a:schemeClr val="tx1">
                    <a:lumMod val="50000"/>
                  </a:schemeClr>
                </a:solidFill>
                <a:ln>
                  <a:noFill/>
                </a:ln>
              </p:spPr>
              <p:style>
                <a:lnRef idx="3">
                  <a:schemeClr val="lt1"/>
                </a:lnRef>
                <a:fillRef idx="1">
                  <a:schemeClr val="accent6"/>
                </a:fillRef>
                <a:effectRef idx="1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CA" sz="1600" dirty="0">
                    <a:solidFill>
                      <a:schemeClr val="bg1"/>
                    </a:solidFill>
                    <a:latin typeface="Cooper Black" panose="0208090404030B020404" pitchFamily="18" charset="0"/>
                  </a:endParaRPr>
                </a:p>
              </p:txBody>
            </p:sp>
            <p:sp>
              <p:nvSpPr>
                <p:cNvPr id="77" name="Rounded Rectangle 76"/>
                <p:cNvSpPr/>
                <p:nvPr/>
              </p:nvSpPr>
              <p:spPr>
                <a:xfrm>
                  <a:off x="513806" y="4736592"/>
                  <a:ext cx="3948466" cy="1124712"/>
                </a:xfrm>
                <a:prstGeom prst="roundRect">
                  <a:avLst/>
                </a:prstGeom>
                <a:solidFill>
                  <a:srgbClr val="0D0D0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 dirty="0"/>
                </a:p>
              </p:txBody>
            </p:sp>
          </p:grpSp>
          <p:sp>
            <p:nvSpPr>
              <p:cNvPr id="73" name="TextBox 72"/>
              <p:cNvSpPr txBox="1"/>
              <p:nvPr/>
            </p:nvSpPr>
            <p:spPr>
              <a:xfrm>
                <a:off x="7069706" y="1924073"/>
                <a:ext cx="320127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sz="1600" dirty="0" smtClean="0">
                    <a:latin typeface="Cooper Black" panose="0208090404030B020404" pitchFamily="18" charset="0"/>
                  </a:rPr>
                  <a:t>Channel Analysis</a:t>
                </a:r>
                <a:endParaRPr lang="en-CA" sz="1600" dirty="0">
                  <a:latin typeface="Cooper Black" panose="0208090404030B020404" pitchFamily="18" charset="0"/>
                </a:endParaRPr>
              </a:p>
            </p:txBody>
          </p:sp>
          <p:sp>
            <p:nvSpPr>
              <p:cNvPr id="74" name="TextBox 73"/>
              <p:cNvSpPr txBox="1"/>
              <p:nvPr/>
            </p:nvSpPr>
            <p:spPr>
              <a:xfrm>
                <a:off x="7069706" y="2200871"/>
                <a:ext cx="475965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sz="1000" dirty="0" smtClean="0">
                    <a:solidFill>
                      <a:schemeClr val="tx1">
                        <a:lumMod val="50000"/>
                      </a:schemeClr>
                    </a:solidFill>
                  </a:rPr>
                  <a:t>Effectiveness comparison: In-store, outlet, and Online channels</a:t>
                </a:r>
                <a:endParaRPr lang="en-CA" sz="1000" dirty="0">
                  <a:solidFill>
                    <a:schemeClr val="tx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75" name="Oval 74"/>
              <p:cNvSpPr/>
              <p:nvPr/>
            </p:nvSpPr>
            <p:spPr>
              <a:xfrm>
                <a:off x="6603361" y="1919714"/>
                <a:ext cx="466345" cy="438912"/>
              </a:xfrm>
              <a:prstGeom prst="ellipse">
                <a:avLst/>
              </a:prstGeom>
              <a:solidFill>
                <a:schemeClr val="tx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CA" sz="900" dirty="0" smtClean="0">
                    <a:solidFill>
                      <a:srgbClr val="0D0D0D"/>
                    </a:solidFill>
                    <a:latin typeface="Impact" panose="020B0806030902050204" pitchFamily="34" charset="0"/>
                  </a:rPr>
                  <a:t>06</a:t>
                </a:r>
                <a:endParaRPr lang="en-CA" dirty="0">
                  <a:solidFill>
                    <a:srgbClr val="0D0D0D"/>
                  </a:solidFill>
                  <a:latin typeface="Impact" panose="020B0806030902050204" pitchFamily="34" charset="0"/>
                </a:endParaRPr>
              </a:p>
            </p:txBody>
          </p:sp>
        </p:grpSp>
        <p:grpSp>
          <p:nvGrpSpPr>
            <p:cNvPr id="78" name="Group 77"/>
            <p:cNvGrpSpPr/>
            <p:nvPr/>
          </p:nvGrpSpPr>
          <p:grpSpPr>
            <a:xfrm>
              <a:off x="6314473" y="5358023"/>
              <a:ext cx="5635067" cy="1124712"/>
              <a:chOff x="6349072" y="1663847"/>
              <a:chExt cx="5635067" cy="1124712"/>
            </a:xfrm>
          </p:grpSpPr>
          <p:grpSp>
            <p:nvGrpSpPr>
              <p:cNvPr id="79" name="Group 78"/>
              <p:cNvGrpSpPr/>
              <p:nvPr/>
            </p:nvGrpSpPr>
            <p:grpSpPr>
              <a:xfrm>
                <a:off x="6349072" y="1663847"/>
                <a:ext cx="5635067" cy="1124712"/>
                <a:chOff x="450669" y="4736592"/>
                <a:chExt cx="4011603" cy="1124712"/>
              </a:xfrm>
            </p:grpSpPr>
            <p:sp>
              <p:nvSpPr>
                <p:cNvPr id="83" name="Rounded Rectangle 82"/>
                <p:cNvSpPr/>
                <p:nvPr/>
              </p:nvSpPr>
              <p:spPr>
                <a:xfrm>
                  <a:off x="450669" y="4736592"/>
                  <a:ext cx="1094667" cy="1124712"/>
                </a:xfrm>
                <a:prstGeom prst="roundRect">
                  <a:avLst/>
                </a:prstGeom>
                <a:solidFill>
                  <a:schemeClr val="tx1">
                    <a:lumMod val="50000"/>
                  </a:schemeClr>
                </a:solidFill>
                <a:ln>
                  <a:noFill/>
                </a:ln>
              </p:spPr>
              <p:style>
                <a:lnRef idx="3">
                  <a:schemeClr val="lt1"/>
                </a:lnRef>
                <a:fillRef idx="1">
                  <a:schemeClr val="accent6"/>
                </a:fillRef>
                <a:effectRef idx="1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CA" sz="1600" dirty="0">
                    <a:solidFill>
                      <a:schemeClr val="bg1"/>
                    </a:solidFill>
                    <a:latin typeface="Cooper Black" panose="0208090404030B020404" pitchFamily="18" charset="0"/>
                  </a:endParaRPr>
                </a:p>
              </p:txBody>
            </p:sp>
            <p:sp>
              <p:nvSpPr>
                <p:cNvPr id="84" name="Rounded Rectangle 83"/>
                <p:cNvSpPr/>
                <p:nvPr/>
              </p:nvSpPr>
              <p:spPr>
                <a:xfrm>
                  <a:off x="513806" y="4736592"/>
                  <a:ext cx="3948466" cy="1124712"/>
                </a:xfrm>
                <a:prstGeom prst="roundRect">
                  <a:avLst/>
                </a:prstGeom>
                <a:solidFill>
                  <a:srgbClr val="0D0D0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 dirty="0"/>
                </a:p>
              </p:txBody>
            </p:sp>
          </p:grpSp>
          <p:sp>
            <p:nvSpPr>
              <p:cNvPr id="80" name="TextBox 79"/>
              <p:cNvSpPr txBox="1"/>
              <p:nvPr/>
            </p:nvSpPr>
            <p:spPr>
              <a:xfrm>
                <a:off x="7069706" y="1924073"/>
                <a:ext cx="320127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sz="1600" dirty="0" smtClean="0">
                    <a:latin typeface="Cooper Black" panose="0208090404030B020404" pitchFamily="18" charset="0"/>
                  </a:rPr>
                  <a:t>Strategic-Recommendation</a:t>
                </a:r>
                <a:endParaRPr lang="en-CA" sz="1600" dirty="0">
                  <a:latin typeface="Cooper Black" panose="0208090404030B020404" pitchFamily="18" charset="0"/>
                </a:endParaRPr>
              </a:p>
            </p:txBody>
          </p:sp>
          <p:sp>
            <p:nvSpPr>
              <p:cNvPr id="81" name="TextBox 80"/>
              <p:cNvSpPr txBox="1"/>
              <p:nvPr/>
            </p:nvSpPr>
            <p:spPr>
              <a:xfrm>
                <a:off x="7069706" y="2200871"/>
                <a:ext cx="475965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sz="1000" dirty="0" smtClean="0">
                    <a:solidFill>
                      <a:schemeClr val="tx1">
                        <a:lumMod val="50000"/>
                      </a:schemeClr>
                    </a:solidFill>
                  </a:rPr>
                  <a:t>Actionable insight for product, channel, regional, and Partnership strategies</a:t>
                </a:r>
                <a:endParaRPr lang="en-CA" sz="1000" dirty="0">
                  <a:solidFill>
                    <a:schemeClr val="tx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82" name="Oval 81"/>
              <p:cNvSpPr/>
              <p:nvPr/>
            </p:nvSpPr>
            <p:spPr>
              <a:xfrm>
                <a:off x="6603361" y="1919714"/>
                <a:ext cx="466345" cy="438912"/>
              </a:xfrm>
              <a:prstGeom prst="ellipse">
                <a:avLst/>
              </a:prstGeom>
              <a:solidFill>
                <a:schemeClr val="tx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CA" sz="900" dirty="0" smtClean="0">
                    <a:solidFill>
                      <a:srgbClr val="0D0D0D"/>
                    </a:solidFill>
                    <a:latin typeface="Impact" panose="020B0806030902050204" pitchFamily="34" charset="0"/>
                  </a:rPr>
                  <a:t>08</a:t>
                </a:r>
                <a:endParaRPr lang="en-CA" dirty="0">
                  <a:solidFill>
                    <a:srgbClr val="0D0D0D"/>
                  </a:solidFill>
                  <a:latin typeface="Impact" panose="020B080603090205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22497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13806" y="236438"/>
            <a:ext cx="1580170" cy="302644"/>
          </a:xfrm>
          <a:prstGeom prst="roundRect">
            <a:avLst/>
          </a:prstGeom>
          <a:solidFill>
            <a:srgbClr val="5DDE16"/>
          </a:solidFill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dirty="0" smtClean="0">
                <a:solidFill>
                  <a:schemeClr val="bg1"/>
                </a:solidFill>
                <a:latin typeface="Cooper Black" panose="0208090404030B020404" pitchFamily="18" charset="0"/>
              </a:rPr>
              <a:t>01/KEY METRICS</a:t>
            </a:r>
            <a:endParaRPr lang="en-CA" sz="1400" dirty="0">
              <a:solidFill>
                <a:schemeClr val="bg1"/>
              </a:solidFill>
              <a:latin typeface="Cooper Black" panose="0208090404030B0204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13806" y="710644"/>
            <a:ext cx="4929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 smtClean="0">
                <a:solidFill>
                  <a:schemeClr val="tx2">
                    <a:lumMod val="90000"/>
                  </a:schemeClr>
                </a:solidFill>
                <a:latin typeface="Cooper Black" panose="0208090404030B020404" pitchFamily="18" charset="0"/>
              </a:rPr>
              <a:t>Key Performance Metrics at a glance</a:t>
            </a:r>
            <a:endParaRPr lang="en-CA" sz="2800" dirty="0" smtClean="0">
              <a:solidFill>
                <a:schemeClr val="tx2">
                  <a:lumMod val="90000"/>
                </a:schemeClr>
              </a:solidFill>
              <a:latin typeface="Cooper Black" panose="0208090404030B020404" pitchFamily="18" charset="0"/>
            </a:endParaRPr>
          </a:p>
        </p:txBody>
      </p:sp>
      <p:grpSp>
        <p:nvGrpSpPr>
          <p:cNvPr id="74" name="Group 73"/>
          <p:cNvGrpSpPr/>
          <p:nvPr/>
        </p:nvGrpSpPr>
        <p:grpSpPr>
          <a:xfrm>
            <a:off x="471670" y="1251537"/>
            <a:ext cx="3824105" cy="1786937"/>
            <a:chOff x="513806" y="1251538"/>
            <a:chExt cx="2759746" cy="1473374"/>
          </a:xfrm>
        </p:grpSpPr>
        <p:sp>
          <p:nvSpPr>
            <p:cNvPr id="6" name="Rounded Rectangle 5"/>
            <p:cNvSpPr/>
            <p:nvPr/>
          </p:nvSpPr>
          <p:spPr>
            <a:xfrm>
              <a:off x="513806" y="1251538"/>
              <a:ext cx="2759746" cy="1473374"/>
            </a:xfrm>
            <a:prstGeom prst="roundRect">
              <a:avLst/>
            </a:prstGeom>
            <a:solidFill>
              <a:srgbClr val="5DDE16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CA" sz="1600" b="1" kern="1500" spc="100" smtClean="0">
                  <a:solidFill>
                    <a:srgbClr val="5DDE16"/>
                  </a:solidFill>
                  <a:latin typeface="Impact" panose="020B0806030902050204" pitchFamily="34" charset="0"/>
                  <a:cs typeface="Times New Roman" panose="02020603050405020304" pitchFamily="18" charset="0"/>
                </a:rPr>
                <a:t>$899.9M</a:t>
              </a:r>
              <a:endParaRPr lang="en-CA" sz="1600" kern="1500" spc="100" dirty="0">
                <a:solidFill>
                  <a:srgbClr val="5DDE16"/>
                </a:solidFill>
                <a:latin typeface="Impact" panose="020B080603090205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1186314" y="1510448"/>
              <a:ext cx="169164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2800" b="1" kern="1500" spc="100" dirty="0">
                  <a:solidFill>
                    <a:srgbClr val="0D0D0D"/>
                  </a:solidFill>
                  <a:latin typeface="Impact" panose="020B0806030902050204" pitchFamily="34" charset="0"/>
                  <a:cs typeface="Times New Roman" panose="02020603050405020304" pitchFamily="18" charset="0"/>
                </a:rPr>
                <a:t>$</a:t>
              </a:r>
              <a:r>
                <a:rPr lang="en-CA" sz="2800" b="1" kern="1500" spc="100" dirty="0" smtClean="0">
                  <a:solidFill>
                    <a:srgbClr val="0D0D0D"/>
                  </a:solidFill>
                  <a:latin typeface="Impact" panose="020B0806030902050204" pitchFamily="34" charset="0"/>
                  <a:cs typeface="Times New Roman" panose="02020603050405020304" pitchFamily="18" charset="0"/>
                </a:rPr>
                <a:t>899.9M</a:t>
              </a:r>
              <a:endParaRPr lang="en-CA" sz="2800" kern="1500" spc="100" dirty="0">
                <a:solidFill>
                  <a:srgbClr val="0D0D0D"/>
                </a:solidFill>
                <a:latin typeface="Impact" panose="020B080603090205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Rectangle 71"/>
            <p:cNvSpPr/>
            <p:nvPr/>
          </p:nvSpPr>
          <p:spPr>
            <a:xfrm>
              <a:off x="1254933" y="1912479"/>
              <a:ext cx="1552085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CA" sz="1100" dirty="0" smtClean="0">
                  <a:solidFill>
                    <a:srgbClr val="0D0D0D"/>
                  </a:solidFill>
                  <a:latin typeface="Britannic Bold" panose="020B0903060703020204" pitchFamily="34" charset="0"/>
                  <a:cs typeface="Times New Roman" panose="02020603050405020304" pitchFamily="18" charset="0"/>
                </a:rPr>
                <a:t>Total Sales Revenue</a:t>
              </a:r>
              <a:endParaRPr lang="en-CA" sz="1100" dirty="0" smtClean="0">
                <a:solidFill>
                  <a:srgbClr val="0D0D0D"/>
                </a:solidFill>
                <a:latin typeface="Britannic Bold" panose="020B0903060703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TextBox 72"/>
            <p:cNvSpPr txBox="1"/>
            <p:nvPr/>
          </p:nvSpPr>
          <p:spPr>
            <a:xfrm flipH="1">
              <a:off x="1303374" y="2079644"/>
              <a:ext cx="144388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050" dirty="0" smtClean="0">
                  <a:solidFill>
                    <a:srgbClr val="0D0D0D"/>
                  </a:solidFill>
                </a:rPr>
                <a:t>2020-2021 Period</a:t>
              </a:r>
              <a:endParaRPr lang="en-CA" sz="1050" dirty="0">
                <a:solidFill>
                  <a:srgbClr val="0D0D0D"/>
                </a:solidFill>
              </a:endParaRPr>
            </a:p>
          </p:txBody>
        </p:sp>
      </p:grpSp>
      <p:grpSp>
        <p:nvGrpSpPr>
          <p:cNvPr id="75" name="Group 74"/>
          <p:cNvGrpSpPr/>
          <p:nvPr/>
        </p:nvGrpSpPr>
        <p:grpSpPr>
          <a:xfrm>
            <a:off x="6522502" y="1242394"/>
            <a:ext cx="4135972" cy="1919906"/>
            <a:chOff x="513806" y="1251538"/>
            <a:chExt cx="2759746" cy="1473374"/>
          </a:xfrm>
          <a:solidFill>
            <a:schemeClr val="bg1">
              <a:lumMod val="95000"/>
              <a:lumOff val="5000"/>
            </a:schemeClr>
          </a:solidFill>
        </p:grpSpPr>
        <p:sp>
          <p:nvSpPr>
            <p:cNvPr id="76" name="Rounded Rectangle 75"/>
            <p:cNvSpPr/>
            <p:nvPr/>
          </p:nvSpPr>
          <p:spPr>
            <a:xfrm>
              <a:off x="513806" y="1251538"/>
              <a:ext cx="2759746" cy="1473374"/>
            </a:xfrm>
            <a:prstGeom prst="roundRect">
              <a:avLst/>
            </a:prstGeom>
            <a:grpFill/>
            <a:ln>
              <a:solidFill>
                <a:schemeClr val="accent6"/>
              </a:solidFill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endParaRPr lang="en-CA" sz="1600" kern="1500" spc="100" dirty="0">
                <a:solidFill>
                  <a:srgbClr val="5DDE16"/>
                </a:solidFill>
                <a:latin typeface="Impact" panose="020B080603090205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1270622" y="1485178"/>
              <a:ext cx="1691640" cy="52322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CA" sz="2800" b="1" kern="1500" spc="100" dirty="0" smtClean="0">
                  <a:solidFill>
                    <a:srgbClr val="5DDE16"/>
                  </a:solidFill>
                  <a:latin typeface="Impact" panose="020B0806030902050204" pitchFamily="34" charset="0"/>
                  <a:cs typeface="Times New Roman" panose="02020603050405020304" pitchFamily="18" charset="0"/>
                </a:rPr>
                <a:t>$208.8M</a:t>
              </a:r>
              <a:endParaRPr lang="en-CA" sz="2800" kern="1500" spc="100" dirty="0">
                <a:solidFill>
                  <a:srgbClr val="5DDE16"/>
                </a:solidFill>
                <a:latin typeface="Impact" panose="020B080603090205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78" name="Rectangle 77"/>
            <p:cNvSpPr/>
            <p:nvPr/>
          </p:nvSpPr>
          <p:spPr>
            <a:xfrm>
              <a:off x="1393504" y="1877593"/>
              <a:ext cx="1042266" cy="261610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algn="just"/>
              <a:r>
                <a:rPr lang="en-CA" sz="1100" dirty="0" smtClean="0">
                  <a:solidFill>
                    <a:schemeClr val="tx1">
                      <a:lumMod val="65000"/>
                    </a:schemeClr>
                  </a:solidFill>
                  <a:latin typeface="Britannic Bold" panose="020B0903060703020204" pitchFamily="34" charset="0"/>
                  <a:cs typeface="Times New Roman" panose="02020603050405020304" pitchFamily="18" charset="0"/>
                </a:rPr>
                <a:t>Top Category</a:t>
              </a:r>
              <a:endParaRPr lang="en-CA" sz="1100" dirty="0" smtClean="0">
                <a:solidFill>
                  <a:schemeClr val="tx1">
                    <a:lumMod val="65000"/>
                  </a:schemeClr>
                </a:solidFill>
                <a:latin typeface="Britannic Bold" panose="020B0903060703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79" name="TextBox 78"/>
            <p:cNvSpPr txBox="1"/>
            <p:nvPr/>
          </p:nvSpPr>
          <p:spPr>
            <a:xfrm flipH="1">
              <a:off x="1353673" y="2095711"/>
              <a:ext cx="1443882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CA" sz="1050" dirty="0" smtClean="0">
                  <a:solidFill>
                    <a:schemeClr val="tx1">
                      <a:lumMod val="50000"/>
                    </a:schemeClr>
                  </a:solidFill>
                </a:rPr>
                <a:t>Men’s Street Footwear</a:t>
              </a:r>
              <a:endParaRPr lang="en-CA" sz="1050" dirty="0">
                <a:solidFill>
                  <a:schemeClr val="tx1">
                    <a:lumMod val="50000"/>
                  </a:schemeClr>
                </a:solidFill>
              </a:endParaRPr>
            </a:p>
          </p:txBody>
        </p:sp>
      </p:grpSp>
      <p:grpSp>
        <p:nvGrpSpPr>
          <p:cNvPr id="80" name="Group 79"/>
          <p:cNvGrpSpPr/>
          <p:nvPr/>
        </p:nvGrpSpPr>
        <p:grpSpPr>
          <a:xfrm>
            <a:off x="471671" y="4130743"/>
            <a:ext cx="3824104" cy="2279581"/>
            <a:chOff x="513806" y="1251538"/>
            <a:chExt cx="2759746" cy="1473374"/>
          </a:xfrm>
        </p:grpSpPr>
        <p:sp>
          <p:nvSpPr>
            <p:cNvPr id="81" name="Rounded Rectangle 80"/>
            <p:cNvSpPr/>
            <p:nvPr/>
          </p:nvSpPr>
          <p:spPr>
            <a:xfrm>
              <a:off x="513806" y="1251538"/>
              <a:ext cx="2759746" cy="1473374"/>
            </a:xfrm>
            <a:prstGeom prst="roundRect">
              <a:avLst/>
            </a:prstGeom>
            <a:solidFill>
              <a:schemeClr val="bg1">
                <a:lumMod val="95000"/>
                <a:lumOff val="5000"/>
              </a:schemeClr>
            </a:solidFill>
            <a:ln>
              <a:solidFill>
                <a:schemeClr val="tx1">
                  <a:lumMod val="5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endParaRPr lang="en-CA" sz="1600" kern="1500" spc="100" dirty="0">
                <a:solidFill>
                  <a:srgbClr val="5DDE16"/>
                </a:solidFill>
                <a:latin typeface="Impact" panose="020B080603090205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1128422" y="1439982"/>
              <a:ext cx="169164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CA" sz="2800" b="1" kern="1500" spc="100" dirty="0" smtClean="0">
                  <a:solidFill>
                    <a:schemeClr val="tx1">
                      <a:lumMod val="95000"/>
                    </a:schemeClr>
                  </a:solidFill>
                  <a:latin typeface="Impact" panose="020B0806030902050204" pitchFamily="34" charset="0"/>
                  <a:cs typeface="Times New Roman" panose="02020603050405020304" pitchFamily="18" charset="0"/>
                </a:rPr>
                <a:t>$269.9M</a:t>
              </a:r>
              <a:endParaRPr lang="en-CA" sz="2800" kern="1500" spc="100" dirty="0">
                <a:solidFill>
                  <a:schemeClr val="tx1">
                    <a:lumMod val="95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83" name="Rectangle 82"/>
            <p:cNvSpPr/>
            <p:nvPr/>
          </p:nvSpPr>
          <p:spPr>
            <a:xfrm>
              <a:off x="1128422" y="1892091"/>
              <a:ext cx="1552085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/>
              <a:r>
                <a:rPr lang="en-CA" sz="1100" dirty="0" smtClean="0">
                  <a:solidFill>
                    <a:schemeClr val="tx1">
                      <a:lumMod val="65000"/>
                    </a:schemeClr>
                  </a:solidFill>
                  <a:latin typeface="Britannic Bold" panose="020B0903060703020204" pitchFamily="34" charset="0"/>
                  <a:cs typeface="Times New Roman" panose="02020603050405020304" pitchFamily="18" charset="0"/>
                </a:rPr>
                <a:t>Total Sales Revenue</a:t>
              </a:r>
              <a:endParaRPr lang="en-CA" sz="1100" dirty="0" smtClean="0">
                <a:solidFill>
                  <a:schemeClr val="tx1">
                    <a:lumMod val="65000"/>
                  </a:schemeClr>
                </a:solidFill>
                <a:latin typeface="Britannic Bold" panose="020B0903060703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84" name="TextBox 83"/>
            <p:cNvSpPr txBox="1"/>
            <p:nvPr/>
          </p:nvSpPr>
          <p:spPr>
            <a:xfrm flipH="1">
              <a:off x="1221662" y="2094241"/>
              <a:ext cx="144388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CA" sz="1050" dirty="0" smtClean="0">
                  <a:solidFill>
                    <a:schemeClr val="tx1">
                      <a:lumMod val="50000"/>
                    </a:schemeClr>
                  </a:solidFill>
                </a:rPr>
                <a:t>2020-2021 Period</a:t>
              </a:r>
              <a:endParaRPr lang="en-CA" sz="1050" dirty="0">
                <a:solidFill>
                  <a:schemeClr val="tx1">
                    <a:lumMod val="50000"/>
                  </a:schemeClr>
                </a:solidFill>
              </a:endParaRPr>
            </a:p>
          </p:txBody>
        </p:sp>
      </p:grpSp>
      <p:grpSp>
        <p:nvGrpSpPr>
          <p:cNvPr id="90" name="Group 89"/>
          <p:cNvGrpSpPr/>
          <p:nvPr/>
        </p:nvGrpSpPr>
        <p:grpSpPr>
          <a:xfrm>
            <a:off x="6617575" y="4130743"/>
            <a:ext cx="4040899" cy="2279581"/>
            <a:chOff x="513806" y="1251538"/>
            <a:chExt cx="2759746" cy="1473374"/>
          </a:xfrm>
          <a:solidFill>
            <a:schemeClr val="bg1">
              <a:lumMod val="95000"/>
              <a:lumOff val="5000"/>
            </a:schemeClr>
          </a:solidFill>
        </p:grpSpPr>
        <p:sp>
          <p:nvSpPr>
            <p:cNvPr id="91" name="Rounded Rectangle 90"/>
            <p:cNvSpPr/>
            <p:nvPr/>
          </p:nvSpPr>
          <p:spPr>
            <a:xfrm>
              <a:off x="513806" y="1251538"/>
              <a:ext cx="2759746" cy="1473374"/>
            </a:xfrm>
            <a:prstGeom prst="roundRect">
              <a:avLst/>
            </a:prstGeom>
            <a:grpFill/>
            <a:ln>
              <a:solidFill>
                <a:schemeClr val="accent6"/>
              </a:solidFill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endParaRPr lang="en-CA" sz="1600" kern="1500" spc="100" dirty="0">
                <a:solidFill>
                  <a:srgbClr val="5DDE16"/>
                </a:solidFill>
                <a:latin typeface="Impact" panose="020B080603090205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1223498" y="1457578"/>
              <a:ext cx="1691640" cy="52322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CA" sz="2800" b="1" kern="1500" spc="100" dirty="0" smtClean="0">
                  <a:solidFill>
                    <a:srgbClr val="5DDE16"/>
                  </a:solidFill>
                  <a:latin typeface="Impact" panose="020B0806030902050204" pitchFamily="34" charset="0"/>
                  <a:cs typeface="Times New Roman" panose="02020603050405020304" pitchFamily="18" charset="0"/>
                </a:rPr>
                <a:t>$243.0M</a:t>
              </a:r>
              <a:endParaRPr lang="en-CA" sz="2800" kern="1500" spc="100" dirty="0">
                <a:solidFill>
                  <a:srgbClr val="5DDE16"/>
                </a:solidFill>
                <a:latin typeface="Impact" panose="020B080603090205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93" name="Rectangle 92"/>
            <p:cNvSpPr/>
            <p:nvPr/>
          </p:nvSpPr>
          <p:spPr>
            <a:xfrm>
              <a:off x="1353673" y="1896027"/>
              <a:ext cx="1042266" cy="276999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algn="just"/>
              <a:r>
                <a:rPr lang="en-CA" sz="1200" dirty="0" smtClean="0">
                  <a:solidFill>
                    <a:schemeClr val="tx1">
                      <a:lumMod val="65000"/>
                    </a:schemeClr>
                  </a:solidFill>
                  <a:latin typeface="Britannic Bold" panose="020B0903060703020204" pitchFamily="34" charset="0"/>
                  <a:cs typeface="Times New Roman" panose="02020603050405020304" pitchFamily="18" charset="0"/>
                </a:rPr>
                <a:t>Top Retailer</a:t>
              </a:r>
              <a:endParaRPr lang="en-CA" sz="1200" dirty="0" smtClean="0">
                <a:solidFill>
                  <a:schemeClr val="tx1">
                    <a:lumMod val="65000"/>
                  </a:schemeClr>
                </a:solidFill>
                <a:latin typeface="Britannic Bold" panose="020B0903060703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94" name="TextBox 93"/>
            <p:cNvSpPr txBox="1"/>
            <p:nvPr/>
          </p:nvSpPr>
          <p:spPr>
            <a:xfrm flipH="1">
              <a:off x="1452018" y="2105523"/>
              <a:ext cx="845575" cy="253916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CA" sz="1050" dirty="0" smtClean="0">
                  <a:solidFill>
                    <a:schemeClr val="tx1">
                      <a:lumMod val="50000"/>
                    </a:schemeClr>
                  </a:solidFill>
                </a:rPr>
                <a:t>West Gear</a:t>
              </a:r>
              <a:endParaRPr lang="en-CA" sz="1050" dirty="0">
                <a:solidFill>
                  <a:schemeClr val="tx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9459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roup 113"/>
          <p:cNvGrpSpPr/>
          <p:nvPr/>
        </p:nvGrpSpPr>
        <p:grpSpPr>
          <a:xfrm>
            <a:off x="323237" y="217538"/>
            <a:ext cx="11228438" cy="6484670"/>
            <a:chOff x="324465" y="255638"/>
            <a:chExt cx="11228438" cy="6484670"/>
          </a:xfrm>
        </p:grpSpPr>
        <p:sp>
          <p:nvSpPr>
            <p:cNvPr id="2" name="Rounded Rectangle 1"/>
            <p:cNvSpPr/>
            <p:nvPr/>
          </p:nvSpPr>
          <p:spPr>
            <a:xfrm>
              <a:off x="513805" y="255638"/>
              <a:ext cx="2052413" cy="283443"/>
            </a:xfrm>
            <a:prstGeom prst="roundRect">
              <a:avLst/>
            </a:prstGeom>
            <a:solidFill>
              <a:srgbClr val="5DDE16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CA" sz="1100" dirty="0" smtClean="0">
                  <a:solidFill>
                    <a:schemeClr val="bg1"/>
                  </a:solidFill>
                  <a:latin typeface="Cooper Black" panose="0208090404030B020404" pitchFamily="18" charset="0"/>
                </a:rPr>
                <a:t>02/PRODUCT ANALYSIS</a:t>
              </a:r>
              <a:endParaRPr lang="en-CA" sz="1400" dirty="0">
                <a:solidFill>
                  <a:schemeClr val="bg1"/>
                </a:solidFill>
                <a:latin typeface="Cooper Black" panose="0208090404030B020404" pitchFamily="18" charset="0"/>
              </a:endParaRP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513805" y="612694"/>
              <a:ext cx="49290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dirty="0" smtClean="0">
                  <a:solidFill>
                    <a:schemeClr val="tx2">
                      <a:lumMod val="90000"/>
                    </a:schemeClr>
                  </a:solidFill>
                  <a:latin typeface="Cooper Black" panose="0208090404030B020404" pitchFamily="18" charset="0"/>
                </a:rPr>
                <a:t>Key Performance Metrics at a glance</a:t>
              </a:r>
              <a:endParaRPr lang="en-CA" sz="2800" dirty="0" smtClean="0">
                <a:solidFill>
                  <a:schemeClr val="tx2">
                    <a:lumMod val="90000"/>
                  </a:schemeClr>
                </a:solidFill>
                <a:latin typeface="Cooper Black" panose="0208090404030B020404" pitchFamily="18" charset="0"/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13805" y="962563"/>
              <a:ext cx="7558479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CA" sz="1100" dirty="0" smtClean="0">
                  <a:solidFill>
                    <a:schemeClr val="tx2">
                      <a:lumMod val="90000"/>
                    </a:schemeClr>
                  </a:solidFill>
                  <a:latin typeface="Britannic Bold" panose="020B0903060703020204" pitchFamily="34" charset="0"/>
                  <a:cs typeface="Times New Roman" panose="02020603050405020304" pitchFamily="18" charset="0"/>
                </a:rPr>
                <a:t>Revenue breakdown across six key product categories with profit margin insight</a:t>
              </a:r>
            </a:p>
          </p:txBody>
        </p:sp>
        <p:grpSp>
          <p:nvGrpSpPr>
            <p:cNvPr id="93" name="Group 92"/>
            <p:cNvGrpSpPr/>
            <p:nvPr/>
          </p:nvGrpSpPr>
          <p:grpSpPr>
            <a:xfrm>
              <a:off x="324465" y="1350866"/>
              <a:ext cx="6872748" cy="4145372"/>
              <a:chOff x="324465" y="1557338"/>
              <a:chExt cx="6872748" cy="4145372"/>
            </a:xfrm>
          </p:grpSpPr>
          <p:sp>
            <p:nvSpPr>
              <p:cNvPr id="28" name="Rectangle 27"/>
              <p:cNvSpPr/>
              <p:nvPr/>
            </p:nvSpPr>
            <p:spPr>
              <a:xfrm>
                <a:off x="324465" y="1557338"/>
                <a:ext cx="6872748" cy="4145372"/>
              </a:xfrm>
              <a:prstGeom prst="rect">
                <a:avLst/>
              </a:prstGeom>
              <a:solidFill>
                <a:srgbClr val="1C1C1C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graphicFrame>
            <p:nvGraphicFramePr>
              <p:cNvPr id="26" name="Chart 25">
                <a:extLst>
                  <a:ext uri="{FF2B5EF4-FFF2-40B4-BE49-F238E27FC236}">
                    <a16:creationId xmlns:a16="http://schemas.microsoft.com/office/drawing/2014/main" id="{69B93398-7E94-4C53-8BC3-B55E2806B24E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302254042"/>
                  </p:ext>
                </p:extLst>
              </p:nvPr>
            </p:nvGraphicFramePr>
            <p:xfrm>
              <a:off x="513805" y="2247406"/>
              <a:ext cx="5542865" cy="3278324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2"/>
              </a:graphicData>
            </a:graphic>
          </p:graphicFrame>
          <p:sp>
            <p:nvSpPr>
              <p:cNvPr id="27" name="TextBox 26"/>
              <p:cNvSpPr txBox="1"/>
              <p:nvPr/>
            </p:nvSpPr>
            <p:spPr>
              <a:xfrm>
                <a:off x="513805" y="1653306"/>
                <a:ext cx="32974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dirty="0">
                    <a:solidFill>
                      <a:schemeClr val="tx1">
                        <a:lumMod val="95000"/>
                      </a:schemeClr>
                    </a:solidFill>
                    <a:latin typeface="Cooper Black" panose="0208090404030B020404" pitchFamily="18" charset="0"/>
                  </a:rPr>
                  <a:t>Sales Revenue by Category</a:t>
                </a:r>
              </a:p>
            </p:txBody>
          </p:sp>
        </p:grpSp>
        <p:sp>
          <p:nvSpPr>
            <p:cNvPr id="73" name="Rounded Rectangle 72"/>
            <p:cNvSpPr/>
            <p:nvPr/>
          </p:nvSpPr>
          <p:spPr>
            <a:xfrm>
              <a:off x="7545365" y="2357322"/>
              <a:ext cx="3952568" cy="1421599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grpSp>
          <p:nvGrpSpPr>
            <p:cNvPr id="35" name="Group 34"/>
            <p:cNvGrpSpPr/>
            <p:nvPr/>
          </p:nvGrpSpPr>
          <p:grpSpPr>
            <a:xfrm>
              <a:off x="7541343" y="846538"/>
              <a:ext cx="4011560" cy="1421599"/>
              <a:chOff x="7511845" y="1095459"/>
              <a:chExt cx="4218039" cy="1490426"/>
            </a:xfrm>
          </p:grpSpPr>
          <p:sp>
            <p:nvSpPr>
              <p:cNvPr id="29" name="Rounded Rectangle 28"/>
              <p:cNvSpPr/>
              <p:nvPr/>
            </p:nvSpPr>
            <p:spPr>
              <a:xfrm>
                <a:off x="7511845" y="1095459"/>
                <a:ext cx="4218039" cy="1490426"/>
              </a:xfrm>
              <a:prstGeom prst="roundRect">
                <a:avLst/>
              </a:prstGeom>
              <a:solidFill>
                <a:srgbClr val="5DDE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sp>
            <p:nvSpPr>
              <p:cNvPr id="30" name="Rectangle 29"/>
              <p:cNvSpPr/>
              <p:nvPr/>
            </p:nvSpPr>
            <p:spPr>
              <a:xfrm>
                <a:off x="7705099" y="1519262"/>
                <a:ext cx="1250987" cy="4194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CA" sz="2000" b="1" kern="1500" spc="100" dirty="0" smtClean="0">
                    <a:solidFill>
                      <a:srgbClr val="0D0D0D"/>
                    </a:solidFill>
                    <a:latin typeface="Impact" panose="020B0806030902050204" pitchFamily="34" charset="0"/>
                    <a:cs typeface="Times New Roman" panose="02020603050405020304" pitchFamily="18" charset="0"/>
                  </a:rPr>
                  <a:t>$208.8M</a:t>
                </a:r>
                <a:endParaRPr lang="en-CA" sz="2000" kern="1500" spc="100" dirty="0">
                  <a:solidFill>
                    <a:srgbClr val="0D0D0D"/>
                  </a:solidFill>
                  <a:latin typeface="Impact" panose="020B080603090205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" name="7-Point Star 30"/>
              <p:cNvSpPr/>
              <p:nvPr/>
            </p:nvSpPr>
            <p:spPr>
              <a:xfrm>
                <a:off x="7846144" y="1305420"/>
                <a:ext cx="137650" cy="170672"/>
              </a:xfrm>
              <a:prstGeom prst="star7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32" name="Rectangle 31"/>
              <p:cNvSpPr/>
              <p:nvPr/>
            </p:nvSpPr>
            <p:spPr>
              <a:xfrm>
                <a:off x="7705099" y="1887266"/>
                <a:ext cx="1645396" cy="27427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CA" sz="1100" dirty="0" smtClean="0">
                    <a:solidFill>
                      <a:srgbClr val="0D0D0D"/>
                    </a:solidFill>
                    <a:latin typeface="Britannic Bold" panose="020B0903060703020204" pitchFamily="34" charset="0"/>
                    <a:cs typeface="Times New Roman" panose="02020603050405020304" pitchFamily="18" charset="0"/>
                  </a:rPr>
                  <a:t>Men’s Street Footwear</a:t>
                </a:r>
                <a:endParaRPr lang="en-CA" sz="1100" dirty="0">
                  <a:solidFill>
                    <a:srgbClr val="0D0D0D"/>
                  </a:solidFill>
                  <a:latin typeface="Britannic Bold" panose="020B09030607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3" name="Rectangle 32"/>
              <p:cNvSpPr/>
              <p:nvPr/>
            </p:nvSpPr>
            <p:spPr>
              <a:xfrm>
                <a:off x="7705099" y="2134657"/>
                <a:ext cx="1401217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CA" sz="1200" dirty="0" smtClean="0">
                    <a:solidFill>
                      <a:srgbClr val="0D0D0D"/>
                    </a:solidFill>
                  </a:rPr>
                  <a:t>23.2% of total sales</a:t>
                </a:r>
                <a:endParaRPr lang="en-CA" sz="1200" dirty="0">
                  <a:solidFill>
                    <a:srgbClr val="0D0D0D"/>
                  </a:solidFill>
                </a:endParaRPr>
              </a:p>
            </p:txBody>
          </p:sp>
        </p:grpSp>
        <p:grpSp>
          <p:nvGrpSpPr>
            <p:cNvPr id="54" name="Group 53"/>
            <p:cNvGrpSpPr/>
            <p:nvPr/>
          </p:nvGrpSpPr>
          <p:grpSpPr>
            <a:xfrm>
              <a:off x="7590501" y="2357321"/>
              <a:ext cx="3962401" cy="1421599"/>
              <a:chOff x="7511845" y="1095459"/>
              <a:chExt cx="4218039" cy="1490426"/>
            </a:xfrm>
            <a:solidFill>
              <a:srgbClr val="0D0D0D"/>
            </a:solidFill>
          </p:grpSpPr>
          <p:sp>
            <p:nvSpPr>
              <p:cNvPr id="55" name="Rounded Rectangle 54"/>
              <p:cNvSpPr/>
              <p:nvPr/>
            </p:nvSpPr>
            <p:spPr>
              <a:xfrm>
                <a:off x="7511845" y="1095459"/>
                <a:ext cx="4218039" cy="1490426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sp>
            <p:nvSpPr>
              <p:cNvPr id="56" name="Rectangle 55"/>
              <p:cNvSpPr/>
              <p:nvPr/>
            </p:nvSpPr>
            <p:spPr>
              <a:xfrm>
                <a:off x="7705099" y="1519262"/>
                <a:ext cx="1196544" cy="419481"/>
              </a:xfrm>
              <a:prstGeom prst="rect">
                <a:avLst/>
              </a:prstGeom>
              <a:grpFill/>
            </p:spPr>
            <p:txBody>
              <a:bodyPr wrap="none">
                <a:spAutoFit/>
              </a:bodyPr>
              <a:lstStyle/>
              <a:p>
                <a:r>
                  <a:rPr lang="en-CA" sz="2000" b="1" kern="1500" spc="100" dirty="0" smtClean="0">
                    <a:latin typeface="Impact" panose="020B0806030902050204" pitchFamily="34" charset="0"/>
                    <a:cs typeface="Times New Roman" panose="02020603050405020304" pitchFamily="18" charset="0"/>
                  </a:rPr>
                  <a:t>$179.0M</a:t>
                </a:r>
                <a:endParaRPr lang="en-CA" sz="2000" kern="1500" spc="100" dirty="0">
                  <a:latin typeface="Impact" panose="020B080603090205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7" name="7-Point Star 56"/>
              <p:cNvSpPr/>
              <p:nvPr/>
            </p:nvSpPr>
            <p:spPr>
              <a:xfrm>
                <a:off x="7846144" y="1305420"/>
                <a:ext cx="137650" cy="170672"/>
              </a:xfrm>
              <a:prstGeom prst="star7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58" name="Rectangle 57"/>
              <p:cNvSpPr/>
              <p:nvPr/>
            </p:nvSpPr>
            <p:spPr>
              <a:xfrm>
                <a:off x="7705099" y="1887266"/>
                <a:ext cx="1341589" cy="274276"/>
              </a:xfrm>
              <a:prstGeom prst="rect">
                <a:avLst/>
              </a:prstGeom>
              <a:grpFill/>
            </p:spPr>
            <p:txBody>
              <a:bodyPr wrap="none">
                <a:spAutoFit/>
              </a:bodyPr>
              <a:lstStyle/>
              <a:p>
                <a:r>
                  <a:rPr lang="en-CA" sz="1100" dirty="0" smtClean="0">
                    <a:solidFill>
                      <a:schemeClr val="tx1">
                        <a:lumMod val="65000"/>
                      </a:schemeClr>
                    </a:solidFill>
                    <a:latin typeface="Britannic Bold" panose="020B0903060703020204" pitchFamily="34" charset="0"/>
                    <a:cs typeface="Times New Roman" panose="02020603050405020304" pitchFamily="18" charset="0"/>
                  </a:rPr>
                  <a:t>Women’s Apparel</a:t>
                </a:r>
                <a:endParaRPr lang="en-CA" sz="1100" dirty="0">
                  <a:solidFill>
                    <a:schemeClr val="tx1">
                      <a:lumMod val="65000"/>
                    </a:schemeClr>
                  </a:solidFill>
                  <a:latin typeface="Britannic Bold" panose="020B09030607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9" name="Rectangle 58"/>
              <p:cNvSpPr/>
              <p:nvPr/>
            </p:nvSpPr>
            <p:spPr>
              <a:xfrm>
                <a:off x="7705099" y="2134657"/>
                <a:ext cx="1491618" cy="290410"/>
              </a:xfrm>
              <a:prstGeom prst="rect">
                <a:avLst/>
              </a:prstGeom>
              <a:grpFill/>
            </p:spPr>
            <p:txBody>
              <a:bodyPr wrap="none">
                <a:spAutoFit/>
              </a:bodyPr>
              <a:lstStyle/>
              <a:p>
                <a:r>
                  <a:rPr lang="en-CA" sz="1200" dirty="0" smtClean="0">
                    <a:solidFill>
                      <a:schemeClr val="tx1">
                        <a:lumMod val="65000"/>
                      </a:schemeClr>
                    </a:solidFill>
                  </a:rPr>
                  <a:t>19.9% of total sales</a:t>
                </a:r>
                <a:endParaRPr lang="en-CA" sz="1200" dirty="0">
                  <a:solidFill>
                    <a:schemeClr val="tx1">
                      <a:lumMod val="65000"/>
                    </a:schemeClr>
                  </a:solidFill>
                </a:endParaRPr>
              </a:p>
            </p:txBody>
          </p:sp>
        </p:grpSp>
        <p:grpSp>
          <p:nvGrpSpPr>
            <p:cNvPr id="80" name="Group 79"/>
            <p:cNvGrpSpPr/>
            <p:nvPr/>
          </p:nvGrpSpPr>
          <p:grpSpPr>
            <a:xfrm>
              <a:off x="7550793" y="3836757"/>
              <a:ext cx="4002109" cy="1423843"/>
              <a:chOff x="7550793" y="3836757"/>
              <a:chExt cx="4002109" cy="1423843"/>
            </a:xfrm>
          </p:grpSpPr>
          <p:sp>
            <p:nvSpPr>
              <p:cNvPr id="79" name="Rounded Rectangle 78"/>
              <p:cNvSpPr/>
              <p:nvPr/>
            </p:nvSpPr>
            <p:spPr>
              <a:xfrm>
                <a:off x="7550793" y="3839001"/>
                <a:ext cx="3952568" cy="1421599"/>
              </a:xfrm>
              <a:prstGeom prst="roundRect">
                <a:avLst/>
              </a:prstGeom>
              <a:solidFill>
                <a:srgbClr val="5DDE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grpSp>
            <p:nvGrpSpPr>
              <p:cNvPr id="60" name="Group 59"/>
              <p:cNvGrpSpPr/>
              <p:nvPr/>
            </p:nvGrpSpPr>
            <p:grpSpPr>
              <a:xfrm>
                <a:off x="7600334" y="3836757"/>
                <a:ext cx="3952568" cy="1421599"/>
                <a:chOff x="7511845" y="1095459"/>
                <a:chExt cx="4218039" cy="1490426"/>
              </a:xfrm>
              <a:solidFill>
                <a:srgbClr val="0D0D0D"/>
              </a:solidFill>
            </p:grpSpPr>
            <p:sp>
              <p:nvSpPr>
                <p:cNvPr id="61" name="Rounded Rectangle 60"/>
                <p:cNvSpPr/>
                <p:nvPr/>
              </p:nvSpPr>
              <p:spPr>
                <a:xfrm>
                  <a:off x="7511845" y="1095459"/>
                  <a:ext cx="4218039" cy="1490426"/>
                </a:xfrm>
                <a:prstGeom prst="round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 dirty="0"/>
                </a:p>
              </p:txBody>
            </p:sp>
            <p:sp>
              <p:nvSpPr>
                <p:cNvPr id="62" name="Rectangle 61"/>
                <p:cNvSpPr/>
                <p:nvPr/>
              </p:nvSpPr>
              <p:spPr>
                <a:xfrm>
                  <a:off x="7705099" y="1519262"/>
                  <a:ext cx="1196099" cy="419481"/>
                </a:xfrm>
                <a:prstGeom prst="rect">
                  <a:avLst/>
                </a:prstGeom>
                <a:grpFill/>
              </p:spPr>
              <p:txBody>
                <a:bodyPr wrap="none">
                  <a:spAutoFit/>
                </a:bodyPr>
                <a:lstStyle/>
                <a:p>
                  <a:r>
                    <a:rPr lang="en-CA" sz="2000" b="1" kern="1500" spc="100" dirty="0" smtClean="0">
                      <a:solidFill>
                        <a:srgbClr val="5DDE16"/>
                      </a:solidFill>
                      <a:latin typeface="Impact" panose="020B0806030902050204" pitchFamily="34" charset="0"/>
                      <a:cs typeface="Times New Roman" panose="02020603050405020304" pitchFamily="18" charset="0"/>
                    </a:rPr>
                    <a:t>$153.7M</a:t>
                  </a:r>
                  <a:endParaRPr lang="en-CA" sz="2000" kern="1500" spc="100" dirty="0">
                    <a:solidFill>
                      <a:srgbClr val="5DDE16"/>
                    </a:solidFill>
                    <a:latin typeface="Impact" panose="020B0806030902050204" pitchFamily="34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4" name="Rectangle 63"/>
                <p:cNvSpPr/>
                <p:nvPr/>
              </p:nvSpPr>
              <p:spPr>
                <a:xfrm>
                  <a:off x="7705099" y="1887266"/>
                  <a:ext cx="1772594" cy="274276"/>
                </a:xfrm>
                <a:prstGeom prst="rect">
                  <a:avLst/>
                </a:prstGeom>
                <a:grpFill/>
              </p:spPr>
              <p:txBody>
                <a:bodyPr wrap="none">
                  <a:spAutoFit/>
                </a:bodyPr>
                <a:lstStyle/>
                <a:p>
                  <a:r>
                    <a:rPr lang="en-CA" sz="1100" dirty="0" smtClean="0">
                      <a:solidFill>
                        <a:schemeClr val="tx1">
                          <a:lumMod val="65000"/>
                        </a:schemeClr>
                      </a:solidFill>
                      <a:latin typeface="Britannic Bold" panose="020B0903060703020204" pitchFamily="34" charset="0"/>
                      <a:cs typeface="Times New Roman" panose="02020603050405020304" pitchFamily="18" charset="0"/>
                    </a:rPr>
                    <a:t>Men’s Athletic Footwear</a:t>
                  </a:r>
                  <a:endParaRPr lang="en-CA" sz="1100" dirty="0">
                    <a:solidFill>
                      <a:schemeClr val="tx1">
                        <a:lumMod val="65000"/>
                      </a:schemeClr>
                    </a:solidFill>
                    <a:latin typeface="Britannic Bold" panose="020B0903060703020204" pitchFamily="34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5" name="Rectangle 64"/>
                <p:cNvSpPr/>
                <p:nvPr/>
              </p:nvSpPr>
              <p:spPr>
                <a:xfrm>
                  <a:off x="7705099" y="2134657"/>
                  <a:ext cx="1495329" cy="290410"/>
                </a:xfrm>
                <a:prstGeom prst="rect">
                  <a:avLst/>
                </a:prstGeom>
                <a:grpFill/>
              </p:spPr>
              <p:txBody>
                <a:bodyPr wrap="none">
                  <a:spAutoFit/>
                </a:bodyPr>
                <a:lstStyle/>
                <a:p>
                  <a:r>
                    <a:rPr lang="en-CA" sz="1200" dirty="0" smtClean="0">
                      <a:solidFill>
                        <a:schemeClr val="tx1">
                          <a:lumMod val="65000"/>
                        </a:schemeClr>
                      </a:solidFill>
                    </a:rPr>
                    <a:t>17.1% of total sales</a:t>
                  </a:r>
                  <a:endParaRPr lang="en-CA" sz="1200" dirty="0">
                    <a:solidFill>
                      <a:schemeClr val="tx1">
                        <a:lumMod val="65000"/>
                      </a:schemeClr>
                    </a:solidFill>
                  </a:endParaRPr>
                </a:p>
              </p:txBody>
            </p:sp>
          </p:grpSp>
        </p:grpSp>
        <p:sp>
          <p:nvSpPr>
            <p:cNvPr id="78" name="Rounded Rectangle 77"/>
            <p:cNvSpPr/>
            <p:nvPr/>
          </p:nvSpPr>
          <p:spPr>
            <a:xfrm>
              <a:off x="10831321" y="1079976"/>
              <a:ext cx="338123" cy="238839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1000" b="1" dirty="0" smtClean="0">
                  <a:solidFill>
                    <a:schemeClr val="bg1"/>
                  </a:solidFill>
                </a:rPr>
                <a:t>#1</a:t>
              </a:r>
              <a:endParaRPr lang="en-CA" b="1" dirty="0">
                <a:solidFill>
                  <a:schemeClr val="bg1"/>
                </a:solidFill>
              </a:endParaRPr>
            </a:p>
          </p:txBody>
        </p:sp>
        <p:grpSp>
          <p:nvGrpSpPr>
            <p:cNvPr id="94" name="Group 93"/>
            <p:cNvGrpSpPr/>
            <p:nvPr/>
          </p:nvGrpSpPr>
          <p:grpSpPr>
            <a:xfrm>
              <a:off x="7550793" y="5316465"/>
              <a:ext cx="4002109" cy="1423843"/>
              <a:chOff x="7550793" y="5316465"/>
              <a:chExt cx="4002109" cy="1423843"/>
            </a:xfrm>
          </p:grpSpPr>
          <p:sp>
            <p:nvSpPr>
              <p:cNvPr id="81" name="Rounded Rectangle 80"/>
              <p:cNvSpPr/>
              <p:nvPr/>
            </p:nvSpPr>
            <p:spPr>
              <a:xfrm>
                <a:off x="7550793" y="5318709"/>
                <a:ext cx="3952568" cy="1421599"/>
              </a:xfrm>
              <a:prstGeom prst="roundRect">
                <a:avLst/>
              </a:prstGeom>
              <a:solidFill>
                <a:srgbClr val="5DDE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grpSp>
            <p:nvGrpSpPr>
              <p:cNvPr id="82" name="Group 81"/>
              <p:cNvGrpSpPr/>
              <p:nvPr/>
            </p:nvGrpSpPr>
            <p:grpSpPr>
              <a:xfrm>
                <a:off x="7600334" y="5316465"/>
                <a:ext cx="3952568" cy="1423843"/>
                <a:chOff x="7511845" y="1095459"/>
                <a:chExt cx="4218039" cy="1490426"/>
              </a:xfrm>
              <a:solidFill>
                <a:srgbClr val="0D0D0D"/>
              </a:solidFill>
            </p:grpSpPr>
            <p:sp>
              <p:nvSpPr>
                <p:cNvPr id="83" name="Rounded Rectangle 82"/>
                <p:cNvSpPr/>
                <p:nvPr/>
              </p:nvSpPr>
              <p:spPr>
                <a:xfrm>
                  <a:off x="7511845" y="1095459"/>
                  <a:ext cx="4218039" cy="1490426"/>
                </a:xfrm>
                <a:prstGeom prst="round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 dirty="0"/>
                </a:p>
              </p:txBody>
            </p:sp>
            <p:sp>
              <p:nvSpPr>
                <p:cNvPr id="84" name="Rectangle 83"/>
                <p:cNvSpPr/>
                <p:nvPr/>
              </p:nvSpPr>
              <p:spPr>
                <a:xfrm>
                  <a:off x="7705099" y="1519262"/>
                  <a:ext cx="1240576" cy="418820"/>
                </a:xfrm>
                <a:prstGeom prst="rect">
                  <a:avLst/>
                </a:prstGeom>
                <a:grpFill/>
              </p:spPr>
              <p:txBody>
                <a:bodyPr wrap="none">
                  <a:spAutoFit/>
                </a:bodyPr>
                <a:lstStyle/>
                <a:p>
                  <a:r>
                    <a:rPr lang="en-CA" sz="2000" b="1" kern="1500" spc="100" dirty="0" smtClean="0">
                      <a:latin typeface="Impact" panose="020B0806030902050204" pitchFamily="34" charset="0"/>
                      <a:cs typeface="Times New Roman" panose="02020603050405020304" pitchFamily="18" charset="0"/>
                    </a:rPr>
                    <a:t>$106.6M</a:t>
                  </a:r>
                  <a:endParaRPr lang="en-CA" sz="2000" kern="1500" spc="100" dirty="0">
                    <a:latin typeface="Impact" panose="020B0806030902050204" pitchFamily="34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7705099" y="1887266"/>
                  <a:ext cx="1772594" cy="273844"/>
                </a:xfrm>
                <a:prstGeom prst="rect">
                  <a:avLst/>
                </a:prstGeom>
                <a:grpFill/>
              </p:spPr>
              <p:txBody>
                <a:bodyPr wrap="none">
                  <a:spAutoFit/>
                </a:bodyPr>
                <a:lstStyle/>
                <a:p>
                  <a:r>
                    <a:rPr lang="en-CA" sz="1100" dirty="0" smtClean="0">
                      <a:solidFill>
                        <a:schemeClr val="tx1">
                          <a:lumMod val="65000"/>
                        </a:schemeClr>
                      </a:solidFill>
                      <a:latin typeface="Britannic Bold" panose="020B0903060703020204" pitchFamily="34" charset="0"/>
                      <a:cs typeface="Times New Roman" panose="02020603050405020304" pitchFamily="18" charset="0"/>
                    </a:rPr>
                    <a:t>Men’s Athletic Footwear</a:t>
                  </a:r>
                  <a:endParaRPr lang="en-CA" sz="1100" dirty="0">
                    <a:solidFill>
                      <a:schemeClr val="tx1">
                        <a:lumMod val="65000"/>
                      </a:schemeClr>
                    </a:solidFill>
                    <a:latin typeface="Britannic Bold" panose="020B0903060703020204" pitchFamily="34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7705099" y="2134657"/>
                  <a:ext cx="2405541" cy="289952"/>
                </a:xfrm>
                <a:prstGeom prst="rect">
                  <a:avLst/>
                </a:prstGeom>
                <a:grpFill/>
              </p:spPr>
              <p:txBody>
                <a:bodyPr wrap="none">
                  <a:spAutoFit/>
                </a:bodyPr>
                <a:lstStyle/>
                <a:p>
                  <a:r>
                    <a:rPr lang="en-CA" sz="1200" dirty="0" smtClean="0">
                      <a:solidFill>
                        <a:schemeClr val="tx1">
                          <a:lumMod val="65000"/>
                        </a:schemeClr>
                      </a:solidFill>
                    </a:rPr>
                    <a:t>11.8% share Growth Opportunity</a:t>
                  </a:r>
                  <a:endParaRPr lang="en-CA" sz="1200" dirty="0">
                    <a:solidFill>
                      <a:schemeClr val="tx1">
                        <a:lumMod val="65000"/>
                      </a:schemeClr>
                    </a:solidFill>
                  </a:endParaRPr>
                </a:p>
              </p:txBody>
            </p:sp>
          </p:grpSp>
        </p:grpSp>
        <p:grpSp>
          <p:nvGrpSpPr>
            <p:cNvPr id="101" name="Group 100"/>
            <p:cNvGrpSpPr/>
            <p:nvPr/>
          </p:nvGrpSpPr>
          <p:grpSpPr>
            <a:xfrm>
              <a:off x="324465" y="5548975"/>
              <a:ext cx="3430696" cy="1191333"/>
              <a:chOff x="324465" y="5548975"/>
              <a:chExt cx="3136490" cy="1191333"/>
            </a:xfrm>
          </p:grpSpPr>
          <p:sp>
            <p:nvSpPr>
              <p:cNvPr id="95" name="Rounded Rectangle 94"/>
              <p:cNvSpPr/>
              <p:nvPr/>
            </p:nvSpPr>
            <p:spPr>
              <a:xfrm>
                <a:off x="324465" y="5551219"/>
                <a:ext cx="3126658" cy="1189089"/>
              </a:xfrm>
              <a:prstGeom prst="roundRect">
                <a:avLst/>
              </a:prstGeom>
              <a:solidFill>
                <a:srgbClr val="5DDE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grpSp>
            <p:nvGrpSpPr>
              <p:cNvPr id="96" name="Group 95"/>
              <p:cNvGrpSpPr/>
              <p:nvPr/>
            </p:nvGrpSpPr>
            <p:grpSpPr>
              <a:xfrm>
                <a:off x="383838" y="5548975"/>
                <a:ext cx="3077117" cy="1191333"/>
                <a:chOff x="7525322" y="1095459"/>
                <a:chExt cx="4218039" cy="1493239"/>
              </a:xfrm>
              <a:solidFill>
                <a:srgbClr val="0D0D0D"/>
              </a:solidFill>
            </p:grpSpPr>
            <p:sp>
              <p:nvSpPr>
                <p:cNvPr id="97" name="Rounded Rectangle 96"/>
                <p:cNvSpPr/>
                <p:nvPr/>
              </p:nvSpPr>
              <p:spPr>
                <a:xfrm>
                  <a:off x="7525322" y="1095459"/>
                  <a:ext cx="4218039" cy="1493239"/>
                </a:xfrm>
                <a:prstGeom prst="round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 dirty="0"/>
                </a:p>
              </p:txBody>
            </p:sp>
            <p:sp>
              <p:nvSpPr>
                <p:cNvPr id="98" name="Rectangle 97"/>
                <p:cNvSpPr/>
                <p:nvPr/>
              </p:nvSpPr>
              <p:spPr>
                <a:xfrm>
                  <a:off x="7705099" y="1457644"/>
                  <a:ext cx="1226891" cy="501505"/>
                </a:xfrm>
                <a:prstGeom prst="rect">
                  <a:avLst/>
                </a:prstGeom>
                <a:grpFill/>
              </p:spPr>
              <p:txBody>
                <a:bodyPr wrap="none">
                  <a:spAutoFit/>
                </a:bodyPr>
                <a:lstStyle/>
                <a:p>
                  <a:r>
                    <a:rPr lang="en-CA" sz="2000" b="1" kern="1500" spc="100" dirty="0" smtClean="0">
                      <a:solidFill>
                        <a:srgbClr val="5DDE16"/>
                      </a:solidFill>
                      <a:latin typeface="Impact" panose="020B0806030902050204" pitchFamily="34" charset="0"/>
                      <a:cs typeface="Times New Roman" panose="02020603050405020304" pitchFamily="18" charset="0"/>
                    </a:rPr>
                    <a:t>$128.0M</a:t>
                  </a:r>
                  <a:endParaRPr lang="en-CA" sz="2000" kern="1500" spc="100" dirty="0">
                    <a:solidFill>
                      <a:srgbClr val="5DDE16"/>
                    </a:solidFill>
                    <a:latin typeface="Impact" panose="020B0806030902050204" pitchFamily="34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9" name="Rectangle 98"/>
                <p:cNvSpPr/>
                <p:nvPr/>
              </p:nvSpPr>
              <p:spPr>
                <a:xfrm>
                  <a:off x="7705099" y="1887266"/>
                  <a:ext cx="2228294" cy="327907"/>
                </a:xfrm>
                <a:prstGeom prst="rect">
                  <a:avLst/>
                </a:prstGeom>
                <a:grpFill/>
              </p:spPr>
              <p:txBody>
                <a:bodyPr wrap="none">
                  <a:spAutoFit/>
                </a:bodyPr>
                <a:lstStyle/>
                <a:p>
                  <a:r>
                    <a:rPr lang="en-CA" sz="1100" dirty="0" err="1" smtClean="0">
                      <a:solidFill>
                        <a:schemeClr val="tx1">
                          <a:lumMod val="65000"/>
                        </a:schemeClr>
                      </a:solidFill>
                      <a:latin typeface="Britannic Bold" panose="020B0903060703020204" pitchFamily="34" charset="0"/>
                      <a:cs typeface="Times New Roman" panose="02020603050405020304" pitchFamily="18" charset="0"/>
                    </a:rPr>
                    <a:t>WOmen’s</a:t>
                  </a:r>
                  <a:r>
                    <a:rPr lang="en-CA" sz="1100" dirty="0" smtClean="0">
                      <a:solidFill>
                        <a:schemeClr val="tx1">
                          <a:lumMod val="65000"/>
                        </a:schemeClr>
                      </a:solidFill>
                      <a:latin typeface="Britannic Bold" panose="020B0903060703020204" pitchFamily="34" charset="0"/>
                      <a:cs typeface="Times New Roman" panose="02020603050405020304" pitchFamily="18" charset="0"/>
                    </a:rPr>
                    <a:t> Street Footwear</a:t>
                  </a:r>
                  <a:endParaRPr lang="en-CA" sz="1100" dirty="0">
                    <a:solidFill>
                      <a:schemeClr val="tx1">
                        <a:lumMod val="65000"/>
                      </a:schemeClr>
                    </a:solidFill>
                    <a:latin typeface="Britannic Bold" panose="020B0903060703020204" pitchFamily="34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0" name="Rectangle 99"/>
                <p:cNvSpPr/>
                <p:nvPr/>
              </p:nvSpPr>
              <p:spPr>
                <a:xfrm>
                  <a:off x="7705099" y="2134657"/>
                  <a:ext cx="1021132" cy="347196"/>
                </a:xfrm>
                <a:prstGeom prst="rect">
                  <a:avLst/>
                </a:prstGeom>
                <a:grpFill/>
              </p:spPr>
              <p:txBody>
                <a:bodyPr wrap="none">
                  <a:spAutoFit/>
                </a:bodyPr>
                <a:lstStyle/>
                <a:p>
                  <a:r>
                    <a:rPr lang="en-CA" sz="1200" dirty="0" smtClean="0">
                      <a:solidFill>
                        <a:schemeClr val="tx1">
                          <a:lumMod val="65000"/>
                        </a:schemeClr>
                      </a:solidFill>
                    </a:rPr>
                    <a:t>14.2% Share</a:t>
                  </a:r>
                  <a:endParaRPr lang="en-CA" sz="1200" dirty="0">
                    <a:solidFill>
                      <a:schemeClr val="tx1">
                        <a:lumMod val="65000"/>
                      </a:schemeClr>
                    </a:solidFill>
                  </a:endParaRPr>
                </a:p>
              </p:txBody>
            </p:sp>
          </p:grpSp>
        </p:grpSp>
        <p:grpSp>
          <p:nvGrpSpPr>
            <p:cNvPr id="102" name="Group 101"/>
            <p:cNvGrpSpPr/>
            <p:nvPr/>
          </p:nvGrpSpPr>
          <p:grpSpPr>
            <a:xfrm>
              <a:off x="3804702" y="5544026"/>
              <a:ext cx="3402895" cy="1191333"/>
              <a:chOff x="324465" y="5548975"/>
              <a:chExt cx="3136490" cy="1191333"/>
            </a:xfrm>
          </p:grpSpPr>
          <p:sp>
            <p:nvSpPr>
              <p:cNvPr id="103" name="Rounded Rectangle 102"/>
              <p:cNvSpPr/>
              <p:nvPr/>
            </p:nvSpPr>
            <p:spPr>
              <a:xfrm>
                <a:off x="324465" y="5551219"/>
                <a:ext cx="3126658" cy="1189089"/>
              </a:xfrm>
              <a:prstGeom prst="roundRect">
                <a:avLst/>
              </a:prstGeom>
              <a:solidFill>
                <a:srgbClr val="5DDE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grpSp>
            <p:nvGrpSpPr>
              <p:cNvPr id="104" name="Group 103"/>
              <p:cNvGrpSpPr/>
              <p:nvPr/>
            </p:nvGrpSpPr>
            <p:grpSpPr>
              <a:xfrm>
                <a:off x="383838" y="5548975"/>
                <a:ext cx="3077117" cy="1191333"/>
                <a:chOff x="7525322" y="1095459"/>
                <a:chExt cx="4218039" cy="1493239"/>
              </a:xfrm>
              <a:solidFill>
                <a:srgbClr val="0D0D0D"/>
              </a:solidFill>
            </p:grpSpPr>
            <p:sp>
              <p:nvSpPr>
                <p:cNvPr id="105" name="Rounded Rectangle 104"/>
                <p:cNvSpPr/>
                <p:nvPr/>
              </p:nvSpPr>
              <p:spPr>
                <a:xfrm>
                  <a:off x="7525322" y="1095459"/>
                  <a:ext cx="4218039" cy="1493239"/>
                </a:xfrm>
                <a:prstGeom prst="round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 dirty="0"/>
                </a:p>
              </p:txBody>
            </p:sp>
            <p:sp>
              <p:nvSpPr>
                <p:cNvPr id="106" name="Rectangle 105"/>
                <p:cNvSpPr/>
                <p:nvPr/>
              </p:nvSpPr>
              <p:spPr>
                <a:xfrm>
                  <a:off x="7705099" y="1457644"/>
                  <a:ext cx="1226891" cy="501505"/>
                </a:xfrm>
                <a:prstGeom prst="rect">
                  <a:avLst/>
                </a:prstGeom>
                <a:grpFill/>
              </p:spPr>
              <p:txBody>
                <a:bodyPr wrap="none">
                  <a:spAutoFit/>
                </a:bodyPr>
                <a:lstStyle/>
                <a:p>
                  <a:r>
                    <a:rPr lang="en-CA" sz="2000" b="1" kern="1500" spc="100" dirty="0" smtClean="0">
                      <a:solidFill>
                        <a:srgbClr val="5DDE16"/>
                      </a:solidFill>
                      <a:latin typeface="Impact" panose="020B0806030902050204" pitchFamily="34" charset="0"/>
                      <a:cs typeface="Times New Roman" panose="02020603050405020304" pitchFamily="18" charset="0"/>
                    </a:rPr>
                    <a:t>$128.0M</a:t>
                  </a:r>
                  <a:endParaRPr lang="en-CA" sz="2000" kern="1500" spc="100" dirty="0">
                    <a:solidFill>
                      <a:srgbClr val="5DDE16"/>
                    </a:solidFill>
                    <a:latin typeface="Impact" panose="020B0806030902050204" pitchFamily="34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7" name="Rectangle 106"/>
                <p:cNvSpPr/>
                <p:nvPr/>
              </p:nvSpPr>
              <p:spPr>
                <a:xfrm>
                  <a:off x="7705099" y="1887266"/>
                  <a:ext cx="1341176" cy="327907"/>
                </a:xfrm>
                <a:prstGeom prst="rect">
                  <a:avLst/>
                </a:prstGeom>
                <a:grpFill/>
              </p:spPr>
              <p:txBody>
                <a:bodyPr wrap="none">
                  <a:spAutoFit/>
                </a:bodyPr>
                <a:lstStyle/>
                <a:p>
                  <a:r>
                    <a:rPr lang="en-CA" sz="1100" dirty="0" smtClean="0">
                      <a:solidFill>
                        <a:schemeClr val="tx1">
                          <a:lumMod val="65000"/>
                        </a:schemeClr>
                      </a:solidFill>
                      <a:latin typeface="Britannic Bold" panose="020B0903060703020204" pitchFamily="34" charset="0"/>
                      <a:cs typeface="Times New Roman" panose="02020603050405020304" pitchFamily="18" charset="0"/>
                    </a:rPr>
                    <a:t>Men’s Apparel</a:t>
                  </a:r>
                  <a:endParaRPr lang="en-CA" sz="1100" dirty="0">
                    <a:solidFill>
                      <a:schemeClr val="tx1">
                        <a:lumMod val="65000"/>
                      </a:schemeClr>
                    </a:solidFill>
                    <a:latin typeface="Britannic Bold" panose="020B0903060703020204" pitchFamily="34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7705099" y="2134657"/>
                  <a:ext cx="1208962" cy="347196"/>
                </a:xfrm>
                <a:prstGeom prst="rect">
                  <a:avLst/>
                </a:prstGeom>
                <a:grpFill/>
              </p:spPr>
              <p:txBody>
                <a:bodyPr wrap="none">
                  <a:spAutoFit/>
                </a:bodyPr>
                <a:lstStyle/>
                <a:p>
                  <a:r>
                    <a:rPr lang="en-CA" sz="1200" dirty="0" smtClean="0">
                      <a:solidFill>
                        <a:schemeClr val="tx1">
                          <a:lumMod val="65000"/>
                        </a:schemeClr>
                      </a:solidFill>
                    </a:rPr>
                    <a:t>13.7% Share</a:t>
                  </a:r>
                  <a:endParaRPr lang="en-CA" sz="1200" dirty="0">
                    <a:solidFill>
                      <a:schemeClr val="tx1">
                        <a:lumMod val="65000"/>
                      </a:schemeClr>
                    </a:solidFill>
                  </a:endParaRPr>
                </a:p>
              </p:txBody>
            </p:sp>
          </p:grpSp>
        </p:grpSp>
        <p:sp>
          <p:nvSpPr>
            <p:cNvPr id="109" name="Rounded Rectangle 108"/>
            <p:cNvSpPr/>
            <p:nvPr/>
          </p:nvSpPr>
          <p:spPr>
            <a:xfrm>
              <a:off x="7945961" y="2473760"/>
              <a:ext cx="338123" cy="238839"/>
            </a:xfrm>
            <a:prstGeom prst="roundRect">
              <a:avLst/>
            </a:prstGeom>
            <a:solidFill>
              <a:srgbClr val="5DDE1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1000" b="1" dirty="0" smtClean="0">
                  <a:solidFill>
                    <a:schemeClr val="bg1"/>
                  </a:solidFill>
                </a:rPr>
                <a:t>#2</a:t>
              </a:r>
              <a:endParaRPr lang="en-CA" b="1" dirty="0">
                <a:solidFill>
                  <a:schemeClr val="bg1"/>
                </a:solidFill>
              </a:endParaRPr>
            </a:p>
          </p:txBody>
        </p:sp>
        <p:sp>
          <p:nvSpPr>
            <p:cNvPr id="110" name="Rounded Rectangle 109"/>
            <p:cNvSpPr/>
            <p:nvPr/>
          </p:nvSpPr>
          <p:spPr>
            <a:xfrm>
              <a:off x="7945961" y="5413195"/>
              <a:ext cx="338123" cy="238839"/>
            </a:xfrm>
            <a:prstGeom prst="roundRect">
              <a:avLst/>
            </a:prstGeom>
            <a:solidFill>
              <a:srgbClr val="5DDE1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1000" b="1" dirty="0" smtClean="0">
                  <a:solidFill>
                    <a:schemeClr val="bg1"/>
                  </a:solidFill>
                </a:rPr>
                <a:t>#4</a:t>
              </a:r>
              <a:endParaRPr lang="en-CA" b="1" dirty="0">
                <a:solidFill>
                  <a:schemeClr val="bg1"/>
                </a:solidFill>
              </a:endParaRPr>
            </a:p>
          </p:txBody>
        </p:sp>
        <p:sp>
          <p:nvSpPr>
            <p:cNvPr id="111" name="Rounded Rectangle 110"/>
            <p:cNvSpPr/>
            <p:nvPr/>
          </p:nvSpPr>
          <p:spPr>
            <a:xfrm>
              <a:off x="7948105" y="3999906"/>
              <a:ext cx="338123" cy="238839"/>
            </a:xfrm>
            <a:prstGeom prst="roundRect">
              <a:avLst/>
            </a:prstGeom>
            <a:solidFill>
              <a:srgbClr val="5DDE1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1000" b="1" dirty="0" smtClean="0">
                  <a:solidFill>
                    <a:schemeClr val="bg1"/>
                  </a:solidFill>
                </a:rPr>
                <a:t>#3</a:t>
              </a:r>
              <a:endParaRPr lang="en-CA" b="1" dirty="0">
                <a:solidFill>
                  <a:schemeClr val="bg1"/>
                </a:solidFill>
              </a:endParaRPr>
            </a:p>
          </p:txBody>
        </p:sp>
        <p:sp>
          <p:nvSpPr>
            <p:cNvPr id="112" name="Rounded Rectangle 111"/>
            <p:cNvSpPr/>
            <p:nvPr/>
          </p:nvSpPr>
          <p:spPr>
            <a:xfrm>
              <a:off x="4166226" y="5591608"/>
              <a:ext cx="338123" cy="238839"/>
            </a:xfrm>
            <a:prstGeom prst="roundRect">
              <a:avLst/>
            </a:prstGeom>
            <a:solidFill>
              <a:srgbClr val="5DDE1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1000" b="1" dirty="0" smtClean="0">
                  <a:solidFill>
                    <a:schemeClr val="bg1"/>
                  </a:solidFill>
                </a:rPr>
                <a:t>#5</a:t>
              </a:r>
              <a:endParaRPr lang="en-CA" b="1" dirty="0">
                <a:solidFill>
                  <a:schemeClr val="bg1"/>
                </a:solidFill>
              </a:endParaRPr>
            </a:p>
          </p:txBody>
        </p:sp>
        <p:sp>
          <p:nvSpPr>
            <p:cNvPr id="113" name="Rounded Rectangle 112"/>
            <p:cNvSpPr/>
            <p:nvPr/>
          </p:nvSpPr>
          <p:spPr>
            <a:xfrm>
              <a:off x="684230" y="5591607"/>
              <a:ext cx="338123" cy="238839"/>
            </a:xfrm>
            <a:prstGeom prst="roundRect">
              <a:avLst/>
            </a:prstGeom>
            <a:solidFill>
              <a:srgbClr val="5DDE1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1000" b="1" dirty="0" smtClean="0">
                  <a:solidFill>
                    <a:schemeClr val="bg1"/>
                  </a:solidFill>
                </a:rPr>
                <a:t>#6</a:t>
              </a:r>
              <a:endParaRPr lang="en-CA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38921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roup 77"/>
          <p:cNvGrpSpPr/>
          <p:nvPr/>
        </p:nvGrpSpPr>
        <p:grpSpPr>
          <a:xfrm>
            <a:off x="218615" y="183474"/>
            <a:ext cx="11760762" cy="6495545"/>
            <a:chOff x="332915" y="183474"/>
            <a:chExt cx="11760762" cy="6495545"/>
          </a:xfrm>
        </p:grpSpPr>
        <p:sp>
          <p:nvSpPr>
            <p:cNvPr id="3" name="Rounded Rectangle 2"/>
            <p:cNvSpPr/>
            <p:nvPr/>
          </p:nvSpPr>
          <p:spPr>
            <a:xfrm>
              <a:off x="522255" y="183474"/>
              <a:ext cx="2052413" cy="283443"/>
            </a:xfrm>
            <a:prstGeom prst="roundRect">
              <a:avLst/>
            </a:prstGeom>
            <a:solidFill>
              <a:srgbClr val="5DDE16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CA" sz="1050" dirty="0" smtClean="0">
                  <a:solidFill>
                    <a:schemeClr val="bg1"/>
                  </a:solidFill>
                  <a:latin typeface="Cooper Black" panose="0208090404030B020404" pitchFamily="18" charset="0"/>
                </a:rPr>
                <a:t>03/REGIONAL  ANALYSIS</a:t>
              </a:r>
              <a:endParaRPr lang="en-CA" sz="1200" dirty="0">
                <a:solidFill>
                  <a:schemeClr val="bg1"/>
                </a:solidFill>
                <a:latin typeface="Cooper Black" panose="0208090404030B020404" pitchFamily="18" charset="0"/>
              </a:endParaRP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22256" y="638480"/>
              <a:ext cx="49290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dirty="0" smtClean="0">
                  <a:solidFill>
                    <a:schemeClr val="tx2">
                      <a:lumMod val="90000"/>
                    </a:schemeClr>
                  </a:solidFill>
                  <a:latin typeface="Cooper Black" panose="0208090404030B020404" pitchFamily="18" charset="0"/>
                </a:rPr>
                <a:t>Regional Sales Performance</a:t>
              </a:r>
              <a:endParaRPr lang="en-CA" sz="2800" dirty="0" smtClean="0">
                <a:solidFill>
                  <a:schemeClr val="tx2">
                    <a:lumMod val="90000"/>
                  </a:schemeClr>
                </a:solidFill>
                <a:latin typeface="Cooper Black" panose="0208090404030B020404" pitchFamily="18" charset="0"/>
              </a:endParaRPr>
            </a:p>
          </p:txBody>
        </p:sp>
        <p:sp>
          <p:nvSpPr>
            <p:cNvPr id="5" name="Rectangle 4"/>
            <p:cNvSpPr/>
            <p:nvPr/>
          </p:nvSpPr>
          <p:spPr>
            <a:xfrm>
              <a:off x="522255" y="890399"/>
              <a:ext cx="7558479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CA" sz="1100" dirty="0" smtClean="0">
                  <a:solidFill>
                    <a:schemeClr val="tx2">
                      <a:lumMod val="90000"/>
                    </a:schemeClr>
                  </a:solidFill>
                  <a:latin typeface="Britannic Bold" panose="020B0903060703020204" pitchFamily="34" charset="0"/>
                  <a:cs typeface="Times New Roman" panose="02020603050405020304" pitchFamily="18" charset="0"/>
                </a:rPr>
                <a:t>Sales distribution and growth potential across five us regions</a:t>
              </a:r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332915" y="1278702"/>
              <a:ext cx="6872748" cy="4145372"/>
              <a:chOff x="324465" y="1557338"/>
              <a:chExt cx="6872748" cy="4145372"/>
            </a:xfrm>
          </p:grpSpPr>
          <p:sp>
            <p:nvSpPr>
              <p:cNvPr id="54" name="Rectangle 53"/>
              <p:cNvSpPr/>
              <p:nvPr/>
            </p:nvSpPr>
            <p:spPr>
              <a:xfrm>
                <a:off x="324465" y="1557338"/>
                <a:ext cx="6872748" cy="4145372"/>
              </a:xfrm>
              <a:prstGeom prst="rect">
                <a:avLst/>
              </a:prstGeom>
              <a:solidFill>
                <a:srgbClr val="1C1C1C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56" name="TextBox 55"/>
              <p:cNvSpPr txBox="1"/>
              <p:nvPr/>
            </p:nvSpPr>
            <p:spPr>
              <a:xfrm>
                <a:off x="513805" y="1653306"/>
                <a:ext cx="36918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dirty="0" smtClean="0">
                    <a:solidFill>
                      <a:schemeClr val="tx1">
                        <a:lumMod val="95000"/>
                      </a:schemeClr>
                    </a:solidFill>
                    <a:latin typeface="Cooper Black" panose="0208090404030B020404" pitchFamily="18" charset="0"/>
                  </a:rPr>
                  <a:t>Regional Sales by Comparison</a:t>
                </a:r>
                <a:endParaRPr lang="en-CA" dirty="0">
                  <a:solidFill>
                    <a:schemeClr val="tx1">
                      <a:lumMod val="95000"/>
                    </a:schemeClr>
                  </a:solidFill>
                  <a:latin typeface="Cooper Black" panose="0208090404030B020404" pitchFamily="18" charset="0"/>
                </a:endParaRPr>
              </a:p>
            </p:txBody>
          </p:sp>
        </p:grpSp>
        <p:sp>
          <p:nvSpPr>
            <p:cNvPr id="7" name="Rounded Rectangle 6"/>
            <p:cNvSpPr/>
            <p:nvPr/>
          </p:nvSpPr>
          <p:spPr>
            <a:xfrm>
              <a:off x="7360282" y="1805959"/>
              <a:ext cx="3901746" cy="1129851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grpSp>
          <p:nvGrpSpPr>
            <p:cNvPr id="8" name="Group 7"/>
            <p:cNvGrpSpPr/>
            <p:nvPr/>
          </p:nvGrpSpPr>
          <p:grpSpPr>
            <a:xfrm>
              <a:off x="7360282" y="553252"/>
              <a:ext cx="4683854" cy="1143653"/>
              <a:chOff x="7511845" y="1095459"/>
              <a:chExt cx="4218039" cy="1281661"/>
            </a:xfrm>
          </p:grpSpPr>
          <p:sp>
            <p:nvSpPr>
              <p:cNvPr id="49" name="Rounded Rectangle 48"/>
              <p:cNvSpPr/>
              <p:nvPr/>
            </p:nvSpPr>
            <p:spPr>
              <a:xfrm>
                <a:off x="7511845" y="1095459"/>
                <a:ext cx="4218039" cy="1281661"/>
              </a:xfrm>
              <a:prstGeom prst="roundRect">
                <a:avLst/>
              </a:prstGeom>
              <a:solidFill>
                <a:srgbClr val="5DDE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sp>
            <p:nvSpPr>
              <p:cNvPr id="50" name="Rectangle 49"/>
              <p:cNvSpPr/>
              <p:nvPr/>
            </p:nvSpPr>
            <p:spPr>
              <a:xfrm>
                <a:off x="8029700" y="1273022"/>
                <a:ext cx="1256043" cy="4194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CA" sz="2000" b="1" kern="1500" spc="100" dirty="0" smtClean="0">
                    <a:solidFill>
                      <a:srgbClr val="0D0D0D"/>
                    </a:solidFill>
                    <a:latin typeface="Impact" panose="020B0806030902050204" pitchFamily="34" charset="0"/>
                    <a:cs typeface="Times New Roman" panose="02020603050405020304" pitchFamily="18" charset="0"/>
                  </a:rPr>
                  <a:t>$269.9M</a:t>
                </a:r>
                <a:endParaRPr lang="en-CA" sz="2000" kern="1500" spc="100" dirty="0">
                  <a:solidFill>
                    <a:srgbClr val="0D0D0D"/>
                  </a:solidFill>
                  <a:latin typeface="Impact" panose="020B080603090205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1" name="7-Point Star 50"/>
              <p:cNvSpPr/>
              <p:nvPr/>
            </p:nvSpPr>
            <p:spPr>
              <a:xfrm>
                <a:off x="7841441" y="1369953"/>
                <a:ext cx="137650" cy="170673"/>
              </a:xfrm>
              <a:prstGeom prst="star7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52" name="Rectangle 51"/>
              <p:cNvSpPr/>
              <p:nvPr/>
            </p:nvSpPr>
            <p:spPr>
              <a:xfrm>
                <a:off x="8070114" y="1618351"/>
                <a:ext cx="1001531" cy="27427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CA" sz="1100" dirty="0" smtClean="0">
                    <a:solidFill>
                      <a:srgbClr val="0D0D0D"/>
                    </a:solidFill>
                    <a:latin typeface="Britannic Bold" panose="020B0903060703020204" pitchFamily="34" charset="0"/>
                    <a:cs typeface="Times New Roman" panose="02020603050405020304" pitchFamily="18" charset="0"/>
                  </a:rPr>
                  <a:t>West Region</a:t>
                </a:r>
                <a:endParaRPr lang="en-CA" sz="1100" dirty="0">
                  <a:solidFill>
                    <a:srgbClr val="0D0D0D"/>
                  </a:solidFill>
                  <a:latin typeface="Britannic Bold" panose="020B09030607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3" name="Rectangle 52"/>
              <p:cNvSpPr/>
              <p:nvPr/>
            </p:nvSpPr>
            <p:spPr>
              <a:xfrm>
                <a:off x="8103858" y="1940134"/>
                <a:ext cx="2356884" cy="2904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CA" sz="1200" dirty="0" smtClean="0">
                    <a:solidFill>
                      <a:srgbClr val="0D0D0D"/>
                    </a:solidFill>
                  </a:rPr>
                  <a:t>30.0% market share Clear leader</a:t>
                </a:r>
                <a:endParaRPr lang="en-CA" sz="1200" dirty="0">
                  <a:solidFill>
                    <a:srgbClr val="0D0D0D"/>
                  </a:solidFill>
                </a:endParaRPr>
              </a:p>
            </p:txBody>
          </p:sp>
        </p:grpSp>
        <p:grpSp>
          <p:nvGrpSpPr>
            <p:cNvPr id="9" name="Group 8"/>
            <p:cNvGrpSpPr/>
            <p:nvPr/>
          </p:nvGrpSpPr>
          <p:grpSpPr>
            <a:xfrm>
              <a:off x="7405419" y="1805959"/>
              <a:ext cx="4638717" cy="1150730"/>
              <a:chOff x="7511846" y="1095459"/>
              <a:chExt cx="4218039" cy="1354178"/>
            </a:xfrm>
            <a:solidFill>
              <a:srgbClr val="0D0D0D"/>
            </a:solidFill>
          </p:grpSpPr>
          <p:sp>
            <p:nvSpPr>
              <p:cNvPr id="44" name="Rounded Rectangle 43"/>
              <p:cNvSpPr/>
              <p:nvPr/>
            </p:nvSpPr>
            <p:spPr>
              <a:xfrm>
                <a:off x="7511846" y="1095459"/>
                <a:ext cx="4218039" cy="1354178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sp>
            <p:nvSpPr>
              <p:cNvPr id="45" name="Rectangle 44"/>
              <p:cNvSpPr/>
              <p:nvPr/>
            </p:nvSpPr>
            <p:spPr>
              <a:xfrm>
                <a:off x="7711674" y="1308440"/>
                <a:ext cx="1234085" cy="419481"/>
              </a:xfrm>
              <a:prstGeom prst="rect">
                <a:avLst/>
              </a:prstGeom>
              <a:grpFill/>
            </p:spPr>
            <p:txBody>
              <a:bodyPr wrap="none">
                <a:spAutoFit/>
              </a:bodyPr>
              <a:lstStyle/>
              <a:p>
                <a:r>
                  <a:rPr lang="en-CA" sz="2000" b="1" kern="1500" spc="100" dirty="0" smtClean="0">
                    <a:latin typeface="Impact" panose="020B0806030902050204" pitchFamily="34" charset="0"/>
                    <a:cs typeface="Times New Roman" panose="02020603050405020304" pitchFamily="18" charset="0"/>
                  </a:rPr>
                  <a:t>$186.3M</a:t>
                </a:r>
                <a:endParaRPr lang="en-CA" sz="2000" kern="1500" spc="100" dirty="0">
                  <a:latin typeface="Impact" panose="020B080603090205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7" name="Rectangle 46"/>
              <p:cNvSpPr/>
              <p:nvPr/>
            </p:nvSpPr>
            <p:spPr>
              <a:xfrm>
                <a:off x="7731588" y="1752491"/>
                <a:ext cx="841607" cy="274276"/>
              </a:xfrm>
              <a:prstGeom prst="rect">
                <a:avLst/>
              </a:prstGeom>
              <a:grpFill/>
            </p:spPr>
            <p:txBody>
              <a:bodyPr wrap="none">
                <a:spAutoFit/>
              </a:bodyPr>
              <a:lstStyle/>
              <a:p>
                <a:r>
                  <a:rPr lang="en-CA" sz="1100" dirty="0" smtClean="0">
                    <a:solidFill>
                      <a:schemeClr val="tx1">
                        <a:lumMod val="65000"/>
                      </a:schemeClr>
                    </a:solidFill>
                    <a:latin typeface="Britannic Bold" panose="020B0903060703020204" pitchFamily="34" charset="0"/>
                    <a:cs typeface="Times New Roman" panose="02020603050405020304" pitchFamily="18" charset="0"/>
                  </a:rPr>
                  <a:t>Northeast</a:t>
                </a:r>
                <a:endParaRPr lang="en-CA" sz="1100" dirty="0">
                  <a:solidFill>
                    <a:schemeClr val="tx1">
                      <a:lumMod val="65000"/>
                    </a:schemeClr>
                  </a:solidFill>
                  <a:latin typeface="Britannic Bold" panose="020B09030607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8" name="Rectangle 47"/>
              <p:cNvSpPr/>
              <p:nvPr/>
            </p:nvSpPr>
            <p:spPr>
              <a:xfrm>
                <a:off x="7715697" y="2013324"/>
                <a:ext cx="2372678" cy="290410"/>
              </a:xfrm>
              <a:prstGeom prst="rect">
                <a:avLst/>
              </a:prstGeom>
              <a:grpFill/>
            </p:spPr>
            <p:txBody>
              <a:bodyPr wrap="none">
                <a:spAutoFit/>
              </a:bodyPr>
              <a:lstStyle/>
              <a:p>
                <a:r>
                  <a:rPr lang="en-CA" sz="1200" dirty="0" smtClean="0">
                    <a:solidFill>
                      <a:schemeClr val="tx1">
                        <a:lumMod val="65000"/>
                      </a:schemeClr>
                    </a:solidFill>
                  </a:rPr>
                  <a:t>20.7% share Strong Performance</a:t>
                </a:r>
                <a:endParaRPr lang="en-CA" sz="1200" dirty="0">
                  <a:solidFill>
                    <a:schemeClr val="tx1">
                      <a:lumMod val="65000"/>
                    </a:schemeClr>
                  </a:solidFill>
                </a:endParaRPr>
              </a:p>
            </p:txBody>
          </p:sp>
        </p:grpSp>
        <p:sp>
          <p:nvSpPr>
            <p:cNvPr id="38" name="Rounded Rectangle 37"/>
            <p:cNvSpPr/>
            <p:nvPr/>
          </p:nvSpPr>
          <p:spPr>
            <a:xfrm>
              <a:off x="7375017" y="3105677"/>
              <a:ext cx="4066660" cy="1181634"/>
            </a:xfrm>
            <a:prstGeom prst="roundRect">
              <a:avLst/>
            </a:prstGeom>
            <a:solidFill>
              <a:srgbClr val="5DDE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grpSp>
          <p:nvGrpSpPr>
            <p:cNvPr id="39" name="Group 38"/>
            <p:cNvGrpSpPr/>
            <p:nvPr/>
          </p:nvGrpSpPr>
          <p:grpSpPr>
            <a:xfrm>
              <a:off x="7424555" y="3050840"/>
              <a:ext cx="4619581" cy="1253665"/>
              <a:chOff x="7511843" y="1036890"/>
              <a:chExt cx="4218039" cy="1413033"/>
            </a:xfrm>
            <a:solidFill>
              <a:srgbClr val="0D0D0D"/>
            </a:solidFill>
          </p:grpSpPr>
          <p:sp>
            <p:nvSpPr>
              <p:cNvPr id="40" name="Rounded Rectangle 39"/>
              <p:cNvSpPr/>
              <p:nvPr/>
            </p:nvSpPr>
            <p:spPr>
              <a:xfrm>
                <a:off x="7511843" y="1036890"/>
                <a:ext cx="4218039" cy="1413033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sp>
            <p:nvSpPr>
              <p:cNvPr id="41" name="Rectangle 40"/>
              <p:cNvSpPr/>
              <p:nvPr/>
            </p:nvSpPr>
            <p:spPr>
              <a:xfrm>
                <a:off x="7701678" y="1293653"/>
                <a:ext cx="1226891" cy="419481"/>
              </a:xfrm>
              <a:prstGeom prst="rect">
                <a:avLst/>
              </a:prstGeom>
              <a:grpFill/>
            </p:spPr>
            <p:txBody>
              <a:bodyPr wrap="none">
                <a:spAutoFit/>
              </a:bodyPr>
              <a:lstStyle/>
              <a:p>
                <a:r>
                  <a:rPr lang="en-CA" sz="2000" b="1" kern="1500" spc="100" dirty="0" smtClean="0">
                    <a:solidFill>
                      <a:srgbClr val="5DDE16"/>
                    </a:solidFill>
                    <a:latin typeface="Impact" panose="020B0806030902050204" pitchFamily="34" charset="0"/>
                    <a:cs typeface="Times New Roman" panose="02020603050405020304" pitchFamily="18" charset="0"/>
                  </a:rPr>
                  <a:t>$163.2M</a:t>
                </a:r>
                <a:endParaRPr lang="en-CA" sz="2000" kern="1500" spc="100" dirty="0">
                  <a:solidFill>
                    <a:srgbClr val="5DDE16"/>
                  </a:solidFill>
                  <a:latin typeface="Impact" panose="020B080603090205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2" name="Rectangle 41"/>
              <p:cNvSpPr/>
              <p:nvPr/>
            </p:nvSpPr>
            <p:spPr>
              <a:xfrm>
                <a:off x="7725574" y="1740889"/>
                <a:ext cx="855677" cy="274276"/>
              </a:xfrm>
              <a:prstGeom prst="rect">
                <a:avLst/>
              </a:prstGeom>
              <a:grpFill/>
            </p:spPr>
            <p:txBody>
              <a:bodyPr wrap="none">
                <a:spAutoFit/>
              </a:bodyPr>
              <a:lstStyle/>
              <a:p>
                <a:r>
                  <a:rPr lang="en-CA" sz="1100" dirty="0" smtClean="0">
                    <a:solidFill>
                      <a:schemeClr val="tx1">
                        <a:lumMod val="65000"/>
                      </a:schemeClr>
                    </a:solidFill>
                    <a:latin typeface="Britannic Bold" panose="020B0903060703020204" pitchFamily="34" charset="0"/>
                    <a:cs typeface="Times New Roman" panose="02020603050405020304" pitchFamily="18" charset="0"/>
                  </a:rPr>
                  <a:t>Southeast</a:t>
                </a:r>
                <a:endParaRPr lang="en-CA" sz="1100" dirty="0">
                  <a:solidFill>
                    <a:schemeClr val="tx1">
                      <a:lumMod val="65000"/>
                    </a:schemeClr>
                  </a:solidFill>
                  <a:latin typeface="Britannic Bold" panose="020B09030607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3" name="Rectangle 42"/>
              <p:cNvSpPr/>
              <p:nvPr/>
            </p:nvSpPr>
            <p:spPr>
              <a:xfrm>
                <a:off x="7721641" y="2000133"/>
                <a:ext cx="2186849" cy="290410"/>
              </a:xfrm>
              <a:prstGeom prst="rect">
                <a:avLst/>
              </a:prstGeom>
              <a:grpFill/>
            </p:spPr>
            <p:txBody>
              <a:bodyPr wrap="none">
                <a:spAutoFit/>
              </a:bodyPr>
              <a:lstStyle/>
              <a:p>
                <a:r>
                  <a:rPr lang="en-CA" sz="1200" dirty="0" smtClean="0">
                    <a:solidFill>
                      <a:schemeClr val="tx1">
                        <a:lumMod val="65000"/>
                      </a:schemeClr>
                    </a:solidFill>
                  </a:rPr>
                  <a:t>18.1% share Growth Potential</a:t>
                </a:r>
                <a:endParaRPr lang="en-CA" sz="1200" dirty="0">
                  <a:solidFill>
                    <a:schemeClr val="tx1">
                      <a:lumMod val="65000"/>
                    </a:schemeClr>
                  </a:solidFill>
                </a:endParaRPr>
              </a:p>
            </p:txBody>
          </p:sp>
        </p:grpSp>
        <p:sp>
          <p:nvSpPr>
            <p:cNvPr id="11" name="Rounded Rectangle 10"/>
            <p:cNvSpPr/>
            <p:nvPr/>
          </p:nvSpPr>
          <p:spPr>
            <a:xfrm>
              <a:off x="11405818" y="896092"/>
              <a:ext cx="333490" cy="223439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1000" b="1" dirty="0" smtClean="0">
                  <a:solidFill>
                    <a:schemeClr val="bg1"/>
                  </a:solidFill>
                </a:rPr>
                <a:t>#1</a:t>
              </a:r>
              <a:endParaRPr lang="en-CA" b="1" dirty="0">
                <a:solidFill>
                  <a:schemeClr val="bg1"/>
                </a:solidFill>
              </a:endParaRP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7358052" y="4395616"/>
              <a:ext cx="2310634" cy="1222455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grpSp>
          <p:nvGrpSpPr>
            <p:cNvPr id="33" name="Group 32"/>
            <p:cNvGrpSpPr/>
            <p:nvPr/>
          </p:nvGrpSpPr>
          <p:grpSpPr>
            <a:xfrm>
              <a:off x="7407592" y="4393372"/>
              <a:ext cx="2310634" cy="1224385"/>
              <a:chOff x="7511845" y="1095459"/>
              <a:chExt cx="4218039" cy="1490426"/>
            </a:xfrm>
            <a:solidFill>
              <a:srgbClr val="0D0D0D"/>
            </a:solidFill>
          </p:grpSpPr>
          <p:sp>
            <p:nvSpPr>
              <p:cNvPr id="34" name="Rounded Rectangle 33"/>
              <p:cNvSpPr/>
              <p:nvPr/>
            </p:nvSpPr>
            <p:spPr>
              <a:xfrm>
                <a:off x="7511845" y="1095459"/>
                <a:ext cx="4218039" cy="1490426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sp>
            <p:nvSpPr>
              <p:cNvPr id="35" name="Rectangle 34"/>
              <p:cNvSpPr/>
              <p:nvPr/>
            </p:nvSpPr>
            <p:spPr>
              <a:xfrm>
                <a:off x="7949285" y="1382731"/>
                <a:ext cx="1177282" cy="418820"/>
              </a:xfrm>
              <a:prstGeom prst="rect">
                <a:avLst/>
              </a:prstGeom>
              <a:grpFill/>
            </p:spPr>
            <p:txBody>
              <a:bodyPr wrap="none">
                <a:spAutoFit/>
              </a:bodyPr>
              <a:lstStyle/>
              <a:p>
                <a:r>
                  <a:rPr lang="en-CA" sz="2000" b="1" kern="1500" spc="100" dirty="0" smtClean="0">
                    <a:latin typeface="Impact" panose="020B0806030902050204" pitchFamily="34" charset="0"/>
                    <a:cs typeface="Times New Roman" panose="02020603050405020304" pitchFamily="18" charset="0"/>
                  </a:rPr>
                  <a:t>$144.7M</a:t>
                </a:r>
                <a:endParaRPr lang="en-CA" sz="2000" kern="1500" spc="100" dirty="0">
                  <a:latin typeface="Impact" panose="020B080603090205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6" name="Rectangle 35"/>
              <p:cNvSpPr/>
              <p:nvPr/>
            </p:nvSpPr>
            <p:spPr>
              <a:xfrm>
                <a:off x="7949285" y="1875264"/>
                <a:ext cx="992590" cy="318454"/>
              </a:xfrm>
              <a:prstGeom prst="rect">
                <a:avLst/>
              </a:prstGeom>
              <a:grpFill/>
            </p:spPr>
            <p:txBody>
              <a:bodyPr wrap="none">
                <a:spAutoFit/>
              </a:bodyPr>
              <a:lstStyle/>
              <a:p>
                <a:r>
                  <a:rPr lang="en-CA" sz="1100" dirty="0" smtClean="0">
                    <a:solidFill>
                      <a:schemeClr val="tx1">
                        <a:lumMod val="65000"/>
                      </a:schemeClr>
                    </a:solidFill>
                    <a:latin typeface="Britannic Bold" panose="020B0903060703020204" pitchFamily="34" charset="0"/>
                    <a:cs typeface="Times New Roman" panose="02020603050405020304" pitchFamily="18" charset="0"/>
                  </a:rPr>
                  <a:t>South</a:t>
                </a:r>
                <a:endParaRPr lang="en-CA" sz="1100" dirty="0">
                  <a:solidFill>
                    <a:schemeClr val="tx1">
                      <a:lumMod val="65000"/>
                    </a:schemeClr>
                  </a:solidFill>
                  <a:latin typeface="Britannic Bold" panose="020B09030607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7" name="Rectangle 36"/>
              <p:cNvSpPr/>
              <p:nvPr/>
            </p:nvSpPr>
            <p:spPr>
              <a:xfrm>
                <a:off x="7949285" y="2152866"/>
                <a:ext cx="1039410" cy="337187"/>
              </a:xfrm>
              <a:prstGeom prst="rect">
                <a:avLst/>
              </a:prstGeom>
              <a:grpFill/>
            </p:spPr>
            <p:txBody>
              <a:bodyPr wrap="none">
                <a:spAutoFit/>
              </a:bodyPr>
              <a:lstStyle/>
              <a:p>
                <a:r>
                  <a:rPr lang="en-CA" sz="1200" dirty="0" smtClean="0">
                    <a:solidFill>
                      <a:schemeClr val="tx1">
                        <a:lumMod val="65000"/>
                      </a:schemeClr>
                    </a:solidFill>
                  </a:rPr>
                  <a:t>16.1%</a:t>
                </a:r>
                <a:endParaRPr lang="en-CA" sz="1200" dirty="0">
                  <a:solidFill>
                    <a:schemeClr val="tx1">
                      <a:lumMod val="65000"/>
                    </a:schemeClr>
                  </a:solidFill>
                </a:endParaRPr>
              </a:p>
            </p:txBody>
          </p:sp>
        </p:grpSp>
        <p:sp>
          <p:nvSpPr>
            <p:cNvPr id="26" name="Rounded Rectangle 25"/>
            <p:cNvSpPr/>
            <p:nvPr/>
          </p:nvSpPr>
          <p:spPr>
            <a:xfrm>
              <a:off x="373627" y="5733924"/>
              <a:ext cx="11163556" cy="945095"/>
            </a:xfrm>
            <a:prstGeom prst="roundRect">
              <a:avLst/>
            </a:prstGeom>
            <a:solidFill>
              <a:srgbClr val="5DDE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522255" y="5732140"/>
              <a:ext cx="11571422" cy="946879"/>
            </a:xfrm>
            <a:prstGeom prst="roundRect">
              <a:avLst/>
            </a:prstGeom>
            <a:solidFill>
              <a:srgbClr val="0D0D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11403199" y="1952388"/>
              <a:ext cx="333775" cy="212783"/>
            </a:xfrm>
            <a:prstGeom prst="roundRect">
              <a:avLst/>
            </a:prstGeom>
            <a:solidFill>
              <a:srgbClr val="5DDE1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1000" b="1" dirty="0" smtClean="0">
                  <a:solidFill>
                    <a:schemeClr val="bg1"/>
                  </a:solidFill>
                </a:rPr>
                <a:t>#2</a:t>
              </a:r>
              <a:endParaRPr lang="en-CA" b="1" dirty="0">
                <a:solidFill>
                  <a:schemeClr val="bg1"/>
                </a:solidFill>
              </a:endParaRP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8974537" y="4699819"/>
              <a:ext cx="336618" cy="204267"/>
            </a:xfrm>
            <a:prstGeom prst="roundRect">
              <a:avLst/>
            </a:prstGeom>
            <a:solidFill>
              <a:srgbClr val="5DDE1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1000" b="1" dirty="0" smtClean="0">
                  <a:solidFill>
                    <a:schemeClr val="bg1"/>
                  </a:solidFill>
                </a:rPr>
                <a:t>#4</a:t>
              </a:r>
              <a:endParaRPr lang="en-CA" b="1" dirty="0">
                <a:solidFill>
                  <a:schemeClr val="bg1"/>
                </a:solidFill>
              </a:endParaRP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11391380" y="3250987"/>
              <a:ext cx="347883" cy="235414"/>
            </a:xfrm>
            <a:prstGeom prst="roundRect">
              <a:avLst/>
            </a:prstGeom>
            <a:solidFill>
              <a:srgbClr val="5DDE1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1000" b="1" dirty="0" smtClean="0">
                  <a:solidFill>
                    <a:schemeClr val="bg1"/>
                  </a:solidFill>
                </a:rPr>
                <a:t>#3</a:t>
              </a:r>
              <a:endParaRPr lang="en-CA" b="1" dirty="0">
                <a:solidFill>
                  <a:schemeClr val="bg1"/>
                </a:solidFill>
              </a:endParaRPr>
            </a:p>
          </p:txBody>
        </p:sp>
        <p:graphicFrame>
          <p:nvGraphicFramePr>
            <p:cNvPr id="59" name="Chart 58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630508866"/>
                </p:ext>
              </p:extLst>
            </p:nvPr>
          </p:nvGraphicFramePr>
          <p:xfrm>
            <a:off x="820923" y="2217800"/>
            <a:ext cx="5992832" cy="3057715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63" name="Up Arrow 62"/>
            <p:cNvSpPr/>
            <p:nvPr/>
          </p:nvSpPr>
          <p:spPr>
            <a:xfrm flipH="1">
              <a:off x="7877595" y="1365715"/>
              <a:ext cx="45719" cy="198132"/>
            </a:xfrm>
            <a:prstGeom prst="upArrow">
              <a:avLst/>
            </a:prstGeom>
            <a:solidFill>
              <a:schemeClr val="bg1">
                <a:lumMod val="75000"/>
                <a:lumOff val="25000"/>
              </a:schemeClr>
            </a:solidFill>
            <a:ln>
              <a:solidFill>
                <a:srgbClr val="1C1C1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5" name="Rounded Rectangle 64"/>
            <p:cNvSpPr/>
            <p:nvPr/>
          </p:nvSpPr>
          <p:spPr>
            <a:xfrm>
              <a:off x="9759837" y="4393059"/>
              <a:ext cx="2284300" cy="1197202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grpSp>
          <p:nvGrpSpPr>
            <p:cNvPr id="66" name="Group 65"/>
            <p:cNvGrpSpPr/>
            <p:nvPr/>
          </p:nvGrpSpPr>
          <p:grpSpPr>
            <a:xfrm>
              <a:off x="9809377" y="4390814"/>
              <a:ext cx="2284300" cy="1226943"/>
              <a:chOff x="7511845" y="1095459"/>
              <a:chExt cx="4218039" cy="1490426"/>
            </a:xfrm>
            <a:solidFill>
              <a:srgbClr val="0D0D0D"/>
            </a:solidFill>
          </p:grpSpPr>
          <p:sp>
            <p:nvSpPr>
              <p:cNvPr id="67" name="Rounded Rectangle 66"/>
              <p:cNvSpPr/>
              <p:nvPr/>
            </p:nvSpPr>
            <p:spPr>
              <a:xfrm>
                <a:off x="7511845" y="1095459"/>
                <a:ext cx="4218039" cy="1490426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sp>
            <p:nvSpPr>
              <p:cNvPr id="68" name="Rectangle 67"/>
              <p:cNvSpPr/>
              <p:nvPr/>
            </p:nvSpPr>
            <p:spPr>
              <a:xfrm>
                <a:off x="7897041" y="1360612"/>
                <a:ext cx="2137713" cy="470434"/>
              </a:xfrm>
              <a:prstGeom prst="rect">
                <a:avLst/>
              </a:prstGeom>
              <a:grpFill/>
            </p:spPr>
            <p:txBody>
              <a:bodyPr wrap="none">
                <a:spAutoFit/>
              </a:bodyPr>
              <a:lstStyle/>
              <a:p>
                <a:r>
                  <a:rPr lang="en-CA" sz="2000" b="1" kern="1500" spc="100" dirty="0" smtClean="0">
                    <a:latin typeface="Impact" panose="020B0806030902050204" pitchFamily="34" charset="0"/>
                    <a:cs typeface="Times New Roman" panose="02020603050405020304" pitchFamily="18" charset="0"/>
                  </a:rPr>
                  <a:t>$135.8M</a:t>
                </a:r>
                <a:endParaRPr lang="en-CA" sz="2000" kern="1500" spc="100" dirty="0">
                  <a:latin typeface="Impact" panose="020B080603090205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9" name="Rectangle 68"/>
              <p:cNvSpPr/>
              <p:nvPr/>
            </p:nvSpPr>
            <p:spPr>
              <a:xfrm>
                <a:off x="7949285" y="1875264"/>
                <a:ext cx="1255632" cy="307591"/>
              </a:xfrm>
              <a:prstGeom prst="rect">
                <a:avLst/>
              </a:prstGeom>
              <a:grpFill/>
            </p:spPr>
            <p:txBody>
              <a:bodyPr wrap="none">
                <a:spAutoFit/>
              </a:bodyPr>
              <a:lstStyle/>
              <a:p>
                <a:r>
                  <a:rPr lang="en-CA" sz="1100" dirty="0" smtClean="0">
                    <a:solidFill>
                      <a:schemeClr val="tx1">
                        <a:lumMod val="65000"/>
                      </a:schemeClr>
                    </a:solidFill>
                    <a:latin typeface="Britannic Bold" panose="020B0903060703020204" pitchFamily="34" charset="0"/>
                    <a:cs typeface="Times New Roman" panose="02020603050405020304" pitchFamily="18" charset="0"/>
                  </a:rPr>
                  <a:t>Midwest</a:t>
                </a:r>
                <a:endParaRPr lang="en-CA" sz="1100" dirty="0">
                  <a:solidFill>
                    <a:schemeClr val="tx1">
                      <a:lumMod val="65000"/>
                    </a:schemeClr>
                  </a:solidFill>
                  <a:latin typeface="Britannic Bold" panose="020B09030607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0" name="Rectangle 69"/>
              <p:cNvSpPr/>
              <p:nvPr/>
            </p:nvSpPr>
            <p:spPr>
              <a:xfrm>
                <a:off x="7949285" y="2152866"/>
                <a:ext cx="1051393" cy="325685"/>
              </a:xfrm>
              <a:prstGeom prst="rect">
                <a:avLst/>
              </a:prstGeom>
              <a:grpFill/>
            </p:spPr>
            <p:txBody>
              <a:bodyPr wrap="none">
                <a:spAutoFit/>
              </a:bodyPr>
              <a:lstStyle/>
              <a:p>
                <a:r>
                  <a:rPr lang="en-CA" sz="1200" dirty="0" smtClean="0">
                    <a:solidFill>
                      <a:schemeClr val="tx1">
                        <a:lumMod val="65000"/>
                      </a:schemeClr>
                    </a:solidFill>
                  </a:rPr>
                  <a:t>15.1%</a:t>
                </a:r>
                <a:endParaRPr lang="en-CA" sz="1200" dirty="0">
                  <a:solidFill>
                    <a:schemeClr val="tx1">
                      <a:lumMod val="65000"/>
                    </a:schemeClr>
                  </a:solidFill>
                </a:endParaRPr>
              </a:p>
            </p:txBody>
          </p:sp>
        </p:grpSp>
        <p:sp>
          <p:nvSpPr>
            <p:cNvPr id="71" name="Rounded Rectangle 70"/>
            <p:cNvSpPr/>
            <p:nvPr/>
          </p:nvSpPr>
          <p:spPr>
            <a:xfrm>
              <a:off x="11405818" y="4697261"/>
              <a:ext cx="332782" cy="211481"/>
            </a:xfrm>
            <a:prstGeom prst="roundRect">
              <a:avLst/>
            </a:prstGeom>
            <a:solidFill>
              <a:srgbClr val="5DDE1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1000" b="1" dirty="0" smtClean="0">
                  <a:solidFill>
                    <a:schemeClr val="bg1"/>
                  </a:solidFill>
                </a:rPr>
                <a:t>#5</a:t>
              </a:r>
              <a:endParaRPr lang="en-CA" b="1" dirty="0">
                <a:solidFill>
                  <a:schemeClr val="bg1"/>
                </a:solidFill>
              </a:endParaRPr>
            </a:p>
          </p:txBody>
        </p:sp>
        <p:sp>
          <p:nvSpPr>
            <p:cNvPr id="72" name="4-Point Star 71"/>
            <p:cNvSpPr/>
            <p:nvPr/>
          </p:nvSpPr>
          <p:spPr>
            <a:xfrm>
              <a:off x="820923" y="5980615"/>
              <a:ext cx="348124" cy="428468"/>
            </a:xfrm>
            <a:prstGeom prst="star4">
              <a:avLst/>
            </a:prstGeom>
            <a:solidFill>
              <a:srgbClr val="5DDE16"/>
            </a:solidFill>
            <a:ln>
              <a:solidFill>
                <a:srgbClr val="5DDE1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1296398" y="5886191"/>
              <a:ext cx="45130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dirty="0">
                  <a:solidFill>
                    <a:schemeClr val="tx2">
                      <a:lumMod val="90000"/>
                    </a:schemeClr>
                  </a:solidFill>
                  <a:latin typeface="Cooper Black" panose="0208090404030B020404" pitchFamily="18" charset="0"/>
                </a:rPr>
                <a:t>Strategic Insight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 flipH="1">
              <a:off x="1296398" y="6181647"/>
              <a:ext cx="837228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100" dirty="0">
                  <a:solidFill>
                    <a:schemeClr val="tx2">
                      <a:lumMod val="90000"/>
                    </a:schemeClr>
                  </a:solidFill>
                  <a:latin typeface="Britannic Bold" panose="020B0903060703020204" pitchFamily="34" charset="0"/>
                  <a:cs typeface="Times New Roman" panose="02020603050405020304" pitchFamily="18" charset="0"/>
                </a:rPr>
                <a:t>West region generates nearly 2x the revenue of Midwest indicating significant expansion opportunities in underperforming  regions </a:t>
              </a:r>
            </a:p>
          </p:txBody>
        </p:sp>
        <p:sp>
          <p:nvSpPr>
            <p:cNvPr id="75" name="Rectangle 74"/>
            <p:cNvSpPr/>
            <p:nvPr/>
          </p:nvSpPr>
          <p:spPr>
            <a:xfrm>
              <a:off x="10726269" y="5903439"/>
              <a:ext cx="110799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CA" sz="2000" b="1" kern="1500" spc="100" dirty="0" smtClean="0">
                  <a:solidFill>
                    <a:srgbClr val="5DDE16"/>
                  </a:solidFill>
                  <a:latin typeface="Impact" panose="020B0806030902050204" pitchFamily="34" charset="0"/>
                  <a:cs typeface="Times New Roman" panose="02020603050405020304" pitchFamily="18" charset="0"/>
                </a:rPr>
                <a:t>$134.1M</a:t>
              </a:r>
              <a:endParaRPr lang="en-CA" sz="2000" kern="1500" spc="100" dirty="0">
                <a:solidFill>
                  <a:srgbClr val="5DDE16"/>
                </a:solidFill>
                <a:latin typeface="Impact" panose="020B080603090205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76" name="Rectangle 75"/>
            <p:cNvSpPr/>
            <p:nvPr/>
          </p:nvSpPr>
          <p:spPr>
            <a:xfrm>
              <a:off x="10243017" y="6303549"/>
              <a:ext cx="1673279" cy="276999"/>
            </a:xfrm>
            <a:prstGeom prst="rect">
              <a:avLst/>
            </a:prstGeom>
            <a:solidFill>
              <a:srgbClr val="0D0D0D"/>
            </a:solidFill>
          </p:spPr>
          <p:txBody>
            <a:bodyPr wrap="none">
              <a:spAutoFit/>
            </a:bodyPr>
            <a:lstStyle/>
            <a:p>
              <a:r>
                <a:rPr lang="en-CA" sz="1200" dirty="0" smtClean="0">
                  <a:solidFill>
                    <a:schemeClr val="tx1">
                      <a:lumMod val="65000"/>
                    </a:schemeClr>
                  </a:solidFill>
                </a:rPr>
                <a:t>Gap between #1 and #5</a:t>
              </a:r>
              <a:endParaRPr lang="en-CA" sz="1200" dirty="0">
                <a:solidFill>
                  <a:schemeClr val="tx1">
                    <a:lumMod val="6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11471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roup 130"/>
          <p:cNvGrpSpPr/>
          <p:nvPr/>
        </p:nvGrpSpPr>
        <p:grpSpPr>
          <a:xfrm>
            <a:off x="266240" y="183474"/>
            <a:ext cx="11623111" cy="6527046"/>
            <a:chOff x="332915" y="183474"/>
            <a:chExt cx="11623111" cy="6527046"/>
          </a:xfrm>
        </p:grpSpPr>
        <p:sp>
          <p:nvSpPr>
            <p:cNvPr id="3" name="Rounded Rectangle 2"/>
            <p:cNvSpPr/>
            <p:nvPr/>
          </p:nvSpPr>
          <p:spPr>
            <a:xfrm>
              <a:off x="522255" y="183474"/>
              <a:ext cx="2052413" cy="283443"/>
            </a:xfrm>
            <a:prstGeom prst="roundRect">
              <a:avLst/>
            </a:prstGeom>
            <a:solidFill>
              <a:srgbClr val="5DDE16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CA" sz="1050" dirty="0" smtClean="0">
                  <a:solidFill>
                    <a:schemeClr val="bg1"/>
                  </a:solidFill>
                  <a:latin typeface="Cooper Black" panose="0208090404030B020404" pitchFamily="18" charset="0"/>
                </a:rPr>
                <a:t>04/TREND ANALYSIS</a:t>
              </a:r>
              <a:endParaRPr lang="en-CA" sz="1200" dirty="0">
                <a:solidFill>
                  <a:schemeClr val="bg1"/>
                </a:solidFill>
                <a:latin typeface="Cooper Black" panose="0208090404030B020404" pitchFamily="18" charset="0"/>
              </a:endParaRP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22255" y="520175"/>
              <a:ext cx="49290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dirty="0" smtClean="0">
                  <a:solidFill>
                    <a:schemeClr val="tx2">
                      <a:lumMod val="90000"/>
                    </a:schemeClr>
                  </a:solidFill>
                  <a:latin typeface="Cooper Black" panose="0208090404030B020404" pitchFamily="18" charset="0"/>
                </a:rPr>
                <a:t>Sales Trends &amp; Seasonal Patterns</a:t>
              </a:r>
              <a:endParaRPr lang="en-CA" sz="2800" dirty="0" smtClean="0">
                <a:solidFill>
                  <a:schemeClr val="tx2">
                    <a:lumMod val="90000"/>
                  </a:schemeClr>
                </a:solidFill>
                <a:latin typeface="Cooper Black" panose="0208090404030B020404" pitchFamily="18" charset="0"/>
              </a:endParaRPr>
            </a:p>
          </p:txBody>
        </p:sp>
        <p:sp>
          <p:nvSpPr>
            <p:cNvPr id="5" name="Rectangle 4"/>
            <p:cNvSpPr/>
            <p:nvPr/>
          </p:nvSpPr>
          <p:spPr>
            <a:xfrm>
              <a:off x="522255" y="890399"/>
              <a:ext cx="7558479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CA" sz="1100" dirty="0" smtClean="0">
                  <a:solidFill>
                    <a:schemeClr val="tx2">
                      <a:lumMod val="90000"/>
                    </a:schemeClr>
                  </a:solidFill>
                  <a:latin typeface="Britannic Bold" panose="020B0903060703020204" pitchFamily="34" charset="0"/>
                  <a:cs typeface="Times New Roman" panose="02020603050405020304" pitchFamily="18" charset="0"/>
                </a:rPr>
                <a:t>Sales distribution and growth potential across five us regions</a:t>
              </a:r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332915" y="1278702"/>
              <a:ext cx="6872748" cy="4145372"/>
              <a:chOff x="324465" y="1557338"/>
              <a:chExt cx="6872748" cy="4145372"/>
            </a:xfrm>
          </p:grpSpPr>
          <p:sp>
            <p:nvSpPr>
              <p:cNvPr id="51" name="Rectangle 50"/>
              <p:cNvSpPr/>
              <p:nvPr/>
            </p:nvSpPr>
            <p:spPr>
              <a:xfrm>
                <a:off x="324465" y="1557338"/>
                <a:ext cx="6872748" cy="4145372"/>
              </a:xfrm>
              <a:prstGeom prst="rect">
                <a:avLst/>
              </a:prstGeom>
              <a:solidFill>
                <a:srgbClr val="1C1C1C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52" name="TextBox 51"/>
              <p:cNvSpPr txBox="1"/>
              <p:nvPr/>
            </p:nvSpPr>
            <p:spPr>
              <a:xfrm>
                <a:off x="513805" y="1653306"/>
                <a:ext cx="36918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dirty="0" smtClean="0">
                    <a:solidFill>
                      <a:schemeClr val="tx1">
                        <a:lumMod val="95000"/>
                      </a:schemeClr>
                    </a:solidFill>
                    <a:latin typeface="Cooper Black" panose="0208090404030B020404" pitchFamily="18" charset="0"/>
                  </a:rPr>
                  <a:t>Regional Sales by Comparison</a:t>
                </a:r>
                <a:endParaRPr lang="en-CA" dirty="0">
                  <a:solidFill>
                    <a:schemeClr val="tx1">
                      <a:lumMod val="95000"/>
                    </a:schemeClr>
                  </a:solidFill>
                  <a:latin typeface="Cooper Black" panose="0208090404030B020404" pitchFamily="18" charset="0"/>
                </a:endParaRPr>
              </a:p>
            </p:txBody>
          </p:sp>
        </p:grpSp>
        <p:grpSp>
          <p:nvGrpSpPr>
            <p:cNvPr id="8" name="Group 7"/>
            <p:cNvGrpSpPr/>
            <p:nvPr/>
          </p:nvGrpSpPr>
          <p:grpSpPr>
            <a:xfrm>
              <a:off x="7360282" y="386108"/>
              <a:ext cx="4473983" cy="1776993"/>
              <a:chOff x="7511845" y="1095459"/>
              <a:chExt cx="4218039" cy="1281661"/>
            </a:xfrm>
          </p:grpSpPr>
          <p:sp>
            <p:nvSpPr>
              <p:cNvPr id="46" name="Rounded Rectangle 45"/>
              <p:cNvSpPr/>
              <p:nvPr/>
            </p:nvSpPr>
            <p:spPr>
              <a:xfrm>
                <a:off x="7511845" y="1095459"/>
                <a:ext cx="4218039" cy="1281661"/>
              </a:xfrm>
              <a:prstGeom prst="roundRect">
                <a:avLst/>
              </a:prstGeom>
              <a:solidFill>
                <a:srgbClr val="5DDE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sp>
            <p:nvSpPr>
              <p:cNvPr id="47" name="Rectangle 46"/>
              <p:cNvSpPr/>
              <p:nvPr/>
            </p:nvSpPr>
            <p:spPr>
              <a:xfrm>
                <a:off x="7834542" y="1475409"/>
                <a:ext cx="1206197" cy="2885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CA" sz="2000" b="1" kern="1500" spc="100" dirty="0" smtClean="0">
                    <a:solidFill>
                      <a:srgbClr val="0D0D0D"/>
                    </a:solidFill>
                    <a:latin typeface="Impact" panose="020B0806030902050204" pitchFamily="34" charset="0"/>
                    <a:cs typeface="Times New Roman" panose="02020603050405020304" pitchFamily="18" charset="0"/>
                  </a:rPr>
                  <a:t>$95.5M</a:t>
                </a:r>
                <a:endParaRPr lang="en-CA" sz="2000" kern="1500" spc="100" dirty="0">
                  <a:solidFill>
                    <a:srgbClr val="0D0D0D"/>
                  </a:solidFill>
                  <a:latin typeface="Impact" panose="020B080603090205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9" name="Rectangle 48"/>
              <p:cNvSpPr/>
              <p:nvPr/>
            </p:nvSpPr>
            <p:spPr>
              <a:xfrm>
                <a:off x="7869130" y="1770090"/>
                <a:ext cx="814241" cy="1886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CA" sz="1100" dirty="0" smtClean="0">
                    <a:solidFill>
                      <a:srgbClr val="0D0D0D"/>
                    </a:solidFill>
                    <a:latin typeface="Britannic Bold" panose="020B0903060703020204" pitchFamily="34" charset="0"/>
                    <a:cs typeface="Times New Roman" panose="02020603050405020304" pitchFamily="18" charset="0"/>
                  </a:rPr>
                  <a:t>July 2020</a:t>
                </a:r>
                <a:endParaRPr lang="en-CA" sz="1100" dirty="0">
                  <a:solidFill>
                    <a:srgbClr val="0D0D0D"/>
                  </a:solidFill>
                  <a:latin typeface="Britannic Bold" panose="020B09030607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0" name="Rectangle 49"/>
              <p:cNvSpPr/>
              <p:nvPr/>
            </p:nvSpPr>
            <p:spPr>
              <a:xfrm>
                <a:off x="7872583" y="1944153"/>
                <a:ext cx="1490434" cy="1997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CA" sz="1200" dirty="0" smtClean="0">
                    <a:solidFill>
                      <a:srgbClr val="0D0D0D"/>
                    </a:solidFill>
                  </a:rPr>
                  <a:t>Highest </a:t>
                </a:r>
                <a:r>
                  <a:rPr lang="en-CA" sz="1200" dirty="0" err="1">
                    <a:solidFill>
                      <a:srgbClr val="0D0D0D"/>
                    </a:solidFill>
                  </a:rPr>
                  <a:t>M</a:t>
                </a:r>
                <a:r>
                  <a:rPr lang="en-CA" sz="1200" dirty="0" err="1" smtClean="0">
                    <a:solidFill>
                      <a:srgbClr val="0D0D0D"/>
                    </a:solidFill>
                  </a:rPr>
                  <a:t>ontly</a:t>
                </a:r>
                <a:r>
                  <a:rPr lang="en-CA" sz="1200" dirty="0" smtClean="0">
                    <a:solidFill>
                      <a:srgbClr val="0D0D0D"/>
                    </a:solidFill>
                  </a:rPr>
                  <a:t> Sales</a:t>
                </a:r>
                <a:endParaRPr lang="en-CA" sz="1200" dirty="0">
                  <a:solidFill>
                    <a:srgbClr val="0D0D0D"/>
                  </a:solidFill>
                </a:endParaRPr>
              </a:p>
            </p:txBody>
          </p:sp>
        </p:grpSp>
        <p:sp>
          <p:nvSpPr>
            <p:cNvPr id="12" name="Rounded Rectangle 11"/>
            <p:cNvSpPr/>
            <p:nvPr/>
          </p:nvSpPr>
          <p:spPr>
            <a:xfrm>
              <a:off x="8032212" y="622183"/>
              <a:ext cx="500180" cy="226449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1000" b="1" dirty="0" smtClean="0">
                  <a:solidFill>
                    <a:schemeClr val="bg1"/>
                  </a:solidFill>
                </a:rPr>
                <a:t>Peak</a:t>
              </a:r>
              <a:endParaRPr lang="en-CA" b="1" dirty="0">
                <a:solidFill>
                  <a:schemeClr val="bg1"/>
                </a:solidFill>
              </a:endParaRP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7364352" y="2222402"/>
              <a:ext cx="4172831" cy="1660965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grpSp>
          <p:nvGrpSpPr>
            <p:cNvPr id="14" name="Group 13"/>
            <p:cNvGrpSpPr/>
            <p:nvPr/>
          </p:nvGrpSpPr>
          <p:grpSpPr>
            <a:xfrm>
              <a:off x="7413892" y="2220158"/>
              <a:ext cx="4420373" cy="1663587"/>
              <a:chOff x="7511845" y="1095459"/>
              <a:chExt cx="4218039" cy="1490426"/>
            </a:xfrm>
            <a:solidFill>
              <a:srgbClr val="0D0D0D"/>
            </a:solidFill>
          </p:grpSpPr>
          <p:sp>
            <p:nvSpPr>
              <p:cNvPr id="34" name="Rounded Rectangle 33"/>
              <p:cNvSpPr/>
              <p:nvPr/>
            </p:nvSpPr>
            <p:spPr>
              <a:xfrm>
                <a:off x="7511845" y="1095459"/>
                <a:ext cx="4218039" cy="1490426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sp>
            <p:nvSpPr>
              <p:cNvPr id="35" name="Rectangle 34"/>
              <p:cNvSpPr/>
              <p:nvPr/>
            </p:nvSpPr>
            <p:spPr>
              <a:xfrm>
                <a:off x="7822137" y="1706949"/>
                <a:ext cx="1061667" cy="387462"/>
              </a:xfrm>
              <a:prstGeom prst="rect">
                <a:avLst/>
              </a:prstGeom>
              <a:grpFill/>
            </p:spPr>
            <p:txBody>
              <a:bodyPr wrap="none">
                <a:spAutoFit/>
              </a:bodyPr>
              <a:lstStyle/>
              <a:p>
                <a:r>
                  <a:rPr lang="en-CA" sz="2000" b="1" kern="1500" spc="100" dirty="0" smtClean="0">
                    <a:latin typeface="Impact" panose="020B0806030902050204" pitchFamily="34" charset="0"/>
                    <a:cs typeface="Times New Roman" panose="02020603050405020304" pitchFamily="18" charset="0"/>
                  </a:rPr>
                  <a:t>$56.8M</a:t>
                </a:r>
                <a:endParaRPr lang="en-CA" sz="2000" kern="1500" spc="100" dirty="0">
                  <a:latin typeface="Impact" panose="020B080603090205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6" name="Rectangle 35"/>
              <p:cNvSpPr/>
              <p:nvPr/>
            </p:nvSpPr>
            <p:spPr>
              <a:xfrm>
                <a:off x="7863828" y="2053505"/>
                <a:ext cx="972547" cy="253340"/>
              </a:xfrm>
              <a:prstGeom prst="rect">
                <a:avLst/>
              </a:prstGeom>
              <a:grpFill/>
            </p:spPr>
            <p:txBody>
              <a:bodyPr wrap="none">
                <a:spAutoFit/>
              </a:bodyPr>
              <a:lstStyle/>
              <a:p>
                <a:r>
                  <a:rPr lang="en-CA" sz="1100" dirty="0" smtClean="0">
                    <a:solidFill>
                      <a:schemeClr val="tx1">
                        <a:lumMod val="65000"/>
                      </a:schemeClr>
                    </a:solidFill>
                    <a:latin typeface="Britannic Bold" panose="020B0903060703020204" pitchFamily="34" charset="0"/>
                    <a:cs typeface="Times New Roman" panose="02020603050405020304" pitchFamily="18" charset="0"/>
                  </a:rPr>
                  <a:t>March 2020</a:t>
                </a:r>
                <a:endParaRPr lang="en-CA" sz="1100" dirty="0">
                  <a:solidFill>
                    <a:schemeClr val="tx1">
                      <a:lumMod val="65000"/>
                    </a:schemeClr>
                  </a:solidFill>
                  <a:latin typeface="Britannic Bold" panose="020B09030607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7" name="Rectangle 36"/>
              <p:cNvSpPr/>
              <p:nvPr/>
            </p:nvSpPr>
            <p:spPr>
              <a:xfrm>
                <a:off x="7865225" y="2260944"/>
                <a:ext cx="1541036" cy="248166"/>
              </a:xfrm>
              <a:prstGeom prst="rect">
                <a:avLst/>
              </a:prstGeom>
              <a:grpFill/>
            </p:spPr>
            <p:txBody>
              <a:bodyPr wrap="none">
                <a:spAutoFit/>
              </a:bodyPr>
              <a:lstStyle/>
              <a:p>
                <a:r>
                  <a:rPr lang="en-CA" sz="1200" dirty="0" smtClean="0">
                    <a:solidFill>
                      <a:schemeClr val="tx1">
                        <a:lumMod val="65000"/>
                      </a:schemeClr>
                    </a:solidFill>
                  </a:rPr>
                  <a:t>Lowest </a:t>
                </a:r>
                <a:r>
                  <a:rPr lang="en-CA" sz="1200" dirty="0">
                    <a:solidFill>
                      <a:schemeClr val="tx1">
                        <a:lumMod val="65000"/>
                      </a:schemeClr>
                    </a:solidFill>
                  </a:rPr>
                  <a:t>m</a:t>
                </a:r>
                <a:r>
                  <a:rPr lang="en-CA" sz="1200" dirty="0" smtClean="0">
                    <a:solidFill>
                      <a:schemeClr val="tx1">
                        <a:lumMod val="65000"/>
                      </a:schemeClr>
                    </a:solidFill>
                  </a:rPr>
                  <a:t>onthly sales</a:t>
                </a:r>
                <a:endParaRPr lang="en-CA" sz="1200" dirty="0">
                  <a:solidFill>
                    <a:schemeClr val="tx1">
                      <a:lumMod val="65000"/>
                    </a:schemeClr>
                  </a:solidFill>
                </a:endParaRPr>
              </a:p>
            </p:txBody>
          </p:sp>
        </p:grpSp>
        <p:sp>
          <p:nvSpPr>
            <p:cNvPr id="18" name="Rounded Rectangle 17"/>
            <p:cNvSpPr/>
            <p:nvPr/>
          </p:nvSpPr>
          <p:spPr>
            <a:xfrm>
              <a:off x="8032212" y="2454121"/>
              <a:ext cx="607907" cy="277540"/>
            </a:xfrm>
            <a:prstGeom prst="roundRect">
              <a:avLst/>
            </a:prstGeom>
            <a:solidFill>
              <a:srgbClr val="5DDE1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1000" b="1" dirty="0" smtClean="0">
                  <a:solidFill>
                    <a:schemeClr val="bg1"/>
                  </a:solidFill>
                </a:rPr>
                <a:t>Low</a:t>
              </a:r>
              <a:endParaRPr lang="en-CA" b="1" dirty="0">
                <a:solidFill>
                  <a:schemeClr val="bg1"/>
                </a:solidFill>
              </a:endParaRPr>
            </a:p>
          </p:txBody>
        </p:sp>
        <p:graphicFrame>
          <p:nvGraphicFramePr>
            <p:cNvPr id="54" name="Chart 53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561083835"/>
                </p:ext>
              </p:extLst>
            </p:nvPr>
          </p:nvGraphicFramePr>
          <p:xfrm>
            <a:off x="745223" y="1970604"/>
            <a:ext cx="6197550" cy="321664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grpSp>
          <p:nvGrpSpPr>
            <p:cNvPr id="57" name="Group 56"/>
            <p:cNvGrpSpPr/>
            <p:nvPr/>
          </p:nvGrpSpPr>
          <p:grpSpPr>
            <a:xfrm>
              <a:off x="2675607" y="2885276"/>
              <a:ext cx="664253" cy="502925"/>
              <a:chOff x="2675607" y="2885276"/>
              <a:chExt cx="664253" cy="502925"/>
            </a:xfrm>
          </p:grpSpPr>
          <p:sp>
            <p:nvSpPr>
              <p:cNvPr id="55" name="Teardrop 54"/>
              <p:cNvSpPr/>
              <p:nvPr/>
            </p:nvSpPr>
            <p:spPr>
              <a:xfrm rot="8002463">
                <a:off x="2730688" y="2885870"/>
                <a:ext cx="502925" cy="501738"/>
              </a:xfrm>
              <a:prstGeom prst="teardrop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56" name="TextBox 55"/>
              <p:cNvSpPr txBox="1"/>
              <p:nvPr/>
            </p:nvSpPr>
            <p:spPr>
              <a:xfrm>
                <a:off x="2675607" y="2956689"/>
                <a:ext cx="66425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dirty="0" smtClean="0">
                    <a:solidFill>
                      <a:schemeClr val="bg1"/>
                    </a:solidFill>
                  </a:rPr>
                  <a:t>8091</a:t>
                </a:r>
                <a:endParaRPr lang="en-CA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59" name="Teardrop 58"/>
            <p:cNvSpPr/>
            <p:nvPr/>
          </p:nvSpPr>
          <p:spPr>
            <a:xfrm rot="8002463">
              <a:off x="4348497" y="1996052"/>
              <a:ext cx="502925" cy="501738"/>
            </a:xfrm>
            <a:prstGeom prst="teardrop">
              <a:avLst/>
            </a:prstGeom>
            <a:solidFill>
              <a:srgbClr val="5DDE16"/>
            </a:solidFill>
            <a:ln>
              <a:solidFill>
                <a:srgbClr val="5DDE1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4293416" y="2066871"/>
              <a:ext cx="6642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dirty="0" smtClean="0">
                  <a:solidFill>
                    <a:schemeClr val="bg1"/>
                  </a:solidFill>
                </a:rPr>
                <a:t>4806</a:t>
              </a:r>
              <a:endParaRPr lang="en-CA" dirty="0">
                <a:solidFill>
                  <a:schemeClr val="bg1"/>
                </a:solidFill>
              </a:endParaRPr>
            </a:p>
          </p:txBody>
        </p:sp>
        <p:cxnSp>
          <p:nvCxnSpPr>
            <p:cNvPr id="62" name="Straight Arrow Connector 61"/>
            <p:cNvCxnSpPr/>
            <p:nvPr/>
          </p:nvCxnSpPr>
          <p:spPr>
            <a:xfrm flipV="1">
              <a:off x="7856097" y="571285"/>
              <a:ext cx="0" cy="282313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/>
            <p:cNvCxnSpPr/>
            <p:nvPr/>
          </p:nvCxnSpPr>
          <p:spPr>
            <a:xfrm flipH="1">
              <a:off x="7846849" y="2437260"/>
              <a:ext cx="27744" cy="319545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Rounded Rectangle 79"/>
            <p:cNvSpPr/>
            <p:nvPr/>
          </p:nvSpPr>
          <p:spPr>
            <a:xfrm>
              <a:off x="7413892" y="4077885"/>
              <a:ext cx="4420373" cy="1443345"/>
            </a:xfrm>
            <a:prstGeom prst="roundRect">
              <a:avLst/>
            </a:prstGeom>
            <a:solidFill>
              <a:srgbClr val="0D0D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84" name="Oval 83"/>
            <p:cNvSpPr/>
            <p:nvPr/>
          </p:nvSpPr>
          <p:spPr>
            <a:xfrm>
              <a:off x="7678988" y="4525495"/>
              <a:ext cx="136908" cy="97229"/>
            </a:xfrm>
            <a:prstGeom prst="ellipse">
              <a:avLst/>
            </a:prstGeom>
            <a:solidFill>
              <a:srgbClr val="5DDE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85" name="Oval 84"/>
            <p:cNvSpPr/>
            <p:nvPr/>
          </p:nvSpPr>
          <p:spPr>
            <a:xfrm>
              <a:off x="7692972" y="4799558"/>
              <a:ext cx="136908" cy="97229"/>
            </a:xfrm>
            <a:prstGeom prst="ellipse">
              <a:avLst/>
            </a:pr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86" name="Oval 85"/>
            <p:cNvSpPr/>
            <p:nvPr/>
          </p:nvSpPr>
          <p:spPr>
            <a:xfrm>
              <a:off x="7692972" y="5073621"/>
              <a:ext cx="136908" cy="97229"/>
            </a:xfrm>
            <a:prstGeom prst="ellipse">
              <a:avLst/>
            </a:prstGeom>
            <a:solidFill>
              <a:srgbClr val="5DDE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7551763" y="4098811"/>
              <a:ext cx="269125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dirty="0">
                  <a:solidFill>
                    <a:schemeClr val="tx2">
                      <a:lumMod val="90000"/>
                    </a:schemeClr>
                  </a:solidFill>
                  <a:latin typeface="Cooper Black" panose="0208090404030B020404" pitchFamily="18" charset="0"/>
                </a:rPr>
                <a:t>Seasonal Insight</a:t>
              </a:r>
            </a:p>
          </p:txBody>
        </p:sp>
        <p:sp>
          <p:nvSpPr>
            <p:cNvPr id="88" name="Rectangle 87"/>
            <p:cNvSpPr/>
            <p:nvPr/>
          </p:nvSpPr>
          <p:spPr>
            <a:xfrm>
              <a:off x="7828847" y="4394715"/>
              <a:ext cx="1245416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CA" sz="1200" dirty="0" smtClean="0">
                  <a:solidFill>
                    <a:schemeClr val="tx2">
                      <a:lumMod val="90000"/>
                    </a:schemeClr>
                  </a:solidFill>
                  <a:latin typeface="Britannic Bold" panose="020B0903060703020204" pitchFamily="34" charset="0"/>
                  <a:cs typeface="Times New Roman" panose="02020603050405020304" pitchFamily="18" charset="0"/>
                </a:rPr>
                <a:t>Summer Peak: </a:t>
              </a:r>
              <a:endParaRPr lang="en-CA" dirty="0">
                <a:solidFill>
                  <a:schemeClr val="tx2">
                    <a:lumMod val="90000"/>
                  </a:schemeClr>
                </a:solidFill>
                <a:latin typeface="Britannic Bold" panose="020B0903060703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89" name="Rectangle 88"/>
            <p:cNvSpPr/>
            <p:nvPr/>
          </p:nvSpPr>
          <p:spPr>
            <a:xfrm>
              <a:off x="8848230" y="4394715"/>
              <a:ext cx="3003589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CA" sz="1000" dirty="0" smtClean="0">
                  <a:solidFill>
                    <a:schemeClr val="tx2">
                      <a:lumMod val="90000"/>
                    </a:schemeClr>
                  </a:solidFill>
                  <a:latin typeface="Britannic Bold" panose="020B0903060703020204" pitchFamily="34" charset="0"/>
                  <a:cs typeface="Times New Roman" panose="02020603050405020304" pitchFamily="18" charset="0"/>
                </a:rPr>
                <a:t>July - August show strongest performance</a:t>
              </a:r>
              <a:endParaRPr lang="en-CA" sz="1000" dirty="0">
                <a:solidFill>
                  <a:schemeClr val="tx2">
                    <a:lumMod val="90000"/>
                  </a:schemeClr>
                </a:solidFill>
                <a:latin typeface="Britannic Bold" panose="020B0903060703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90" name="Rectangle 89"/>
            <p:cNvSpPr/>
            <p:nvPr/>
          </p:nvSpPr>
          <p:spPr>
            <a:xfrm>
              <a:off x="7842831" y="4695258"/>
              <a:ext cx="1245416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CA" sz="1200" dirty="0" smtClean="0">
                  <a:solidFill>
                    <a:schemeClr val="tx2">
                      <a:lumMod val="90000"/>
                    </a:schemeClr>
                  </a:solidFill>
                  <a:latin typeface="Britannic Bold" panose="020B0903060703020204" pitchFamily="34" charset="0"/>
                  <a:cs typeface="Times New Roman" panose="02020603050405020304" pitchFamily="18" charset="0"/>
                </a:rPr>
                <a:t>Spring Dip: </a:t>
              </a:r>
              <a:endParaRPr lang="en-CA" dirty="0">
                <a:solidFill>
                  <a:schemeClr val="tx2">
                    <a:lumMod val="90000"/>
                  </a:schemeClr>
                </a:solidFill>
                <a:latin typeface="Britannic Bold" panose="020B0903060703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91" name="Rectangle 90"/>
            <p:cNvSpPr/>
            <p:nvPr/>
          </p:nvSpPr>
          <p:spPr>
            <a:xfrm>
              <a:off x="8640119" y="4703905"/>
              <a:ext cx="3003589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CA" sz="1000" dirty="0" smtClean="0">
                  <a:solidFill>
                    <a:schemeClr val="tx2">
                      <a:lumMod val="90000"/>
                    </a:schemeClr>
                  </a:solidFill>
                  <a:latin typeface="Britannic Bold" panose="020B0903060703020204" pitchFamily="34" charset="0"/>
                  <a:cs typeface="Times New Roman" panose="02020603050405020304" pitchFamily="18" charset="0"/>
                </a:rPr>
                <a:t>February - March show lowest sales</a:t>
              </a:r>
              <a:endParaRPr lang="en-CA" sz="1000" dirty="0">
                <a:solidFill>
                  <a:schemeClr val="tx2">
                    <a:lumMod val="90000"/>
                  </a:schemeClr>
                </a:solidFill>
                <a:latin typeface="Britannic Bold" panose="020B0903060703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92" name="Rectangle 91"/>
            <p:cNvSpPr/>
            <p:nvPr/>
          </p:nvSpPr>
          <p:spPr>
            <a:xfrm>
              <a:off x="7811293" y="4998285"/>
              <a:ext cx="1245416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CA" sz="1200" dirty="0" smtClean="0">
                  <a:solidFill>
                    <a:schemeClr val="tx2">
                      <a:lumMod val="90000"/>
                    </a:schemeClr>
                  </a:solidFill>
                  <a:latin typeface="Britannic Bold" panose="020B0903060703020204" pitchFamily="34" charset="0"/>
                  <a:cs typeface="Times New Roman" panose="02020603050405020304" pitchFamily="18" charset="0"/>
                </a:rPr>
                <a:t>Holiday Effect: </a:t>
              </a:r>
              <a:endParaRPr lang="en-CA" dirty="0">
                <a:solidFill>
                  <a:schemeClr val="tx2">
                    <a:lumMod val="90000"/>
                  </a:schemeClr>
                </a:solidFill>
                <a:latin typeface="Britannic Bold" panose="020B0903060703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93" name="Rectangle 92"/>
            <p:cNvSpPr/>
            <p:nvPr/>
          </p:nvSpPr>
          <p:spPr>
            <a:xfrm>
              <a:off x="8830676" y="4998285"/>
              <a:ext cx="3003589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CA" sz="1000" dirty="0" smtClean="0">
                  <a:solidFill>
                    <a:schemeClr val="tx2">
                      <a:lumMod val="90000"/>
                    </a:schemeClr>
                  </a:solidFill>
                  <a:latin typeface="Britannic Bold" panose="020B0903060703020204" pitchFamily="34" charset="0"/>
                  <a:cs typeface="Times New Roman" panose="02020603050405020304" pitchFamily="18" charset="0"/>
                </a:rPr>
                <a:t>December shows recovery trend</a:t>
              </a:r>
              <a:endParaRPr lang="en-CA" sz="1000" dirty="0">
                <a:solidFill>
                  <a:schemeClr val="tx2">
                    <a:lumMod val="90000"/>
                  </a:schemeClr>
                </a:solidFill>
                <a:latin typeface="Britannic Bold" panose="020B0903060703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332915" y="5615110"/>
              <a:ext cx="2605525" cy="1080371"/>
            </a:xfrm>
            <a:prstGeom prst="roundRect">
              <a:avLst/>
            </a:prstGeom>
            <a:solidFill>
              <a:srgbClr val="1C1C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grpSp>
          <p:nvGrpSpPr>
            <p:cNvPr id="96" name="Group 95"/>
            <p:cNvGrpSpPr/>
            <p:nvPr/>
          </p:nvGrpSpPr>
          <p:grpSpPr>
            <a:xfrm>
              <a:off x="1194621" y="5765640"/>
              <a:ext cx="882112" cy="706848"/>
              <a:chOff x="1158674" y="5882645"/>
              <a:chExt cx="931665" cy="618341"/>
            </a:xfrm>
          </p:grpSpPr>
          <p:sp>
            <p:nvSpPr>
              <p:cNvPr id="94" name="Rectangle 93"/>
              <p:cNvSpPr/>
              <p:nvPr/>
            </p:nvSpPr>
            <p:spPr>
              <a:xfrm>
                <a:off x="1237220" y="5882645"/>
                <a:ext cx="853119" cy="2616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CA" sz="1100" dirty="0" smtClean="0">
                    <a:solidFill>
                      <a:schemeClr val="tx1">
                        <a:lumMod val="65000"/>
                      </a:schemeClr>
                    </a:solidFill>
                  </a:rPr>
                  <a:t>Q1 Average</a:t>
                </a:r>
                <a:endParaRPr lang="en-CA" dirty="0">
                  <a:solidFill>
                    <a:schemeClr val="tx1">
                      <a:lumMod val="65000"/>
                    </a:schemeClr>
                  </a:solidFill>
                </a:endParaRPr>
              </a:p>
            </p:txBody>
          </p:sp>
          <p:sp>
            <p:nvSpPr>
              <p:cNvPr id="95" name="Rectangle 94"/>
              <p:cNvSpPr/>
              <p:nvPr/>
            </p:nvSpPr>
            <p:spPr>
              <a:xfrm>
                <a:off x="1158674" y="6131654"/>
                <a:ext cx="93166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CA" b="1" kern="1500" spc="100" dirty="0" smtClean="0">
                    <a:latin typeface="Impact" panose="020B0806030902050204" pitchFamily="34" charset="0"/>
                    <a:cs typeface="Times New Roman" panose="02020603050405020304" pitchFamily="18" charset="0"/>
                  </a:rPr>
                  <a:t>$63.1M</a:t>
                </a:r>
                <a:endParaRPr lang="en-CA" kern="1500" spc="100" dirty="0">
                  <a:latin typeface="Impact" panose="020B0806030902050204" pitchFamily="34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18" name="Rounded Rectangle 117"/>
            <p:cNvSpPr/>
            <p:nvPr/>
          </p:nvSpPr>
          <p:spPr>
            <a:xfrm>
              <a:off x="3338777" y="5615110"/>
              <a:ext cx="2605525" cy="1080371"/>
            </a:xfrm>
            <a:prstGeom prst="roundRect">
              <a:avLst/>
            </a:prstGeom>
            <a:solidFill>
              <a:srgbClr val="1C1C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grpSp>
          <p:nvGrpSpPr>
            <p:cNvPr id="119" name="Group 118"/>
            <p:cNvGrpSpPr/>
            <p:nvPr/>
          </p:nvGrpSpPr>
          <p:grpSpPr>
            <a:xfrm>
              <a:off x="4244529" y="5751236"/>
              <a:ext cx="934871" cy="668388"/>
              <a:chOff x="1205195" y="5870047"/>
              <a:chExt cx="987389" cy="584697"/>
            </a:xfrm>
          </p:grpSpPr>
          <p:sp>
            <p:nvSpPr>
              <p:cNvPr id="120" name="Rectangle 119"/>
              <p:cNvSpPr/>
              <p:nvPr/>
            </p:nvSpPr>
            <p:spPr>
              <a:xfrm>
                <a:off x="1283741" y="5870047"/>
                <a:ext cx="901044" cy="22885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CA" sz="1100" dirty="0" smtClean="0">
                    <a:solidFill>
                      <a:schemeClr val="tx1">
                        <a:lumMod val="65000"/>
                      </a:schemeClr>
                    </a:solidFill>
                  </a:rPr>
                  <a:t>Q2 Average</a:t>
                </a:r>
                <a:endParaRPr lang="en-CA" dirty="0">
                  <a:solidFill>
                    <a:schemeClr val="tx1">
                      <a:lumMod val="65000"/>
                    </a:schemeClr>
                  </a:solidFill>
                </a:endParaRPr>
              </a:p>
            </p:txBody>
          </p:sp>
          <p:sp>
            <p:nvSpPr>
              <p:cNvPr id="121" name="Rectangle 120"/>
              <p:cNvSpPr/>
              <p:nvPr/>
            </p:nvSpPr>
            <p:spPr>
              <a:xfrm>
                <a:off x="1205195" y="6131657"/>
                <a:ext cx="987389" cy="3230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CA" b="1" kern="1500" spc="100" dirty="0" smtClean="0">
                    <a:latin typeface="Impact" panose="020B0806030902050204" pitchFamily="34" charset="0"/>
                    <a:cs typeface="Times New Roman" panose="02020603050405020304" pitchFamily="18" charset="0"/>
                  </a:rPr>
                  <a:t>$75.9M</a:t>
                </a:r>
                <a:endParaRPr lang="en-CA" kern="1500" spc="100" dirty="0">
                  <a:latin typeface="Impact" panose="020B0806030902050204" pitchFamily="34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22" name="Rounded Rectangle 121"/>
            <p:cNvSpPr/>
            <p:nvPr/>
          </p:nvSpPr>
          <p:spPr>
            <a:xfrm>
              <a:off x="6344639" y="5630149"/>
              <a:ext cx="2605525" cy="1080371"/>
            </a:xfrm>
            <a:prstGeom prst="roundRect">
              <a:avLst/>
            </a:prstGeom>
            <a:solidFill>
              <a:srgbClr val="1C1C1C"/>
            </a:solidFill>
            <a:ln>
              <a:solidFill>
                <a:srgbClr val="5DDE1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grpSp>
          <p:nvGrpSpPr>
            <p:cNvPr id="123" name="Group 122"/>
            <p:cNvGrpSpPr/>
            <p:nvPr/>
          </p:nvGrpSpPr>
          <p:grpSpPr>
            <a:xfrm>
              <a:off x="7237932" y="5765639"/>
              <a:ext cx="958917" cy="669019"/>
              <a:chOff x="1192037" y="5869491"/>
              <a:chExt cx="1012786" cy="585249"/>
            </a:xfrm>
          </p:grpSpPr>
          <p:sp>
            <p:nvSpPr>
              <p:cNvPr id="124" name="Rectangle 123"/>
              <p:cNvSpPr/>
              <p:nvPr/>
            </p:nvSpPr>
            <p:spPr>
              <a:xfrm>
                <a:off x="1197949" y="5869491"/>
                <a:ext cx="901044" cy="22885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CA" sz="1100" dirty="0" smtClean="0">
                    <a:solidFill>
                      <a:schemeClr val="tx1">
                        <a:lumMod val="65000"/>
                      </a:schemeClr>
                    </a:solidFill>
                  </a:rPr>
                  <a:t>Q3 Average</a:t>
                </a:r>
                <a:endParaRPr lang="en-CA" dirty="0">
                  <a:solidFill>
                    <a:schemeClr val="tx1">
                      <a:lumMod val="65000"/>
                    </a:schemeClr>
                  </a:solidFill>
                </a:endParaRPr>
              </a:p>
            </p:txBody>
          </p:sp>
          <p:sp>
            <p:nvSpPr>
              <p:cNvPr id="125" name="Rectangle 124"/>
              <p:cNvSpPr/>
              <p:nvPr/>
            </p:nvSpPr>
            <p:spPr>
              <a:xfrm>
                <a:off x="1192037" y="6131653"/>
                <a:ext cx="1012786" cy="3230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CA" b="1" kern="1500" spc="100" dirty="0" smtClean="0">
                    <a:latin typeface="Impact" panose="020B0806030902050204" pitchFamily="34" charset="0"/>
                    <a:cs typeface="Times New Roman" panose="02020603050405020304" pitchFamily="18" charset="0"/>
                  </a:rPr>
                  <a:t>$88.4M</a:t>
                </a:r>
                <a:endParaRPr lang="en-CA" kern="1500" spc="100" dirty="0">
                  <a:latin typeface="Impact" panose="020B0806030902050204" pitchFamily="34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26" name="Rounded Rectangle 125"/>
            <p:cNvSpPr/>
            <p:nvPr/>
          </p:nvSpPr>
          <p:spPr>
            <a:xfrm>
              <a:off x="9350501" y="5630149"/>
              <a:ext cx="2605525" cy="1080371"/>
            </a:xfrm>
            <a:prstGeom prst="roundRect">
              <a:avLst/>
            </a:prstGeom>
            <a:solidFill>
              <a:srgbClr val="1C1C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grpSp>
          <p:nvGrpSpPr>
            <p:cNvPr id="127" name="Group 126"/>
            <p:cNvGrpSpPr/>
            <p:nvPr/>
          </p:nvGrpSpPr>
          <p:grpSpPr>
            <a:xfrm>
              <a:off x="10243017" y="5789819"/>
              <a:ext cx="925253" cy="632566"/>
              <a:chOff x="1191215" y="5890639"/>
              <a:chExt cx="977231" cy="553360"/>
            </a:xfrm>
          </p:grpSpPr>
          <p:sp>
            <p:nvSpPr>
              <p:cNvPr id="128" name="Rectangle 127"/>
              <p:cNvSpPr/>
              <p:nvPr/>
            </p:nvSpPr>
            <p:spPr>
              <a:xfrm>
                <a:off x="1191216" y="5890639"/>
                <a:ext cx="901045" cy="22885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CA" sz="1100" dirty="0" smtClean="0">
                    <a:solidFill>
                      <a:schemeClr val="tx1">
                        <a:lumMod val="65000"/>
                      </a:schemeClr>
                    </a:solidFill>
                  </a:rPr>
                  <a:t>Q4 Average</a:t>
                </a:r>
                <a:endParaRPr lang="en-CA" dirty="0">
                  <a:solidFill>
                    <a:schemeClr val="tx1">
                      <a:lumMod val="65000"/>
                    </a:schemeClr>
                  </a:solidFill>
                </a:endParaRPr>
              </a:p>
            </p:txBody>
          </p:sp>
          <p:sp>
            <p:nvSpPr>
              <p:cNvPr id="129" name="Rectangle 128"/>
              <p:cNvSpPr/>
              <p:nvPr/>
            </p:nvSpPr>
            <p:spPr>
              <a:xfrm>
                <a:off x="1191215" y="6120912"/>
                <a:ext cx="977231" cy="3230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CA" b="1" kern="1500" spc="100" dirty="0" smtClean="0">
                    <a:latin typeface="Impact" panose="020B0806030902050204" pitchFamily="34" charset="0"/>
                    <a:cs typeface="Times New Roman" panose="02020603050405020304" pitchFamily="18" charset="0"/>
                  </a:rPr>
                  <a:t>$72.5M</a:t>
                </a:r>
                <a:endParaRPr lang="en-CA" kern="1500" spc="100" dirty="0">
                  <a:latin typeface="Impact" panose="020B0806030902050204" pitchFamily="34" charset="0"/>
                  <a:cs typeface="Times New Roman" panose="02020603050405020304" pitchFamily="18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40144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roup 105"/>
          <p:cNvGrpSpPr/>
          <p:nvPr/>
        </p:nvGrpSpPr>
        <p:grpSpPr>
          <a:xfrm>
            <a:off x="247191" y="192999"/>
            <a:ext cx="11760761" cy="6495545"/>
            <a:chOff x="332916" y="183474"/>
            <a:chExt cx="11760761" cy="6495545"/>
          </a:xfrm>
        </p:grpSpPr>
        <p:sp>
          <p:nvSpPr>
            <p:cNvPr id="3" name="Rounded Rectangle 2"/>
            <p:cNvSpPr/>
            <p:nvPr/>
          </p:nvSpPr>
          <p:spPr>
            <a:xfrm>
              <a:off x="522255" y="183474"/>
              <a:ext cx="2052413" cy="283443"/>
            </a:xfrm>
            <a:prstGeom prst="roundRect">
              <a:avLst/>
            </a:prstGeom>
            <a:solidFill>
              <a:srgbClr val="5DDE16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CA" sz="1050" dirty="0" smtClean="0">
                  <a:solidFill>
                    <a:schemeClr val="bg1"/>
                  </a:solidFill>
                  <a:latin typeface="Cooper Black" panose="0208090404030B020404" pitchFamily="18" charset="0"/>
                </a:rPr>
                <a:t>05/RETAILERS ANALYSIS</a:t>
              </a:r>
              <a:endParaRPr lang="en-CA" sz="1200" dirty="0">
                <a:solidFill>
                  <a:schemeClr val="bg1"/>
                </a:solidFill>
                <a:latin typeface="Cooper Black" panose="0208090404030B020404" pitchFamily="18" charset="0"/>
              </a:endParaRP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22255" y="520175"/>
              <a:ext cx="49290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dirty="0" smtClean="0">
                  <a:solidFill>
                    <a:schemeClr val="tx2">
                      <a:lumMod val="90000"/>
                    </a:schemeClr>
                  </a:solidFill>
                  <a:latin typeface="Cooper Black" panose="0208090404030B020404" pitchFamily="18" charset="0"/>
                </a:rPr>
                <a:t>Retailer Performance Rankings</a:t>
              </a:r>
              <a:endParaRPr lang="en-CA" sz="2800" dirty="0" smtClean="0">
                <a:solidFill>
                  <a:schemeClr val="tx2">
                    <a:lumMod val="90000"/>
                  </a:schemeClr>
                </a:solidFill>
                <a:latin typeface="Cooper Black" panose="0208090404030B020404" pitchFamily="18" charset="0"/>
              </a:endParaRPr>
            </a:p>
          </p:txBody>
        </p:sp>
        <p:sp>
          <p:nvSpPr>
            <p:cNvPr id="5" name="Rectangle 4"/>
            <p:cNvSpPr/>
            <p:nvPr/>
          </p:nvSpPr>
          <p:spPr>
            <a:xfrm>
              <a:off x="522255" y="890399"/>
              <a:ext cx="7558479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CA" sz="1100" dirty="0" smtClean="0">
                  <a:solidFill>
                    <a:schemeClr val="tx2">
                      <a:lumMod val="90000"/>
                    </a:schemeClr>
                  </a:solidFill>
                  <a:latin typeface="Britannic Bold" panose="020B0903060703020204" pitchFamily="34" charset="0"/>
                  <a:cs typeface="Times New Roman" panose="02020603050405020304" pitchFamily="18" charset="0"/>
                </a:rPr>
                <a:t>Top 6 retailers by sales contribution and strategic importance</a:t>
              </a:r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332916" y="1275076"/>
              <a:ext cx="5311842" cy="4246153"/>
              <a:chOff x="324465" y="1557338"/>
              <a:chExt cx="6872748" cy="4145372"/>
            </a:xfrm>
          </p:grpSpPr>
          <p:sp>
            <p:nvSpPr>
              <p:cNvPr id="55" name="Rectangle 54"/>
              <p:cNvSpPr/>
              <p:nvPr/>
            </p:nvSpPr>
            <p:spPr>
              <a:xfrm>
                <a:off x="324465" y="1557338"/>
                <a:ext cx="6872748" cy="4145372"/>
              </a:xfrm>
              <a:prstGeom prst="rect">
                <a:avLst/>
              </a:prstGeom>
              <a:solidFill>
                <a:srgbClr val="1C1C1C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56" name="TextBox 55"/>
              <p:cNvSpPr txBox="1"/>
              <p:nvPr/>
            </p:nvSpPr>
            <p:spPr>
              <a:xfrm>
                <a:off x="513805" y="1653306"/>
                <a:ext cx="33808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dirty="0" smtClean="0">
                    <a:solidFill>
                      <a:schemeClr val="tx1">
                        <a:lumMod val="95000"/>
                      </a:schemeClr>
                    </a:solidFill>
                    <a:latin typeface="Cooper Black" panose="0208090404030B020404" pitchFamily="18" charset="0"/>
                  </a:rPr>
                  <a:t>Retailers Sales Comparison</a:t>
                </a:r>
                <a:endParaRPr lang="en-CA" dirty="0">
                  <a:solidFill>
                    <a:schemeClr val="tx1">
                      <a:lumMod val="95000"/>
                    </a:schemeClr>
                  </a:solidFill>
                  <a:latin typeface="Cooper Black" panose="0208090404030B020404" pitchFamily="18" charset="0"/>
                </a:endParaRPr>
              </a:p>
            </p:txBody>
          </p:sp>
        </p:grpSp>
        <p:grpSp>
          <p:nvGrpSpPr>
            <p:cNvPr id="7" name="Group 6"/>
            <p:cNvGrpSpPr/>
            <p:nvPr/>
          </p:nvGrpSpPr>
          <p:grpSpPr>
            <a:xfrm>
              <a:off x="5831016" y="638808"/>
              <a:ext cx="6094129" cy="1070714"/>
              <a:chOff x="7511845" y="1095459"/>
              <a:chExt cx="4218039" cy="1281661"/>
            </a:xfrm>
          </p:grpSpPr>
          <p:sp>
            <p:nvSpPr>
              <p:cNvPr id="51" name="Rounded Rectangle 50"/>
              <p:cNvSpPr/>
              <p:nvPr/>
            </p:nvSpPr>
            <p:spPr>
              <a:xfrm>
                <a:off x="7511845" y="1095459"/>
                <a:ext cx="4218039" cy="1281661"/>
              </a:xfrm>
              <a:prstGeom prst="roundRect">
                <a:avLst/>
              </a:prstGeom>
              <a:solidFill>
                <a:srgbClr val="5DDE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sp>
            <p:nvSpPr>
              <p:cNvPr id="52" name="Rectangle 51"/>
              <p:cNvSpPr/>
              <p:nvPr/>
            </p:nvSpPr>
            <p:spPr>
              <a:xfrm>
                <a:off x="8098505" y="1321987"/>
                <a:ext cx="1206197" cy="36472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CA" sz="2000" b="1" kern="1500" spc="100" dirty="0" smtClean="0">
                    <a:solidFill>
                      <a:srgbClr val="0D0D0D"/>
                    </a:solidFill>
                    <a:latin typeface="Impact" panose="020B0806030902050204" pitchFamily="34" charset="0"/>
                    <a:cs typeface="Times New Roman" panose="02020603050405020304" pitchFamily="18" charset="0"/>
                  </a:rPr>
                  <a:t>$243.0M</a:t>
                </a:r>
                <a:endParaRPr lang="en-CA" sz="2000" kern="1500" spc="100" dirty="0">
                  <a:solidFill>
                    <a:srgbClr val="0D0D0D"/>
                  </a:solidFill>
                  <a:latin typeface="Impact" panose="020B080603090205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3" name="Rectangle 52"/>
              <p:cNvSpPr/>
              <p:nvPr/>
            </p:nvSpPr>
            <p:spPr>
              <a:xfrm>
                <a:off x="8110092" y="1615860"/>
                <a:ext cx="591511" cy="23847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CA" sz="1100" dirty="0" smtClean="0">
                    <a:solidFill>
                      <a:srgbClr val="0D0D0D"/>
                    </a:solidFill>
                    <a:latin typeface="Britannic Bold" panose="020B0903060703020204" pitchFamily="34" charset="0"/>
                    <a:cs typeface="Times New Roman" panose="02020603050405020304" pitchFamily="18" charset="0"/>
                  </a:rPr>
                  <a:t>West Gear</a:t>
                </a:r>
                <a:endParaRPr lang="en-CA" sz="1100" dirty="0">
                  <a:solidFill>
                    <a:srgbClr val="0D0D0D"/>
                  </a:solidFill>
                  <a:latin typeface="Britannic Bold" panose="020B09030607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4" name="Rectangle 53"/>
              <p:cNvSpPr/>
              <p:nvPr/>
            </p:nvSpPr>
            <p:spPr>
              <a:xfrm>
                <a:off x="7907470" y="1917846"/>
                <a:ext cx="1773738" cy="25250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CA" sz="1200" dirty="0" smtClean="0">
                    <a:solidFill>
                      <a:srgbClr val="0D0D0D"/>
                    </a:solidFill>
                  </a:rPr>
                  <a:t>27.0% of Total sales * Market leader</a:t>
                </a:r>
                <a:endParaRPr lang="en-CA" sz="1200" dirty="0">
                  <a:solidFill>
                    <a:srgbClr val="0D0D0D"/>
                  </a:solidFill>
                </a:endParaRPr>
              </a:p>
            </p:txBody>
          </p:sp>
        </p:grpSp>
        <p:sp>
          <p:nvSpPr>
            <p:cNvPr id="8" name="Rounded Rectangle 7"/>
            <p:cNvSpPr/>
            <p:nvPr/>
          </p:nvSpPr>
          <p:spPr>
            <a:xfrm>
              <a:off x="7838177" y="503907"/>
              <a:ext cx="524711" cy="172446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1000" b="1" dirty="0" smtClean="0">
                  <a:solidFill>
                    <a:schemeClr val="bg1"/>
                  </a:solidFill>
                </a:rPr>
                <a:t>Peak</a:t>
              </a:r>
              <a:endParaRPr lang="en-CA" b="1" dirty="0">
                <a:solidFill>
                  <a:schemeClr val="bg1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831016" y="1848965"/>
              <a:ext cx="5676732" cy="1165264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grpSp>
          <p:nvGrpSpPr>
            <p:cNvPr id="10" name="Group 9"/>
            <p:cNvGrpSpPr/>
            <p:nvPr/>
          </p:nvGrpSpPr>
          <p:grpSpPr>
            <a:xfrm>
              <a:off x="5911657" y="1854256"/>
              <a:ext cx="6013488" cy="1167103"/>
              <a:chOff x="7511845" y="1095459"/>
              <a:chExt cx="4218039" cy="1490426"/>
            </a:xfrm>
            <a:solidFill>
              <a:srgbClr val="0D0D0D"/>
            </a:solidFill>
          </p:grpSpPr>
          <p:sp>
            <p:nvSpPr>
              <p:cNvPr id="47" name="Rounded Rectangle 46"/>
              <p:cNvSpPr/>
              <p:nvPr/>
            </p:nvSpPr>
            <p:spPr>
              <a:xfrm>
                <a:off x="7511845" y="1095459"/>
                <a:ext cx="4218039" cy="1490426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sp>
            <p:nvSpPr>
              <p:cNvPr id="48" name="Rectangle 47"/>
              <p:cNvSpPr/>
              <p:nvPr/>
            </p:nvSpPr>
            <p:spPr>
              <a:xfrm>
                <a:off x="7720673" y="1361946"/>
                <a:ext cx="842353" cy="358462"/>
              </a:xfrm>
              <a:prstGeom prst="rect">
                <a:avLst/>
              </a:prstGeom>
              <a:grpFill/>
            </p:spPr>
            <p:txBody>
              <a:bodyPr wrap="none">
                <a:spAutoFit/>
              </a:bodyPr>
              <a:lstStyle/>
              <a:p>
                <a:r>
                  <a:rPr lang="en-CA" sz="2000" b="1" kern="1500" spc="100" dirty="0" smtClean="0">
                    <a:latin typeface="Impact" panose="020B0806030902050204" pitchFamily="34" charset="0"/>
                    <a:cs typeface="Times New Roman" panose="02020603050405020304" pitchFamily="18" charset="0"/>
                  </a:rPr>
                  <a:t>$220.1M</a:t>
                </a:r>
                <a:endParaRPr lang="en-CA" sz="2000" kern="1500" spc="100" dirty="0">
                  <a:latin typeface="Impact" panose="020B080603090205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9" name="Rectangle 48"/>
              <p:cNvSpPr/>
              <p:nvPr/>
            </p:nvSpPr>
            <p:spPr>
              <a:xfrm>
                <a:off x="7737777" y="1786215"/>
                <a:ext cx="678904" cy="234379"/>
              </a:xfrm>
              <a:prstGeom prst="rect">
                <a:avLst/>
              </a:prstGeom>
              <a:grpFill/>
            </p:spPr>
            <p:txBody>
              <a:bodyPr wrap="none">
                <a:spAutoFit/>
              </a:bodyPr>
              <a:lstStyle/>
              <a:p>
                <a:r>
                  <a:rPr lang="en-CA" sz="1100" dirty="0" smtClean="0">
                    <a:solidFill>
                      <a:schemeClr val="tx1">
                        <a:lumMod val="65000"/>
                      </a:schemeClr>
                    </a:solidFill>
                    <a:latin typeface="Britannic Bold" panose="020B0903060703020204" pitchFamily="34" charset="0"/>
                    <a:cs typeface="Times New Roman" panose="02020603050405020304" pitchFamily="18" charset="0"/>
                  </a:rPr>
                  <a:t>Foot Locker</a:t>
                </a:r>
                <a:endParaRPr lang="en-CA" sz="1100" dirty="0">
                  <a:solidFill>
                    <a:schemeClr val="tx1">
                      <a:lumMod val="65000"/>
                    </a:schemeClr>
                  </a:solidFill>
                  <a:latin typeface="Britannic Bold" panose="020B09030607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0" name="Rectangle 49"/>
              <p:cNvSpPr/>
              <p:nvPr/>
            </p:nvSpPr>
            <p:spPr>
              <a:xfrm>
                <a:off x="7702377" y="2060203"/>
                <a:ext cx="1648037" cy="248166"/>
              </a:xfrm>
              <a:prstGeom prst="rect">
                <a:avLst/>
              </a:prstGeom>
              <a:grpFill/>
            </p:spPr>
            <p:txBody>
              <a:bodyPr wrap="none">
                <a:spAutoFit/>
              </a:bodyPr>
              <a:lstStyle/>
              <a:p>
                <a:r>
                  <a:rPr lang="en-CA" sz="1200" dirty="0" smtClean="0">
                    <a:solidFill>
                      <a:schemeClr val="tx1">
                        <a:lumMod val="65000"/>
                      </a:schemeClr>
                    </a:solidFill>
                  </a:rPr>
                  <a:t>24.5 share * Strong Performance</a:t>
                </a:r>
                <a:endParaRPr lang="en-CA" sz="1200" dirty="0">
                  <a:solidFill>
                    <a:schemeClr val="tx1">
                      <a:lumMod val="65000"/>
                    </a:schemeClr>
                  </a:solidFill>
                </a:endParaRPr>
              </a:p>
            </p:txBody>
          </p:sp>
        </p:grpSp>
        <p:sp>
          <p:nvSpPr>
            <p:cNvPr id="33" name="Rounded Rectangle 32"/>
            <p:cNvSpPr/>
            <p:nvPr/>
          </p:nvSpPr>
          <p:spPr>
            <a:xfrm>
              <a:off x="5831016" y="4440130"/>
              <a:ext cx="1867642" cy="1089277"/>
            </a:xfrm>
            <a:prstGeom prst="roundRect">
              <a:avLst/>
            </a:prstGeom>
            <a:solidFill>
              <a:srgbClr val="1C1C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6268809" y="4576429"/>
              <a:ext cx="102463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CA" b="1" kern="1500" spc="100" dirty="0" smtClean="0">
                  <a:latin typeface="Impact" panose="020B0806030902050204" pitchFamily="34" charset="0"/>
                  <a:cs typeface="Times New Roman" panose="02020603050405020304" pitchFamily="18" charset="0"/>
                </a:rPr>
                <a:t>$102.1M</a:t>
              </a:r>
              <a:endParaRPr lang="en-CA" kern="1500" spc="100" dirty="0">
                <a:latin typeface="Impact" panose="020B0806030902050204" pitchFamily="34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7" name="Chart 56">
              <a:extLst>
                <a:ext uri="{FF2B5EF4-FFF2-40B4-BE49-F238E27FC236}">
                  <a16:creationId xmlns:a16="http://schemas.microsoft.com/office/drawing/2014/main" id="{419F99AD-0867-4FAC-9C45-B5A17B084C06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037715169"/>
                </p:ext>
              </p:extLst>
            </p:nvPr>
          </p:nvGraphicFramePr>
          <p:xfrm>
            <a:off x="713208" y="2025028"/>
            <a:ext cx="4574162" cy="3182289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59" name="4-Point Star 58"/>
            <p:cNvSpPr/>
            <p:nvPr/>
          </p:nvSpPr>
          <p:spPr>
            <a:xfrm>
              <a:off x="6217436" y="1026843"/>
              <a:ext cx="303491" cy="249617"/>
            </a:xfrm>
            <a:prstGeom prst="star4">
              <a:avLst/>
            </a:prstGeom>
            <a:solidFill>
              <a:srgbClr val="0D0D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grpSp>
          <p:nvGrpSpPr>
            <p:cNvPr id="62" name="Group 61"/>
            <p:cNvGrpSpPr/>
            <p:nvPr/>
          </p:nvGrpSpPr>
          <p:grpSpPr>
            <a:xfrm>
              <a:off x="10902103" y="1003891"/>
              <a:ext cx="278491" cy="338554"/>
              <a:chOff x="10982632" y="1192693"/>
              <a:chExt cx="265471" cy="444575"/>
            </a:xfrm>
          </p:grpSpPr>
          <p:sp>
            <p:nvSpPr>
              <p:cNvPr id="60" name="Oval 59"/>
              <p:cNvSpPr/>
              <p:nvPr/>
            </p:nvSpPr>
            <p:spPr>
              <a:xfrm>
                <a:off x="10982632" y="1283809"/>
                <a:ext cx="265471" cy="265471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61" name="TextBox 60"/>
              <p:cNvSpPr txBox="1"/>
              <p:nvPr/>
            </p:nvSpPr>
            <p:spPr>
              <a:xfrm>
                <a:off x="11038042" y="1192693"/>
                <a:ext cx="45719" cy="4445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sz="1600" dirty="0" smtClean="0">
                    <a:solidFill>
                      <a:schemeClr val="bg1"/>
                    </a:solidFill>
                    <a:latin typeface="Impact" panose="020B0806030902050204" pitchFamily="34" charset="0"/>
                  </a:rPr>
                  <a:t>1</a:t>
                </a:r>
                <a:endParaRPr lang="en-CA" sz="1600" dirty="0">
                  <a:solidFill>
                    <a:schemeClr val="bg1"/>
                  </a:solidFill>
                  <a:latin typeface="Impact" panose="020B0806030902050204" pitchFamily="34" charset="0"/>
                </a:endParaRPr>
              </a:p>
            </p:txBody>
          </p:sp>
        </p:grpSp>
        <p:sp>
          <p:nvSpPr>
            <p:cNvPr id="67" name="Rounded Rectangle 66"/>
            <p:cNvSpPr/>
            <p:nvPr/>
          </p:nvSpPr>
          <p:spPr>
            <a:xfrm>
              <a:off x="5831016" y="3146305"/>
              <a:ext cx="5676732" cy="1209954"/>
            </a:xfrm>
            <a:prstGeom prst="roundRect">
              <a:avLst/>
            </a:prstGeom>
            <a:solidFill>
              <a:srgbClr val="5DDE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grpSp>
          <p:nvGrpSpPr>
            <p:cNvPr id="68" name="Group 67"/>
            <p:cNvGrpSpPr/>
            <p:nvPr/>
          </p:nvGrpSpPr>
          <p:grpSpPr>
            <a:xfrm>
              <a:off x="5911657" y="3151596"/>
              <a:ext cx="6013488" cy="1211864"/>
              <a:chOff x="7511845" y="1095459"/>
              <a:chExt cx="4218039" cy="1490426"/>
            </a:xfrm>
            <a:solidFill>
              <a:srgbClr val="0D0D0D"/>
            </a:solidFill>
          </p:grpSpPr>
          <p:sp>
            <p:nvSpPr>
              <p:cNvPr id="69" name="Rounded Rectangle 68"/>
              <p:cNvSpPr/>
              <p:nvPr/>
            </p:nvSpPr>
            <p:spPr>
              <a:xfrm>
                <a:off x="7511845" y="1095459"/>
                <a:ext cx="4218039" cy="1490426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sp>
            <p:nvSpPr>
              <p:cNvPr id="70" name="Rectangle 69"/>
              <p:cNvSpPr/>
              <p:nvPr/>
            </p:nvSpPr>
            <p:spPr>
              <a:xfrm>
                <a:off x="7737777" y="1424224"/>
                <a:ext cx="849460" cy="358463"/>
              </a:xfrm>
              <a:prstGeom prst="rect">
                <a:avLst/>
              </a:prstGeom>
              <a:grpFill/>
            </p:spPr>
            <p:txBody>
              <a:bodyPr wrap="none">
                <a:spAutoFit/>
              </a:bodyPr>
              <a:lstStyle/>
              <a:p>
                <a:r>
                  <a:rPr lang="en-CA" sz="2000" b="1" kern="1500" spc="100" dirty="0" smtClean="0">
                    <a:solidFill>
                      <a:srgbClr val="5DDE16"/>
                    </a:solidFill>
                    <a:latin typeface="Impact" panose="020B0806030902050204" pitchFamily="34" charset="0"/>
                    <a:cs typeface="Times New Roman" panose="02020603050405020304" pitchFamily="18" charset="0"/>
                  </a:rPr>
                  <a:t>$182.5M</a:t>
                </a:r>
                <a:endParaRPr lang="en-CA" sz="2000" kern="1500" spc="100" dirty="0">
                  <a:solidFill>
                    <a:srgbClr val="5DDE16"/>
                  </a:solidFill>
                  <a:latin typeface="Impact" panose="020B080603090205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1" name="Rectangle 70"/>
              <p:cNvSpPr/>
              <p:nvPr/>
            </p:nvSpPr>
            <p:spPr>
              <a:xfrm>
                <a:off x="7737777" y="1786215"/>
                <a:ext cx="745231" cy="234379"/>
              </a:xfrm>
              <a:prstGeom prst="rect">
                <a:avLst/>
              </a:prstGeom>
              <a:grpFill/>
            </p:spPr>
            <p:txBody>
              <a:bodyPr wrap="none">
                <a:spAutoFit/>
              </a:bodyPr>
              <a:lstStyle/>
              <a:p>
                <a:r>
                  <a:rPr lang="en-CA" sz="1100" dirty="0" smtClean="0">
                    <a:solidFill>
                      <a:schemeClr val="tx1">
                        <a:lumMod val="65000"/>
                      </a:schemeClr>
                    </a:solidFill>
                    <a:latin typeface="Britannic Bold" panose="020B0903060703020204" pitchFamily="34" charset="0"/>
                    <a:cs typeface="Times New Roman" panose="02020603050405020304" pitchFamily="18" charset="0"/>
                  </a:rPr>
                  <a:t>Sports Direct</a:t>
                </a:r>
                <a:endParaRPr lang="en-CA" sz="1100" dirty="0">
                  <a:solidFill>
                    <a:schemeClr val="tx1">
                      <a:lumMod val="65000"/>
                    </a:schemeClr>
                  </a:solidFill>
                  <a:latin typeface="Britannic Bold" panose="020B09030607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2" name="Rectangle 71"/>
              <p:cNvSpPr/>
              <p:nvPr/>
            </p:nvSpPr>
            <p:spPr>
              <a:xfrm>
                <a:off x="7702377" y="2060203"/>
                <a:ext cx="1729762" cy="248166"/>
              </a:xfrm>
              <a:prstGeom prst="rect">
                <a:avLst/>
              </a:prstGeom>
              <a:grpFill/>
            </p:spPr>
            <p:txBody>
              <a:bodyPr wrap="none">
                <a:spAutoFit/>
              </a:bodyPr>
              <a:lstStyle/>
              <a:p>
                <a:r>
                  <a:rPr lang="en-CA" sz="1200" dirty="0" smtClean="0">
                    <a:solidFill>
                      <a:schemeClr val="tx1">
                        <a:lumMod val="65000"/>
                      </a:schemeClr>
                    </a:solidFill>
                  </a:rPr>
                  <a:t>20.3% share * Strong Performance</a:t>
                </a:r>
                <a:endParaRPr lang="en-CA" sz="1200" dirty="0">
                  <a:solidFill>
                    <a:schemeClr val="tx1">
                      <a:lumMod val="65000"/>
                    </a:schemeClr>
                  </a:solidFill>
                </a:endParaRPr>
              </a:p>
            </p:txBody>
          </p:sp>
        </p:grpSp>
        <p:sp>
          <p:nvSpPr>
            <p:cNvPr id="75" name="Rounded Rectangle 74"/>
            <p:cNvSpPr/>
            <p:nvPr/>
          </p:nvSpPr>
          <p:spPr>
            <a:xfrm>
              <a:off x="7799540" y="4428331"/>
              <a:ext cx="2022886" cy="1089277"/>
            </a:xfrm>
            <a:prstGeom prst="roundRect">
              <a:avLst/>
            </a:prstGeom>
            <a:solidFill>
              <a:srgbClr val="1C1C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78" name="Rectangle 77"/>
            <p:cNvSpPr/>
            <p:nvPr/>
          </p:nvSpPr>
          <p:spPr>
            <a:xfrm>
              <a:off x="8397754" y="4572374"/>
              <a:ext cx="87011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CA" b="1" kern="1500" spc="100" dirty="0" smtClean="0">
                  <a:latin typeface="Impact" panose="020B0806030902050204" pitchFamily="34" charset="0"/>
                  <a:cs typeface="Times New Roman" panose="02020603050405020304" pitchFamily="18" charset="0"/>
                </a:rPr>
                <a:t>$77.7M</a:t>
              </a:r>
              <a:endParaRPr lang="en-CA" kern="1500" spc="100" dirty="0">
                <a:latin typeface="Impact" panose="020B080603090205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79" name="Rounded Rectangle 78"/>
            <p:cNvSpPr/>
            <p:nvPr/>
          </p:nvSpPr>
          <p:spPr>
            <a:xfrm>
              <a:off x="9923308" y="4428331"/>
              <a:ext cx="2001837" cy="1089277"/>
            </a:xfrm>
            <a:prstGeom prst="roundRect">
              <a:avLst/>
            </a:prstGeom>
            <a:solidFill>
              <a:srgbClr val="1C1C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82" name="Rectangle 81"/>
            <p:cNvSpPr/>
            <p:nvPr/>
          </p:nvSpPr>
          <p:spPr>
            <a:xfrm>
              <a:off x="10414831" y="4572374"/>
              <a:ext cx="92224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CA" b="1" kern="1500" spc="100" dirty="0" smtClean="0">
                  <a:latin typeface="Impact" panose="020B0806030902050204" pitchFamily="34" charset="0"/>
                  <a:cs typeface="Times New Roman" panose="02020603050405020304" pitchFamily="18" charset="0"/>
                </a:rPr>
                <a:t>$74.6M</a:t>
              </a:r>
              <a:endParaRPr lang="en-CA" kern="1500" spc="100" dirty="0">
                <a:latin typeface="Impact" panose="020B0806030902050204" pitchFamily="34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87" name="Group 86"/>
            <p:cNvGrpSpPr/>
            <p:nvPr/>
          </p:nvGrpSpPr>
          <p:grpSpPr>
            <a:xfrm>
              <a:off x="10902103" y="3495539"/>
              <a:ext cx="279641" cy="338554"/>
              <a:chOff x="10982632" y="1192693"/>
              <a:chExt cx="265471" cy="444575"/>
            </a:xfrm>
          </p:grpSpPr>
          <p:sp>
            <p:nvSpPr>
              <p:cNvPr id="88" name="Oval 87"/>
              <p:cNvSpPr/>
              <p:nvPr/>
            </p:nvSpPr>
            <p:spPr>
              <a:xfrm>
                <a:off x="10982632" y="1283809"/>
                <a:ext cx="265471" cy="265471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89" name="TextBox 88"/>
              <p:cNvSpPr txBox="1"/>
              <p:nvPr/>
            </p:nvSpPr>
            <p:spPr>
              <a:xfrm>
                <a:off x="11038042" y="1192693"/>
                <a:ext cx="45719" cy="4445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sz="1600" dirty="0" smtClean="0">
                    <a:solidFill>
                      <a:schemeClr val="bg1"/>
                    </a:solidFill>
                    <a:latin typeface="Impact" panose="020B0806030902050204" pitchFamily="34" charset="0"/>
                  </a:rPr>
                  <a:t>3</a:t>
                </a:r>
                <a:endParaRPr lang="en-CA" sz="1600" dirty="0">
                  <a:solidFill>
                    <a:schemeClr val="bg1"/>
                  </a:solidFill>
                  <a:latin typeface="Impact" panose="020B0806030902050204" pitchFamily="34" charset="0"/>
                </a:endParaRPr>
              </a:p>
            </p:txBody>
          </p:sp>
        </p:grpSp>
        <p:grpSp>
          <p:nvGrpSpPr>
            <p:cNvPr id="90" name="Group 89"/>
            <p:cNvGrpSpPr/>
            <p:nvPr/>
          </p:nvGrpSpPr>
          <p:grpSpPr>
            <a:xfrm>
              <a:off x="10902103" y="2148377"/>
              <a:ext cx="279641" cy="338554"/>
              <a:chOff x="10982632" y="1192693"/>
              <a:chExt cx="265471" cy="444575"/>
            </a:xfrm>
          </p:grpSpPr>
          <p:sp>
            <p:nvSpPr>
              <p:cNvPr id="91" name="Oval 90"/>
              <p:cNvSpPr/>
              <p:nvPr/>
            </p:nvSpPr>
            <p:spPr>
              <a:xfrm>
                <a:off x="10982632" y="1283809"/>
                <a:ext cx="265471" cy="265471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92" name="TextBox 91"/>
              <p:cNvSpPr txBox="1"/>
              <p:nvPr/>
            </p:nvSpPr>
            <p:spPr>
              <a:xfrm>
                <a:off x="11038042" y="1192693"/>
                <a:ext cx="45719" cy="4445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sz="1600" dirty="0" smtClean="0">
                    <a:solidFill>
                      <a:schemeClr val="bg1"/>
                    </a:solidFill>
                    <a:latin typeface="Impact" panose="020B0806030902050204" pitchFamily="34" charset="0"/>
                  </a:rPr>
                  <a:t>2</a:t>
                </a:r>
                <a:endParaRPr lang="en-CA" sz="1600" dirty="0">
                  <a:solidFill>
                    <a:schemeClr val="bg1"/>
                  </a:solidFill>
                  <a:latin typeface="Impact" panose="020B0806030902050204" pitchFamily="34" charset="0"/>
                </a:endParaRPr>
              </a:p>
            </p:txBody>
          </p:sp>
        </p:grpSp>
        <p:sp>
          <p:nvSpPr>
            <p:cNvPr id="93" name="Rectangle 92"/>
            <p:cNvSpPr/>
            <p:nvPr/>
          </p:nvSpPr>
          <p:spPr>
            <a:xfrm>
              <a:off x="6435595" y="4850540"/>
              <a:ext cx="575799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CA" sz="1100" dirty="0" smtClean="0">
                  <a:solidFill>
                    <a:schemeClr val="tx1">
                      <a:lumMod val="65000"/>
                    </a:schemeClr>
                  </a:solidFill>
                  <a:latin typeface="Britannic Bold" panose="020B0903060703020204" pitchFamily="34" charset="0"/>
                  <a:cs typeface="Times New Roman" panose="02020603050405020304" pitchFamily="18" charset="0"/>
                </a:rPr>
                <a:t>Kohl’s</a:t>
              </a:r>
              <a:endParaRPr lang="en-CA" sz="1100" dirty="0">
                <a:solidFill>
                  <a:schemeClr val="tx1">
                    <a:lumMod val="65000"/>
                  </a:schemeClr>
                </a:solidFill>
                <a:latin typeface="Britannic Bold" panose="020B0903060703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94" name="Rectangle 93"/>
            <p:cNvSpPr/>
            <p:nvPr/>
          </p:nvSpPr>
          <p:spPr>
            <a:xfrm>
              <a:off x="8495800" y="4836357"/>
              <a:ext cx="670376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CA" sz="1100" dirty="0">
                  <a:solidFill>
                    <a:schemeClr val="tx1">
                      <a:lumMod val="65000"/>
                    </a:schemeClr>
                  </a:solidFill>
                  <a:latin typeface="Britannic Bold" panose="020B0903060703020204" pitchFamily="34" charset="0"/>
                  <a:cs typeface="Times New Roman" panose="02020603050405020304" pitchFamily="18" charset="0"/>
                </a:rPr>
                <a:t>Amazon</a:t>
              </a:r>
            </a:p>
          </p:txBody>
        </p:sp>
        <p:sp>
          <p:nvSpPr>
            <p:cNvPr id="95" name="Rectangle 94"/>
            <p:cNvSpPr/>
            <p:nvPr/>
          </p:nvSpPr>
          <p:spPr>
            <a:xfrm>
              <a:off x="10493065" y="4836357"/>
              <a:ext cx="705642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CA" sz="1100" dirty="0" smtClean="0">
                  <a:solidFill>
                    <a:schemeClr val="tx1">
                      <a:lumMod val="65000"/>
                    </a:schemeClr>
                  </a:solidFill>
                  <a:latin typeface="Britannic Bold" panose="020B0903060703020204" pitchFamily="34" charset="0"/>
                  <a:cs typeface="Times New Roman" panose="02020603050405020304" pitchFamily="18" charset="0"/>
                </a:rPr>
                <a:t>Walmart</a:t>
              </a:r>
              <a:endParaRPr lang="en-CA" sz="1100" dirty="0">
                <a:solidFill>
                  <a:schemeClr val="tx1">
                    <a:lumMod val="65000"/>
                  </a:schemeClr>
                </a:solidFill>
                <a:latin typeface="Britannic Bold" panose="020B0903060703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96" name="Rectangle 95"/>
            <p:cNvSpPr/>
            <p:nvPr/>
          </p:nvSpPr>
          <p:spPr>
            <a:xfrm>
              <a:off x="6347506" y="5109262"/>
              <a:ext cx="761747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CA" sz="1200" dirty="0" smtClean="0">
                  <a:solidFill>
                    <a:schemeClr val="tx1">
                      <a:lumMod val="65000"/>
                    </a:schemeClr>
                  </a:solidFill>
                </a:rPr>
                <a:t>#4 </a:t>
              </a:r>
              <a:r>
                <a:rPr lang="en-CA" sz="1200" dirty="0">
                  <a:solidFill>
                    <a:schemeClr val="tx1">
                      <a:lumMod val="65000"/>
                    </a:schemeClr>
                  </a:solidFill>
                </a:rPr>
                <a:t>– 11.3</a:t>
              </a:r>
              <a:endParaRPr lang="en-CA" sz="1200" dirty="0">
                <a:solidFill>
                  <a:schemeClr val="tx1">
                    <a:lumMod val="65000"/>
                  </a:schemeClr>
                </a:solidFill>
              </a:endParaRPr>
            </a:p>
          </p:txBody>
        </p:sp>
        <p:sp>
          <p:nvSpPr>
            <p:cNvPr id="97" name="Rectangle 96"/>
            <p:cNvSpPr/>
            <p:nvPr/>
          </p:nvSpPr>
          <p:spPr>
            <a:xfrm>
              <a:off x="8450114" y="5109261"/>
              <a:ext cx="761747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CA" sz="1200" dirty="0" smtClean="0">
                  <a:solidFill>
                    <a:schemeClr val="tx1">
                      <a:lumMod val="65000"/>
                    </a:schemeClr>
                  </a:solidFill>
                </a:rPr>
                <a:t>#5 </a:t>
              </a:r>
              <a:r>
                <a:rPr lang="en-CA" sz="1200" dirty="0">
                  <a:solidFill>
                    <a:schemeClr val="tx1">
                      <a:lumMod val="65000"/>
                    </a:schemeClr>
                  </a:solidFill>
                </a:rPr>
                <a:t>– 11.3</a:t>
              </a:r>
              <a:endParaRPr lang="en-CA" sz="1200" dirty="0">
                <a:solidFill>
                  <a:schemeClr val="tx1">
                    <a:lumMod val="65000"/>
                  </a:schemeClr>
                </a:solidFill>
              </a:endParaRPr>
            </a:p>
          </p:txBody>
        </p:sp>
        <p:sp>
          <p:nvSpPr>
            <p:cNvPr id="98" name="Rectangle 97"/>
            <p:cNvSpPr/>
            <p:nvPr/>
          </p:nvSpPr>
          <p:spPr>
            <a:xfrm>
              <a:off x="10493065" y="5104693"/>
              <a:ext cx="761747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CA" sz="1200" dirty="0" smtClean="0">
                  <a:solidFill>
                    <a:schemeClr val="tx1">
                      <a:lumMod val="65000"/>
                    </a:schemeClr>
                  </a:solidFill>
                </a:rPr>
                <a:t>#6 </a:t>
              </a:r>
              <a:r>
                <a:rPr lang="en-CA" sz="1200" dirty="0">
                  <a:solidFill>
                    <a:schemeClr val="tx1">
                      <a:lumMod val="65000"/>
                    </a:schemeClr>
                  </a:solidFill>
                </a:rPr>
                <a:t>– 11.3</a:t>
              </a:r>
              <a:endParaRPr lang="en-CA" sz="1200" dirty="0">
                <a:solidFill>
                  <a:schemeClr val="tx1">
                    <a:lumMod val="65000"/>
                  </a:schemeClr>
                </a:solidFill>
              </a:endParaRPr>
            </a:p>
          </p:txBody>
        </p:sp>
        <p:sp>
          <p:nvSpPr>
            <p:cNvPr id="99" name="Rounded Rectangle 98"/>
            <p:cNvSpPr/>
            <p:nvPr/>
          </p:nvSpPr>
          <p:spPr>
            <a:xfrm>
              <a:off x="373627" y="5733924"/>
              <a:ext cx="11163556" cy="945095"/>
            </a:xfrm>
            <a:prstGeom prst="roundRect">
              <a:avLst/>
            </a:prstGeom>
            <a:solidFill>
              <a:srgbClr val="5DDE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100" name="Rounded Rectangle 99"/>
            <p:cNvSpPr/>
            <p:nvPr/>
          </p:nvSpPr>
          <p:spPr>
            <a:xfrm>
              <a:off x="522255" y="5732140"/>
              <a:ext cx="11571422" cy="946879"/>
            </a:xfrm>
            <a:prstGeom prst="roundRect">
              <a:avLst/>
            </a:prstGeom>
            <a:solidFill>
              <a:srgbClr val="0D0D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101" name="4-Point Star 100"/>
            <p:cNvSpPr/>
            <p:nvPr/>
          </p:nvSpPr>
          <p:spPr>
            <a:xfrm>
              <a:off x="820923" y="5980615"/>
              <a:ext cx="348124" cy="428468"/>
            </a:xfrm>
            <a:prstGeom prst="star4">
              <a:avLst/>
            </a:prstGeom>
            <a:solidFill>
              <a:srgbClr val="5DDE16"/>
            </a:solidFill>
            <a:ln>
              <a:solidFill>
                <a:srgbClr val="5DDE1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1296398" y="5886191"/>
              <a:ext cx="45130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dirty="0" smtClean="0">
                  <a:solidFill>
                    <a:schemeClr val="tx2">
                      <a:lumMod val="90000"/>
                    </a:schemeClr>
                  </a:solidFill>
                  <a:latin typeface="Cooper Black" panose="0208090404030B020404" pitchFamily="18" charset="0"/>
                </a:rPr>
                <a:t>Partnership </a:t>
              </a:r>
              <a:r>
                <a:rPr lang="en-CA" dirty="0">
                  <a:solidFill>
                    <a:schemeClr val="tx2">
                      <a:lumMod val="90000"/>
                    </a:schemeClr>
                  </a:solidFill>
                  <a:latin typeface="Cooper Black" panose="0208090404030B020404" pitchFamily="18" charset="0"/>
                </a:rPr>
                <a:t>Insight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 flipH="1">
              <a:off x="1296398" y="6181647"/>
              <a:ext cx="837228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100" dirty="0" smtClean="0">
                  <a:solidFill>
                    <a:schemeClr val="tx2">
                      <a:lumMod val="90000"/>
                    </a:schemeClr>
                  </a:solidFill>
                  <a:latin typeface="Britannic Bold" panose="020B0903060703020204" pitchFamily="34" charset="0"/>
                  <a:cs typeface="Times New Roman" panose="02020603050405020304" pitchFamily="18" charset="0"/>
                </a:rPr>
                <a:t>Top 3 retailers account for 71.8% of total sales, indicating strong dependency on key partnership</a:t>
              </a:r>
              <a:endParaRPr lang="en-CA" sz="1100" dirty="0">
                <a:solidFill>
                  <a:schemeClr val="tx2">
                    <a:lumMod val="90000"/>
                  </a:schemeClr>
                </a:solidFill>
                <a:latin typeface="Britannic Bold" panose="020B0903060703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04" name="Rectangle 103"/>
            <p:cNvSpPr/>
            <p:nvPr/>
          </p:nvSpPr>
          <p:spPr>
            <a:xfrm>
              <a:off x="10726269" y="5903439"/>
              <a:ext cx="1192955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CA" sz="2000" b="1" kern="1500" spc="100" dirty="0" smtClean="0">
                  <a:solidFill>
                    <a:srgbClr val="5DDE16"/>
                  </a:solidFill>
                  <a:latin typeface="Impact" panose="020B0806030902050204" pitchFamily="34" charset="0"/>
                  <a:cs typeface="Times New Roman" panose="02020603050405020304" pitchFamily="18" charset="0"/>
                </a:rPr>
                <a:t>$645.6M</a:t>
              </a:r>
              <a:endParaRPr lang="en-CA" sz="2000" kern="1500" spc="100" dirty="0">
                <a:solidFill>
                  <a:srgbClr val="5DDE16"/>
                </a:solidFill>
                <a:latin typeface="Impact" panose="020B080603090205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05" name="Rectangle 104"/>
            <p:cNvSpPr/>
            <p:nvPr/>
          </p:nvSpPr>
          <p:spPr>
            <a:xfrm>
              <a:off x="11055566" y="6297092"/>
              <a:ext cx="904363" cy="215444"/>
            </a:xfrm>
            <a:prstGeom prst="rect">
              <a:avLst/>
            </a:prstGeom>
            <a:solidFill>
              <a:srgbClr val="0D0D0D"/>
            </a:solidFill>
          </p:spPr>
          <p:txBody>
            <a:bodyPr wrap="square">
              <a:spAutoFit/>
            </a:bodyPr>
            <a:lstStyle/>
            <a:p>
              <a:r>
                <a:rPr lang="en-CA" sz="800" dirty="0" smtClean="0">
                  <a:solidFill>
                    <a:schemeClr val="tx1">
                      <a:lumMod val="65000"/>
                    </a:schemeClr>
                  </a:solidFill>
                </a:rPr>
                <a:t>Top 3 combined</a:t>
              </a:r>
              <a:endParaRPr lang="en-CA" sz="800" dirty="0">
                <a:solidFill>
                  <a:schemeClr val="tx1">
                    <a:lumMod val="6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20925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roup 124"/>
          <p:cNvGrpSpPr/>
          <p:nvPr/>
        </p:nvGrpSpPr>
        <p:grpSpPr>
          <a:xfrm>
            <a:off x="259327" y="212049"/>
            <a:ext cx="11720050" cy="6495545"/>
            <a:chOff x="373627" y="183474"/>
            <a:chExt cx="11720050" cy="6495545"/>
          </a:xfrm>
        </p:grpSpPr>
        <p:sp>
          <p:nvSpPr>
            <p:cNvPr id="2" name="Rounded Rectangle 1"/>
            <p:cNvSpPr/>
            <p:nvPr/>
          </p:nvSpPr>
          <p:spPr>
            <a:xfrm>
              <a:off x="522255" y="183474"/>
              <a:ext cx="2052413" cy="283443"/>
            </a:xfrm>
            <a:prstGeom prst="roundRect">
              <a:avLst/>
            </a:prstGeom>
            <a:solidFill>
              <a:srgbClr val="5DDE16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CA" sz="1050" dirty="0" smtClean="0">
                  <a:solidFill>
                    <a:schemeClr val="bg1"/>
                  </a:solidFill>
                  <a:latin typeface="Cooper Black" panose="0208090404030B020404" pitchFamily="18" charset="0"/>
                </a:rPr>
                <a:t>06/CHANNEL ANALYSIS</a:t>
              </a:r>
              <a:endParaRPr lang="en-CA" sz="1200" dirty="0">
                <a:solidFill>
                  <a:schemeClr val="bg1"/>
                </a:solidFill>
                <a:latin typeface="Cooper Black" panose="0208090404030B020404" pitchFamily="18" charset="0"/>
              </a:endParaRP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373627" y="504423"/>
              <a:ext cx="49290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dirty="0" smtClean="0">
                  <a:solidFill>
                    <a:schemeClr val="tx2">
                      <a:lumMod val="90000"/>
                    </a:schemeClr>
                  </a:solidFill>
                  <a:latin typeface="Cooper Black" panose="0208090404030B020404" pitchFamily="18" charset="0"/>
                </a:rPr>
                <a:t>Sales Channel Effectiveness</a:t>
              </a:r>
              <a:endParaRPr lang="en-CA" sz="2800" dirty="0" smtClean="0">
                <a:solidFill>
                  <a:schemeClr val="tx2">
                    <a:lumMod val="90000"/>
                  </a:schemeClr>
                </a:solidFill>
                <a:latin typeface="Cooper Black" panose="0208090404030B020404" pitchFamily="18" charset="0"/>
              </a:endParaRPr>
            </a:p>
          </p:txBody>
        </p:sp>
        <p:sp>
          <p:nvSpPr>
            <p:cNvPr id="4" name="Rectangle 3"/>
            <p:cNvSpPr/>
            <p:nvPr/>
          </p:nvSpPr>
          <p:spPr>
            <a:xfrm>
              <a:off x="373627" y="873755"/>
              <a:ext cx="7558479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CA" sz="1100" dirty="0" smtClean="0">
                  <a:solidFill>
                    <a:schemeClr val="tx2">
                      <a:lumMod val="90000"/>
                    </a:schemeClr>
                  </a:solidFill>
                  <a:latin typeface="Britannic Bold" panose="020B0903060703020204" pitchFamily="34" charset="0"/>
                  <a:cs typeface="Times New Roman" panose="02020603050405020304" pitchFamily="18" charset="0"/>
                </a:rPr>
                <a:t>Performance comparison across in-store, Outlet, and Online channels</a:t>
              </a:r>
            </a:p>
          </p:txBody>
        </p:sp>
        <p:sp>
          <p:nvSpPr>
            <p:cNvPr id="49" name="Rounded Rectangle 48"/>
            <p:cNvSpPr/>
            <p:nvPr/>
          </p:nvSpPr>
          <p:spPr>
            <a:xfrm>
              <a:off x="373627" y="5733924"/>
              <a:ext cx="11163556" cy="945095"/>
            </a:xfrm>
            <a:prstGeom prst="roundRect">
              <a:avLst/>
            </a:prstGeom>
            <a:solidFill>
              <a:srgbClr val="5DDE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50" name="Rounded Rectangle 49"/>
            <p:cNvSpPr/>
            <p:nvPr/>
          </p:nvSpPr>
          <p:spPr>
            <a:xfrm>
              <a:off x="522255" y="5729588"/>
              <a:ext cx="11571422" cy="946879"/>
            </a:xfrm>
            <a:prstGeom prst="roundRect">
              <a:avLst/>
            </a:prstGeom>
            <a:solidFill>
              <a:srgbClr val="0D0D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237498" y="413394"/>
              <a:ext cx="5650849" cy="1593735"/>
            </a:xfrm>
            <a:prstGeom prst="roundRect">
              <a:avLst>
                <a:gd name="adj" fmla="val 7500"/>
              </a:avLst>
            </a:prstGeom>
            <a:solidFill>
              <a:srgbClr val="5DDE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60" name="5-Point Star 59"/>
            <p:cNvSpPr/>
            <p:nvPr/>
          </p:nvSpPr>
          <p:spPr>
            <a:xfrm>
              <a:off x="6634993" y="474554"/>
              <a:ext cx="294709" cy="215076"/>
            </a:xfrm>
            <a:prstGeom prst="star5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6541457" y="776237"/>
              <a:ext cx="120097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2000" b="1" kern="1500" spc="100" dirty="0">
                  <a:solidFill>
                    <a:schemeClr val="bg1"/>
                  </a:solidFill>
                  <a:latin typeface="Impact" panose="020B0806030902050204" pitchFamily="34" charset="0"/>
                  <a:cs typeface="Times New Roman" panose="02020603050405020304" pitchFamily="18" charset="0"/>
                </a:rPr>
                <a:t>$356.6M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6499619" y="1128049"/>
              <a:ext cx="100219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1050" dirty="0" smtClean="0">
                  <a:solidFill>
                    <a:schemeClr val="bg1"/>
                  </a:solidFill>
                  <a:latin typeface="Britannic Bold" panose="020B0903060703020204" pitchFamily="34" charset="0"/>
                </a:rPr>
                <a:t>In-Store Sales</a:t>
              </a:r>
              <a:endParaRPr lang="en-CA" sz="1050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  <p:grpSp>
          <p:nvGrpSpPr>
            <p:cNvPr id="69" name="Group 68"/>
            <p:cNvGrpSpPr/>
            <p:nvPr/>
          </p:nvGrpSpPr>
          <p:grpSpPr>
            <a:xfrm rot="366446">
              <a:off x="8044603" y="1297309"/>
              <a:ext cx="3856729" cy="45719"/>
              <a:chOff x="1413534" y="1589642"/>
              <a:chExt cx="3414035" cy="4395247"/>
            </a:xfrm>
          </p:grpSpPr>
          <p:sp>
            <p:nvSpPr>
              <p:cNvPr id="63" name="Isosceles Triangle 62"/>
              <p:cNvSpPr/>
              <p:nvPr/>
            </p:nvSpPr>
            <p:spPr>
              <a:xfrm rot="1464109">
                <a:off x="1884129" y="1685314"/>
                <a:ext cx="2943440" cy="3352800"/>
              </a:xfrm>
              <a:prstGeom prst="triangle">
                <a:avLst/>
              </a:prstGeom>
              <a:solidFill>
                <a:srgbClr val="98EE42">
                  <a:alpha val="21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grpSp>
            <p:nvGrpSpPr>
              <p:cNvPr id="68" name="Group 67"/>
              <p:cNvGrpSpPr/>
              <p:nvPr/>
            </p:nvGrpSpPr>
            <p:grpSpPr>
              <a:xfrm>
                <a:off x="1413534" y="1589642"/>
                <a:ext cx="3085440" cy="4395247"/>
                <a:chOff x="1413534" y="1589642"/>
                <a:chExt cx="3085440" cy="4395247"/>
              </a:xfrm>
            </p:grpSpPr>
            <p:sp>
              <p:nvSpPr>
                <p:cNvPr id="65" name="Isosceles Triangle 64"/>
                <p:cNvSpPr/>
                <p:nvPr/>
              </p:nvSpPr>
              <p:spPr>
                <a:xfrm rot="1464109">
                  <a:off x="1555534" y="1589642"/>
                  <a:ext cx="2943440" cy="3352800"/>
                </a:xfrm>
                <a:prstGeom prst="triangle">
                  <a:avLst/>
                </a:prstGeom>
                <a:solidFill>
                  <a:srgbClr val="98EE42">
                    <a:alpha val="21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sp>
              <p:nvSpPr>
                <p:cNvPr id="64" name="Isosceles Triangle 63"/>
                <p:cNvSpPr/>
                <p:nvPr/>
              </p:nvSpPr>
              <p:spPr>
                <a:xfrm rot="8265233">
                  <a:off x="1413534" y="2632089"/>
                  <a:ext cx="2943440" cy="3352800"/>
                </a:xfrm>
                <a:prstGeom prst="triangle">
                  <a:avLst/>
                </a:prstGeom>
                <a:solidFill>
                  <a:srgbClr val="98EE42">
                    <a:alpha val="21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</p:grpSp>
        </p:grpSp>
        <p:sp>
          <p:nvSpPr>
            <p:cNvPr id="67" name="Rectangle 66"/>
            <p:cNvSpPr/>
            <p:nvPr/>
          </p:nvSpPr>
          <p:spPr>
            <a:xfrm>
              <a:off x="6499619" y="1365790"/>
              <a:ext cx="2075668" cy="21544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CA" sz="800" dirty="0" smtClean="0">
                  <a:solidFill>
                    <a:schemeClr val="bg1"/>
                  </a:solidFill>
                  <a:latin typeface="Britannic Bold" panose="020B0903060703020204" pitchFamily="34" charset="0"/>
                </a:rPr>
                <a:t>Market Share</a:t>
              </a:r>
              <a:endParaRPr lang="en-CA" sz="800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  <p:sp>
          <p:nvSpPr>
            <p:cNvPr id="70" name="Rounded Rectangle 69"/>
            <p:cNvSpPr/>
            <p:nvPr/>
          </p:nvSpPr>
          <p:spPr>
            <a:xfrm>
              <a:off x="6621171" y="1663939"/>
              <a:ext cx="4753398" cy="63402"/>
            </a:xfrm>
            <a:prstGeom prst="roundRect">
              <a:avLst/>
            </a:prstGeom>
            <a:solidFill>
              <a:srgbClr val="C9C9B5">
                <a:alpha val="46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/>
            </a:p>
          </p:txBody>
        </p:sp>
        <p:sp>
          <p:nvSpPr>
            <p:cNvPr id="71" name="Rounded Rectangle 70"/>
            <p:cNvSpPr/>
            <p:nvPr/>
          </p:nvSpPr>
          <p:spPr>
            <a:xfrm>
              <a:off x="6621171" y="1663939"/>
              <a:ext cx="1954117" cy="6340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/>
            </a:p>
          </p:txBody>
        </p:sp>
        <p:sp>
          <p:nvSpPr>
            <p:cNvPr id="58" name="Rounded Rectangle 57"/>
            <p:cNvSpPr/>
            <p:nvPr/>
          </p:nvSpPr>
          <p:spPr>
            <a:xfrm>
              <a:off x="9970487" y="646101"/>
              <a:ext cx="1261800" cy="185770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 dirty="0"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9998741" y="617992"/>
              <a:ext cx="123354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900" dirty="0" smtClean="0">
                  <a:solidFill>
                    <a:schemeClr val="bg1"/>
                  </a:solidFill>
                  <a:latin typeface="Cooper Black" panose="0208090404030B020404" pitchFamily="18" charset="0"/>
                </a:rPr>
                <a:t>#1 CHANNEL</a:t>
              </a:r>
              <a:endParaRPr lang="en-CA" sz="900" dirty="0">
                <a:solidFill>
                  <a:schemeClr val="bg1"/>
                </a:solidFill>
                <a:latin typeface="Cooper Black" panose="0208090404030B020404" pitchFamily="18" charset="0"/>
              </a:endParaRPr>
            </a:p>
          </p:txBody>
        </p:sp>
        <p:sp>
          <p:nvSpPr>
            <p:cNvPr id="72" name="Rectangle 71"/>
            <p:cNvSpPr/>
            <p:nvPr/>
          </p:nvSpPr>
          <p:spPr>
            <a:xfrm>
              <a:off x="10329444" y="1390940"/>
              <a:ext cx="807236" cy="21544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CA" sz="800" dirty="0" smtClean="0">
                  <a:solidFill>
                    <a:schemeClr val="bg1"/>
                  </a:solidFill>
                  <a:latin typeface="Britannic Bold" panose="020B0903060703020204" pitchFamily="34" charset="0"/>
                </a:rPr>
                <a:t>39.6%</a:t>
              </a:r>
              <a:endParaRPr lang="en-CA" sz="1600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  <p:sp>
          <p:nvSpPr>
            <p:cNvPr id="75" name="Rectangle 74"/>
            <p:cNvSpPr/>
            <p:nvPr/>
          </p:nvSpPr>
          <p:spPr>
            <a:xfrm>
              <a:off x="522255" y="1433889"/>
              <a:ext cx="5533668" cy="3859588"/>
            </a:xfrm>
            <a:prstGeom prst="rect">
              <a:avLst/>
            </a:prstGeom>
            <a:solidFill>
              <a:srgbClr val="0D0D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graphicFrame>
          <p:nvGraphicFramePr>
            <p:cNvPr id="74" name="Chart 73">
              <a:extLst>
                <a:ext uri="{FF2B5EF4-FFF2-40B4-BE49-F238E27FC236}">
                  <a16:creationId xmlns:a16="http://schemas.microsoft.com/office/drawing/2014/main" id="{0F03A7E6-896E-4374-A5B9-98F91293B7BC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4155541228"/>
                </p:ext>
              </p:extLst>
            </p:nvPr>
          </p:nvGraphicFramePr>
          <p:xfrm>
            <a:off x="703830" y="1619153"/>
            <a:ext cx="5105573" cy="354278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77" name="Rounded Rectangle 76"/>
            <p:cNvSpPr/>
            <p:nvPr/>
          </p:nvSpPr>
          <p:spPr>
            <a:xfrm>
              <a:off x="6237498" y="2111204"/>
              <a:ext cx="5650849" cy="1584344"/>
            </a:xfrm>
            <a:prstGeom prst="roundRect">
              <a:avLst>
                <a:gd name="adj" fmla="val 7500"/>
              </a:avLst>
            </a:prstGeom>
            <a:solidFill>
              <a:srgbClr val="5DDE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6467082" y="2239595"/>
              <a:ext cx="120097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2000" b="1" kern="1500" spc="100" dirty="0">
                  <a:solidFill>
                    <a:schemeClr val="bg1"/>
                  </a:solidFill>
                  <a:latin typeface="Impact" panose="020B0806030902050204" pitchFamily="34" charset="0"/>
                  <a:cs typeface="Times New Roman" panose="02020603050405020304" pitchFamily="18" charset="0"/>
                </a:rPr>
                <a:t>$356.6M</a:t>
              </a: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6499619" y="2711292"/>
              <a:ext cx="100219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1050" dirty="0" smtClean="0">
                  <a:solidFill>
                    <a:schemeClr val="bg1"/>
                  </a:solidFill>
                  <a:latin typeface="Britannic Bold" panose="020B0903060703020204" pitchFamily="34" charset="0"/>
                </a:rPr>
                <a:t>In-Store Sales</a:t>
              </a:r>
              <a:endParaRPr lang="en-CA" sz="1050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  <p:grpSp>
          <p:nvGrpSpPr>
            <p:cNvPr id="81" name="Group 80"/>
            <p:cNvGrpSpPr/>
            <p:nvPr/>
          </p:nvGrpSpPr>
          <p:grpSpPr>
            <a:xfrm rot="21226335" flipV="1">
              <a:off x="8040014" y="2888782"/>
              <a:ext cx="3732178" cy="63133"/>
              <a:chOff x="1413534" y="1589642"/>
              <a:chExt cx="3414035" cy="4395247"/>
            </a:xfrm>
          </p:grpSpPr>
          <p:sp>
            <p:nvSpPr>
              <p:cNvPr id="82" name="Isosceles Triangle 81"/>
              <p:cNvSpPr/>
              <p:nvPr/>
            </p:nvSpPr>
            <p:spPr>
              <a:xfrm rot="1464109">
                <a:off x="1884129" y="1685314"/>
                <a:ext cx="2943440" cy="3352800"/>
              </a:xfrm>
              <a:prstGeom prst="triangle">
                <a:avLst/>
              </a:prstGeom>
              <a:solidFill>
                <a:srgbClr val="98EE42">
                  <a:alpha val="21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grpSp>
            <p:nvGrpSpPr>
              <p:cNvPr id="83" name="Group 82"/>
              <p:cNvGrpSpPr/>
              <p:nvPr/>
            </p:nvGrpSpPr>
            <p:grpSpPr>
              <a:xfrm>
                <a:off x="1413534" y="1589642"/>
                <a:ext cx="3085440" cy="4395247"/>
                <a:chOff x="1413534" y="1589642"/>
                <a:chExt cx="3085440" cy="4395247"/>
              </a:xfrm>
            </p:grpSpPr>
            <p:sp>
              <p:nvSpPr>
                <p:cNvPr id="84" name="Isosceles Triangle 83"/>
                <p:cNvSpPr/>
                <p:nvPr/>
              </p:nvSpPr>
              <p:spPr>
                <a:xfrm rot="1464109">
                  <a:off x="1555534" y="1589642"/>
                  <a:ext cx="2943440" cy="3352800"/>
                </a:xfrm>
                <a:prstGeom prst="triangle">
                  <a:avLst/>
                </a:prstGeom>
                <a:solidFill>
                  <a:srgbClr val="98EE42">
                    <a:alpha val="21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sp>
              <p:nvSpPr>
                <p:cNvPr id="85" name="Isosceles Triangle 84"/>
                <p:cNvSpPr/>
                <p:nvPr/>
              </p:nvSpPr>
              <p:spPr>
                <a:xfrm rot="8265233">
                  <a:off x="1413534" y="2632089"/>
                  <a:ext cx="2943440" cy="3352800"/>
                </a:xfrm>
                <a:prstGeom prst="triangle">
                  <a:avLst/>
                </a:prstGeom>
                <a:solidFill>
                  <a:srgbClr val="98EE42">
                    <a:alpha val="21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</p:grpSp>
        </p:grpSp>
        <p:sp>
          <p:nvSpPr>
            <p:cNvPr id="86" name="Rectangle 85"/>
            <p:cNvSpPr/>
            <p:nvPr/>
          </p:nvSpPr>
          <p:spPr>
            <a:xfrm>
              <a:off x="6499619" y="3005049"/>
              <a:ext cx="2075668" cy="21544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CA" sz="800" dirty="0" smtClean="0">
                  <a:solidFill>
                    <a:schemeClr val="bg1"/>
                  </a:solidFill>
                  <a:latin typeface="Britannic Bold" panose="020B0903060703020204" pitchFamily="34" charset="0"/>
                </a:rPr>
                <a:t>Market Share</a:t>
              </a:r>
              <a:endParaRPr lang="en-CA" sz="800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  <p:sp>
          <p:nvSpPr>
            <p:cNvPr id="87" name="Rounded Rectangle 86"/>
            <p:cNvSpPr/>
            <p:nvPr/>
          </p:nvSpPr>
          <p:spPr>
            <a:xfrm>
              <a:off x="6621171" y="3303198"/>
              <a:ext cx="4753398" cy="63402"/>
            </a:xfrm>
            <a:prstGeom prst="roundRect">
              <a:avLst/>
            </a:prstGeom>
            <a:solidFill>
              <a:srgbClr val="C9C9B5">
                <a:alpha val="46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/>
            </a:p>
          </p:txBody>
        </p:sp>
        <p:sp>
          <p:nvSpPr>
            <p:cNvPr id="88" name="Rounded Rectangle 87"/>
            <p:cNvSpPr/>
            <p:nvPr/>
          </p:nvSpPr>
          <p:spPr>
            <a:xfrm>
              <a:off x="6621172" y="3302989"/>
              <a:ext cx="1537994" cy="62023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/>
            </a:p>
          </p:txBody>
        </p:sp>
        <p:sp>
          <p:nvSpPr>
            <p:cNvPr id="89" name="Rounded Rectangle 88"/>
            <p:cNvSpPr/>
            <p:nvPr/>
          </p:nvSpPr>
          <p:spPr>
            <a:xfrm>
              <a:off x="9970487" y="2204954"/>
              <a:ext cx="1261800" cy="138351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 dirty="0"/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9998741" y="2141274"/>
              <a:ext cx="109033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900" dirty="0" smtClean="0">
                  <a:solidFill>
                    <a:schemeClr val="bg1"/>
                  </a:solidFill>
                  <a:latin typeface="Cooper Black" panose="0208090404030B020404" pitchFamily="18" charset="0"/>
                </a:rPr>
                <a:t>#2 CHANNEL</a:t>
              </a:r>
              <a:endParaRPr lang="en-CA" sz="900" dirty="0">
                <a:solidFill>
                  <a:schemeClr val="bg1"/>
                </a:solidFill>
                <a:latin typeface="Cooper Black" panose="0208090404030B020404" pitchFamily="18" charset="0"/>
              </a:endParaRPr>
            </a:p>
          </p:txBody>
        </p:sp>
        <p:sp>
          <p:nvSpPr>
            <p:cNvPr id="91" name="Rectangle 90"/>
            <p:cNvSpPr/>
            <p:nvPr/>
          </p:nvSpPr>
          <p:spPr>
            <a:xfrm>
              <a:off x="10329444" y="2882719"/>
              <a:ext cx="807236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CA" sz="900" dirty="0" smtClean="0">
                  <a:solidFill>
                    <a:schemeClr val="bg1"/>
                  </a:solidFill>
                  <a:latin typeface="Britannic Bold" panose="020B0903060703020204" pitchFamily="34" charset="0"/>
                </a:rPr>
                <a:t>32.8%</a:t>
              </a:r>
              <a:endParaRPr lang="en-CA" sz="1400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  <p:sp>
          <p:nvSpPr>
            <p:cNvPr id="92" name="Rounded Rectangle 91"/>
            <p:cNvSpPr/>
            <p:nvPr/>
          </p:nvSpPr>
          <p:spPr>
            <a:xfrm>
              <a:off x="6237498" y="3819287"/>
              <a:ext cx="5650849" cy="1584344"/>
            </a:xfrm>
            <a:prstGeom prst="roundRect">
              <a:avLst>
                <a:gd name="adj" fmla="val 7500"/>
              </a:avLst>
            </a:prstGeom>
            <a:solidFill>
              <a:srgbClr val="5DDE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6496524" y="3953341"/>
              <a:ext cx="120097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2000" b="1" kern="1500" spc="100" dirty="0">
                  <a:solidFill>
                    <a:schemeClr val="bg1"/>
                  </a:solidFill>
                  <a:latin typeface="Impact" panose="020B0806030902050204" pitchFamily="34" charset="0"/>
                  <a:cs typeface="Times New Roman" panose="02020603050405020304" pitchFamily="18" charset="0"/>
                </a:rPr>
                <a:t>$356.6M</a:t>
              </a: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6496524" y="4423661"/>
              <a:ext cx="933269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1050" dirty="0" smtClean="0">
                  <a:solidFill>
                    <a:schemeClr val="bg1"/>
                  </a:solidFill>
                  <a:latin typeface="Britannic Bold" panose="020B0903060703020204" pitchFamily="34" charset="0"/>
                </a:rPr>
                <a:t>Online</a:t>
              </a:r>
              <a:r>
                <a:rPr lang="en-CA" sz="1000" dirty="0" smtClean="0">
                  <a:solidFill>
                    <a:schemeClr val="bg1"/>
                  </a:solidFill>
                  <a:latin typeface="Britannic Bold" panose="020B0903060703020204" pitchFamily="34" charset="0"/>
                </a:rPr>
                <a:t> Share</a:t>
              </a:r>
              <a:endParaRPr lang="en-CA" sz="1000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  <p:grpSp>
          <p:nvGrpSpPr>
            <p:cNvPr id="96" name="Group 95"/>
            <p:cNvGrpSpPr/>
            <p:nvPr/>
          </p:nvGrpSpPr>
          <p:grpSpPr>
            <a:xfrm rot="21175577" flipV="1">
              <a:off x="8041649" y="4588802"/>
              <a:ext cx="3740634" cy="46154"/>
              <a:chOff x="1413534" y="1589642"/>
              <a:chExt cx="3414035" cy="4395247"/>
            </a:xfrm>
          </p:grpSpPr>
          <p:sp>
            <p:nvSpPr>
              <p:cNvPr id="97" name="Isosceles Triangle 96"/>
              <p:cNvSpPr/>
              <p:nvPr/>
            </p:nvSpPr>
            <p:spPr>
              <a:xfrm rot="1464109">
                <a:off x="1884129" y="1685314"/>
                <a:ext cx="2943440" cy="3352800"/>
              </a:xfrm>
              <a:prstGeom prst="triangle">
                <a:avLst/>
              </a:prstGeom>
              <a:solidFill>
                <a:srgbClr val="98EE42">
                  <a:alpha val="21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grpSp>
            <p:nvGrpSpPr>
              <p:cNvPr id="98" name="Group 97"/>
              <p:cNvGrpSpPr/>
              <p:nvPr/>
            </p:nvGrpSpPr>
            <p:grpSpPr>
              <a:xfrm>
                <a:off x="1413534" y="1589642"/>
                <a:ext cx="3085440" cy="4395247"/>
                <a:chOff x="1413534" y="1589642"/>
                <a:chExt cx="3085440" cy="4395247"/>
              </a:xfrm>
            </p:grpSpPr>
            <p:sp>
              <p:nvSpPr>
                <p:cNvPr id="99" name="Isosceles Triangle 98"/>
                <p:cNvSpPr/>
                <p:nvPr/>
              </p:nvSpPr>
              <p:spPr>
                <a:xfrm rot="1464109">
                  <a:off x="1555534" y="1589642"/>
                  <a:ext cx="2943440" cy="3352800"/>
                </a:xfrm>
                <a:prstGeom prst="triangle">
                  <a:avLst/>
                </a:prstGeom>
                <a:solidFill>
                  <a:srgbClr val="98EE42">
                    <a:alpha val="21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sp>
              <p:nvSpPr>
                <p:cNvPr id="100" name="Isosceles Triangle 99"/>
                <p:cNvSpPr/>
                <p:nvPr/>
              </p:nvSpPr>
              <p:spPr>
                <a:xfrm rot="8265233">
                  <a:off x="1413534" y="2632089"/>
                  <a:ext cx="2943440" cy="3352800"/>
                </a:xfrm>
                <a:prstGeom prst="triangle">
                  <a:avLst/>
                </a:prstGeom>
                <a:solidFill>
                  <a:srgbClr val="98EE42">
                    <a:alpha val="21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</p:grpSp>
        </p:grpSp>
        <p:sp>
          <p:nvSpPr>
            <p:cNvPr id="101" name="Rectangle 100"/>
            <p:cNvSpPr/>
            <p:nvPr/>
          </p:nvSpPr>
          <p:spPr>
            <a:xfrm>
              <a:off x="6499619" y="4770633"/>
              <a:ext cx="2075668" cy="21544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CA" sz="800" dirty="0" smtClean="0">
                  <a:solidFill>
                    <a:schemeClr val="bg1"/>
                  </a:solidFill>
                  <a:latin typeface="Britannic Bold" panose="020B0903060703020204" pitchFamily="34" charset="0"/>
                </a:rPr>
                <a:t>Market Share</a:t>
              </a:r>
              <a:endParaRPr lang="en-CA" sz="800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  <p:sp>
          <p:nvSpPr>
            <p:cNvPr id="102" name="Rounded Rectangle 101"/>
            <p:cNvSpPr/>
            <p:nvPr/>
          </p:nvSpPr>
          <p:spPr>
            <a:xfrm>
              <a:off x="6621171" y="5078614"/>
              <a:ext cx="4753398" cy="63402"/>
            </a:xfrm>
            <a:prstGeom prst="roundRect">
              <a:avLst/>
            </a:prstGeom>
            <a:solidFill>
              <a:srgbClr val="C9C9B5">
                <a:alpha val="46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/>
            </a:p>
          </p:txBody>
        </p:sp>
        <p:sp>
          <p:nvSpPr>
            <p:cNvPr id="103" name="Rounded Rectangle 102"/>
            <p:cNvSpPr/>
            <p:nvPr/>
          </p:nvSpPr>
          <p:spPr>
            <a:xfrm>
              <a:off x="6621172" y="5070282"/>
              <a:ext cx="1381674" cy="6340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/>
            </a:p>
          </p:txBody>
        </p:sp>
        <p:sp>
          <p:nvSpPr>
            <p:cNvPr id="104" name="Rounded Rectangle 103"/>
            <p:cNvSpPr/>
            <p:nvPr/>
          </p:nvSpPr>
          <p:spPr>
            <a:xfrm>
              <a:off x="9970487" y="3879794"/>
              <a:ext cx="1274906" cy="189759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 dirty="0"/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9998741" y="3867209"/>
              <a:ext cx="123354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900" dirty="0" smtClean="0">
                  <a:solidFill>
                    <a:schemeClr val="bg1"/>
                  </a:solidFill>
                  <a:latin typeface="Cooper Black" panose="0208090404030B020404" pitchFamily="18" charset="0"/>
                </a:rPr>
                <a:t>#3 CHANNEL</a:t>
              </a:r>
              <a:endParaRPr lang="en-CA" sz="900" dirty="0">
                <a:solidFill>
                  <a:schemeClr val="bg1"/>
                </a:solidFill>
                <a:latin typeface="Cooper Black" panose="0208090404030B020404" pitchFamily="18" charset="0"/>
              </a:endParaRPr>
            </a:p>
          </p:txBody>
        </p:sp>
        <p:sp>
          <p:nvSpPr>
            <p:cNvPr id="106" name="Rectangle 105"/>
            <p:cNvSpPr/>
            <p:nvPr/>
          </p:nvSpPr>
          <p:spPr>
            <a:xfrm>
              <a:off x="10329444" y="4589302"/>
              <a:ext cx="807236" cy="21544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CA" sz="800" dirty="0" smtClean="0">
                  <a:solidFill>
                    <a:schemeClr val="bg1"/>
                  </a:solidFill>
                  <a:latin typeface="Britannic Bold" panose="020B0903060703020204" pitchFamily="34" charset="0"/>
                </a:rPr>
                <a:t>27.5%</a:t>
              </a:r>
              <a:endParaRPr lang="en-CA" sz="1400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  <p:grpSp>
          <p:nvGrpSpPr>
            <p:cNvPr id="111" name="Group 110"/>
            <p:cNvGrpSpPr/>
            <p:nvPr/>
          </p:nvGrpSpPr>
          <p:grpSpPr>
            <a:xfrm>
              <a:off x="1330644" y="5768935"/>
              <a:ext cx="1864839" cy="810209"/>
              <a:chOff x="1330644" y="5768935"/>
              <a:chExt cx="1864839" cy="810209"/>
            </a:xfrm>
          </p:grpSpPr>
          <p:sp>
            <p:nvSpPr>
              <p:cNvPr id="108" name="Rectangle 107"/>
              <p:cNvSpPr/>
              <p:nvPr/>
            </p:nvSpPr>
            <p:spPr>
              <a:xfrm>
                <a:off x="1456799" y="6020913"/>
                <a:ext cx="106952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CA" b="1" kern="1500" spc="100" dirty="0" smtClean="0">
                    <a:solidFill>
                      <a:srgbClr val="5DDE16"/>
                    </a:solidFill>
                    <a:latin typeface="Impact" panose="020B0806030902050204" pitchFamily="34" charset="0"/>
                    <a:cs typeface="Times New Roman" panose="02020603050405020304" pitchFamily="18" charset="0"/>
                  </a:rPr>
                  <a:t>$108.9M</a:t>
                </a:r>
                <a:endParaRPr lang="en-CA" b="1" kern="1500" spc="100" dirty="0">
                  <a:solidFill>
                    <a:srgbClr val="5DDE16"/>
                  </a:solidFill>
                  <a:latin typeface="Impact" panose="020B080603090205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9" name="Rectangle 108"/>
              <p:cNvSpPr/>
              <p:nvPr/>
            </p:nvSpPr>
            <p:spPr>
              <a:xfrm>
                <a:off x="1520919" y="5768935"/>
                <a:ext cx="976549" cy="2616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CA" sz="1100" dirty="0" smtClean="0">
                    <a:solidFill>
                      <a:schemeClr val="tx1">
                        <a:lumMod val="65000"/>
                      </a:schemeClr>
                    </a:solidFill>
                    <a:latin typeface="Britannic Bold" panose="020B0903060703020204" pitchFamily="34" charset="0"/>
                  </a:rPr>
                  <a:t>Channel Gap</a:t>
                </a:r>
                <a:endParaRPr lang="en-CA" sz="1100" dirty="0">
                  <a:solidFill>
                    <a:schemeClr val="tx1">
                      <a:lumMod val="65000"/>
                    </a:schemeClr>
                  </a:solidFill>
                  <a:latin typeface="Britannic Bold" panose="020B0903060703020204" pitchFamily="34" charset="0"/>
                </a:endParaRPr>
              </a:p>
            </p:txBody>
          </p:sp>
          <p:sp>
            <p:nvSpPr>
              <p:cNvPr id="110" name="Rectangle 109"/>
              <p:cNvSpPr/>
              <p:nvPr/>
            </p:nvSpPr>
            <p:spPr>
              <a:xfrm>
                <a:off x="1330644" y="6317534"/>
                <a:ext cx="1864839" cy="2616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CA" sz="1050" dirty="0" smtClean="0">
                    <a:solidFill>
                      <a:schemeClr val="tx1">
                        <a:lumMod val="65000"/>
                      </a:schemeClr>
                    </a:solidFill>
                    <a:latin typeface="Britannic Bold" panose="020B0903060703020204" pitchFamily="34" charset="0"/>
                  </a:rPr>
                  <a:t>Between #1 and #3</a:t>
                </a:r>
                <a:endParaRPr lang="en-CA" sz="1050" dirty="0">
                  <a:solidFill>
                    <a:schemeClr val="tx1">
                      <a:lumMod val="65000"/>
                    </a:schemeClr>
                  </a:solidFill>
                  <a:latin typeface="Britannic Bold" panose="020B0903060703020204" pitchFamily="34" charset="0"/>
                </a:endParaRPr>
              </a:p>
            </p:txBody>
          </p:sp>
        </p:grpSp>
        <p:grpSp>
          <p:nvGrpSpPr>
            <p:cNvPr id="112" name="Group 111"/>
            <p:cNvGrpSpPr/>
            <p:nvPr/>
          </p:nvGrpSpPr>
          <p:grpSpPr>
            <a:xfrm>
              <a:off x="3974065" y="5770420"/>
              <a:ext cx="1359844" cy="813049"/>
              <a:chOff x="1520919" y="5768935"/>
              <a:chExt cx="1359844" cy="813049"/>
            </a:xfrm>
          </p:grpSpPr>
          <p:sp>
            <p:nvSpPr>
              <p:cNvPr id="113" name="Rectangle 112"/>
              <p:cNvSpPr/>
              <p:nvPr/>
            </p:nvSpPr>
            <p:spPr>
              <a:xfrm>
                <a:off x="1732954" y="6019428"/>
                <a:ext cx="75052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CA" b="1" kern="1500" spc="100" dirty="0" smtClean="0">
                    <a:solidFill>
                      <a:srgbClr val="5DDE16"/>
                    </a:solidFill>
                    <a:latin typeface="Impact" panose="020B0806030902050204" pitchFamily="34" charset="0"/>
                    <a:cs typeface="Times New Roman" panose="02020603050405020304" pitchFamily="18" charset="0"/>
                  </a:rPr>
                  <a:t>+44%</a:t>
                </a:r>
                <a:endParaRPr lang="en-CA" b="1" kern="1500" spc="100" dirty="0">
                  <a:solidFill>
                    <a:srgbClr val="5DDE16"/>
                  </a:solidFill>
                  <a:latin typeface="Impact" panose="020B080603090205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4" name="Rectangle 113"/>
              <p:cNvSpPr/>
              <p:nvPr/>
            </p:nvSpPr>
            <p:spPr>
              <a:xfrm>
                <a:off x="1520919" y="5768935"/>
                <a:ext cx="1277914" cy="2616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CA" sz="1100" dirty="0" smtClean="0">
                    <a:solidFill>
                      <a:schemeClr val="tx1">
                        <a:lumMod val="65000"/>
                      </a:schemeClr>
                    </a:solidFill>
                    <a:latin typeface="Britannic Bold" panose="020B0903060703020204" pitchFamily="34" charset="0"/>
                  </a:rPr>
                  <a:t>In-store vs Online</a:t>
                </a:r>
                <a:endParaRPr lang="en-CA" sz="1100" dirty="0">
                  <a:solidFill>
                    <a:schemeClr val="tx1">
                      <a:lumMod val="65000"/>
                    </a:schemeClr>
                  </a:solidFill>
                  <a:latin typeface="Britannic Bold" panose="020B0903060703020204" pitchFamily="34" charset="0"/>
                </a:endParaRPr>
              </a:p>
            </p:txBody>
          </p:sp>
          <p:sp>
            <p:nvSpPr>
              <p:cNvPr id="115" name="Rectangle 114"/>
              <p:cNvSpPr/>
              <p:nvPr/>
            </p:nvSpPr>
            <p:spPr>
              <a:xfrm>
                <a:off x="1528827" y="6328068"/>
                <a:ext cx="1351936" cy="2539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CA" sz="1050" dirty="0" smtClean="0">
                    <a:solidFill>
                      <a:schemeClr val="tx1">
                        <a:lumMod val="65000"/>
                      </a:schemeClr>
                    </a:solidFill>
                    <a:latin typeface="Britannic Bold" panose="020B0903060703020204" pitchFamily="34" charset="0"/>
                  </a:rPr>
                  <a:t>Revenue advantage</a:t>
                </a:r>
                <a:endParaRPr lang="en-CA" sz="1050" dirty="0">
                  <a:solidFill>
                    <a:schemeClr val="tx1">
                      <a:lumMod val="65000"/>
                    </a:schemeClr>
                  </a:solidFill>
                  <a:latin typeface="Britannic Bold" panose="020B0903060703020204" pitchFamily="34" charset="0"/>
                </a:endParaRPr>
              </a:p>
            </p:txBody>
          </p:sp>
        </p:grpSp>
        <p:grpSp>
          <p:nvGrpSpPr>
            <p:cNvPr id="116" name="Group 115"/>
            <p:cNvGrpSpPr/>
            <p:nvPr/>
          </p:nvGrpSpPr>
          <p:grpSpPr>
            <a:xfrm>
              <a:off x="6416118" y="5792562"/>
              <a:ext cx="1406154" cy="797468"/>
              <a:chOff x="1314084" y="5767820"/>
              <a:chExt cx="1406154" cy="797468"/>
            </a:xfrm>
          </p:grpSpPr>
          <p:sp>
            <p:nvSpPr>
              <p:cNvPr id="117" name="Rectangle 116"/>
              <p:cNvSpPr/>
              <p:nvPr/>
            </p:nvSpPr>
            <p:spPr>
              <a:xfrm>
                <a:off x="1456799" y="6020913"/>
                <a:ext cx="89479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CA" b="1" kern="1500" spc="100" dirty="0" smtClean="0">
                    <a:solidFill>
                      <a:srgbClr val="5DDE16"/>
                    </a:solidFill>
                    <a:latin typeface="Impact" panose="020B0806030902050204" pitchFamily="34" charset="0"/>
                    <a:cs typeface="Times New Roman" panose="02020603050405020304" pitchFamily="18" charset="0"/>
                  </a:rPr>
                  <a:t>Strong</a:t>
                </a:r>
                <a:endParaRPr lang="en-CA" b="1" kern="1500" spc="100" dirty="0">
                  <a:solidFill>
                    <a:srgbClr val="5DDE16"/>
                  </a:solidFill>
                  <a:latin typeface="Impact" panose="020B080603090205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8" name="Rectangle 117"/>
              <p:cNvSpPr/>
              <p:nvPr/>
            </p:nvSpPr>
            <p:spPr>
              <a:xfrm>
                <a:off x="1314084" y="5767820"/>
                <a:ext cx="1406154" cy="2616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CA" sz="1100" dirty="0" smtClean="0">
                    <a:solidFill>
                      <a:schemeClr val="tx1">
                        <a:lumMod val="65000"/>
                      </a:schemeClr>
                    </a:solidFill>
                    <a:latin typeface="Britannic Bold" panose="020B0903060703020204" pitchFamily="34" charset="0"/>
                  </a:rPr>
                  <a:t>Outlet Performance</a:t>
                </a:r>
                <a:endParaRPr lang="en-CA" sz="1100" dirty="0">
                  <a:solidFill>
                    <a:schemeClr val="tx1">
                      <a:lumMod val="65000"/>
                    </a:schemeClr>
                  </a:solidFill>
                  <a:latin typeface="Britannic Bold" panose="020B0903060703020204" pitchFamily="34" charset="0"/>
                </a:endParaRPr>
              </a:p>
            </p:txBody>
          </p:sp>
          <p:sp>
            <p:nvSpPr>
              <p:cNvPr id="119" name="Rectangle 118"/>
              <p:cNvSpPr/>
              <p:nvPr/>
            </p:nvSpPr>
            <p:spPr>
              <a:xfrm>
                <a:off x="1473200" y="6311372"/>
                <a:ext cx="1177290" cy="2539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CA" sz="1050" dirty="0" smtClean="0">
                    <a:solidFill>
                      <a:schemeClr val="tx1">
                        <a:lumMod val="65000"/>
                      </a:schemeClr>
                    </a:solidFill>
                    <a:latin typeface="Britannic Bold" panose="020B0903060703020204" pitchFamily="34" charset="0"/>
                  </a:rPr>
                  <a:t>32.8% share</a:t>
                </a:r>
                <a:endParaRPr lang="en-CA" sz="1050" dirty="0">
                  <a:solidFill>
                    <a:schemeClr val="tx1">
                      <a:lumMod val="65000"/>
                    </a:schemeClr>
                  </a:solidFill>
                  <a:latin typeface="Britannic Bold" panose="020B0903060703020204" pitchFamily="34" charset="0"/>
                </a:endParaRPr>
              </a:p>
            </p:txBody>
          </p:sp>
        </p:grpSp>
        <p:grpSp>
          <p:nvGrpSpPr>
            <p:cNvPr id="120" name="Group 119"/>
            <p:cNvGrpSpPr/>
            <p:nvPr/>
          </p:nvGrpSpPr>
          <p:grpSpPr>
            <a:xfrm>
              <a:off x="9100201" y="5765666"/>
              <a:ext cx="1864839" cy="796360"/>
              <a:chOff x="1486026" y="5768935"/>
              <a:chExt cx="1864839" cy="796360"/>
            </a:xfrm>
          </p:grpSpPr>
          <p:sp>
            <p:nvSpPr>
              <p:cNvPr id="121" name="Rectangle 120"/>
              <p:cNvSpPr/>
              <p:nvPr/>
            </p:nvSpPr>
            <p:spPr>
              <a:xfrm>
                <a:off x="1856162" y="5994014"/>
                <a:ext cx="67037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CA" b="1" kern="1500" spc="100" dirty="0" smtClean="0">
                    <a:solidFill>
                      <a:srgbClr val="5DDE16"/>
                    </a:solidFill>
                    <a:latin typeface="Impact" panose="020B0806030902050204" pitchFamily="34" charset="0"/>
                    <a:cs typeface="Times New Roman" panose="02020603050405020304" pitchFamily="18" charset="0"/>
                  </a:rPr>
                  <a:t>High</a:t>
                </a:r>
                <a:endParaRPr lang="en-CA" b="1" kern="1500" spc="100" dirty="0">
                  <a:solidFill>
                    <a:srgbClr val="5DDE16"/>
                  </a:solidFill>
                  <a:latin typeface="Impact" panose="020B080603090205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2" name="Rectangle 121"/>
              <p:cNvSpPr/>
              <p:nvPr/>
            </p:nvSpPr>
            <p:spPr>
              <a:xfrm>
                <a:off x="1520919" y="5768935"/>
                <a:ext cx="1370888" cy="2616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CA" sz="1100" dirty="0" smtClean="0">
                    <a:solidFill>
                      <a:schemeClr val="tx1">
                        <a:lumMod val="65000"/>
                      </a:schemeClr>
                    </a:solidFill>
                    <a:latin typeface="Britannic Bold" panose="020B0903060703020204" pitchFamily="34" charset="0"/>
                  </a:rPr>
                  <a:t>Digital Opportunity</a:t>
                </a:r>
                <a:endParaRPr lang="en-CA" sz="1100" dirty="0">
                  <a:solidFill>
                    <a:schemeClr val="tx1">
                      <a:lumMod val="65000"/>
                    </a:schemeClr>
                  </a:solidFill>
                  <a:latin typeface="Britannic Bold" panose="020B0903060703020204" pitchFamily="34" charset="0"/>
                </a:endParaRPr>
              </a:p>
            </p:txBody>
          </p:sp>
          <p:sp>
            <p:nvSpPr>
              <p:cNvPr id="123" name="Rectangle 122"/>
              <p:cNvSpPr/>
              <p:nvPr/>
            </p:nvSpPr>
            <p:spPr>
              <a:xfrm>
                <a:off x="1486026" y="6303685"/>
                <a:ext cx="1864839" cy="2616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CA" sz="1050" dirty="0" smtClean="0">
                    <a:solidFill>
                      <a:schemeClr val="tx1">
                        <a:lumMod val="65000"/>
                      </a:schemeClr>
                    </a:solidFill>
                    <a:latin typeface="Britannic Bold" panose="020B0903060703020204" pitchFamily="34" charset="0"/>
                  </a:rPr>
                  <a:t>Expand online presence</a:t>
                </a:r>
                <a:endParaRPr lang="en-CA" sz="1050" dirty="0">
                  <a:solidFill>
                    <a:schemeClr val="tx1">
                      <a:lumMod val="65000"/>
                    </a:schemeClr>
                  </a:solidFill>
                  <a:latin typeface="Britannic Bold" panose="020B0903060703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42024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roup 136"/>
          <p:cNvGrpSpPr/>
          <p:nvPr/>
        </p:nvGrpSpPr>
        <p:grpSpPr>
          <a:xfrm>
            <a:off x="183127" y="231099"/>
            <a:ext cx="12624988" cy="6231396"/>
            <a:chOff x="373627" y="183474"/>
            <a:chExt cx="12624988" cy="6231396"/>
          </a:xfrm>
        </p:grpSpPr>
        <p:sp>
          <p:nvSpPr>
            <p:cNvPr id="11" name="Rounded Rectangle 10"/>
            <p:cNvSpPr/>
            <p:nvPr/>
          </p:nvSpPr>
          <p:spPr>
            <a:xfrm>
              <a:off x="474630" y="183474"/>
              <a:ext cx="2052413" cy="283443"/>
            </a:xfrm>
            <a:prstGeom prst="roundRect">
              <a:avLst/>
            </a:prstGeom>
            <a:solidFill>
              <a:srgbClr val="5DDE16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CA" sz="1050" dirty="0" smtClean="0">
                  <a:solidFill>
                    <a:schemeClr val="bg1"/>
                  </a:solidFill>
                  <a:latin typeface="Cooper Black" panose="0208090404030B020404" pitchFamily="18" charset="0"/>
                </a:rPr>
                <a:t>07/GROWTH ANALYSIS</a:t>
              </a:r>
              <a:endParaRPr lang="en-CA" sz="1200" dirty="0">
                <a:solidFill>
                  <a:schemeClr val="bg1"/>
                </a:solidFill>
                <a:latin typeface="Cooper Black" panose="0208090404030B020404" pitchFamily="18" charset="0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73627" y="504423"/>
              <a:ext cx="50937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dirty="0" smtClean="0">
                  <a:solidFill>
                    <a:schemeClr val="tx2">
                      <a:lumMod val="90000"/>
                    </a:schemeClr>
                  </a:solidFill>
                  <a:latin typeface="Cooper Black" panose="0208090404030B020404" pitchFamily="18" charset="0"/>
                </a:rPr>
                <a:t>Product Growth &amp; Opportunity Analysis</a:t>
              </a:r>
              <a:endParaRPr lang="en-CA" sz="2800" dirty="0" smtClean="0">
                <a:solidFill>
                  <a:schemeClr val="tx2">
                    <a:lumMod val="90000"/>
                  </a:schemeClr>
                </a:solidFill>
                <a:latin typeface="Cooper Black" panose="0208090404030B020404" pitchFamily="18" charset="0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73627" y="876823"/>
              <a:ext cx="7558479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CA" sz="1100" dirty="0" smtClean="0">
                  <a:solidFill>
                    <a:schemeClr val="tx2">
                      <a:lumMod val="90000"/>
                    </a:schemeClr>
                  </a:solidFill>
                  <a:latin typeface="Britannic Bold" panose="020B0903060703020204" pitchFamily="34" charset="0"/>
                  <a:cs typeface="Times New Roman" panose="02020603050405020304" pitchFamily="18" charset="0"/>
                </a:rPr>
                <a:t>Identifying high-potential categories and optimization opportunities</a:t>
              </a:r>
            </a:p>
          </p:txBody>
        </p:sp>
        <p:sp>
          <p:nvSpPr>
            <p:cNvPr id="77" name="Rounded Rectangle 76"/>
            <p:cNvSpPr/>
            <p:nvPr/>
          </p:nvSpPr>
          <p:spPr>
            <a:xfrm>
              <a:off x="474630" y="1469384"/>
              <a:ext cx="5650849" cy="2473966"/>
            </a:xfrm>
            <a:prstGeom prst="roundRect">
              <a:avLst>
                <a:gd name="adj" fmla="val 7500"/>
              </a:avLst>
            </a:prstGeom>
            <a:solidFill>
              <a:srgbClr val="5DDE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78" name="5-Point Star 77"/>
            <p:cNvSpPr/>
            <p:nvPr/>
          </p:nvSpPr>
          <p:spPr>
            <a:xfrm>
              <a:off x="852616" y="1649945"/>
              <a:ext cx="294709" cy="288875"/>
            </a:xfrm>
            <a:prstGeom prst="star5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/>
            </a:p>
          </p:txBody>
        </p:sp>
        <p:grpSp>
          <p:nvGrpSpPr>
            <p:cNvPr id="81" name="Group 80"/>
            <p:cNvGrpSpPr/>
            <p:nvPr/>
          </p:nvGrpSpPr>
          <p:grpSpPr>
            <a:xfrm rot="366446">
              <a:off x="2256470" y="2351952"/>
              <a:ext cx="3856729" cy="520674"/>
              <a:chOff x="1413534" y="1589642"/>
              <a:chExt cx="3414035" cy="4395247"/>
            </a:xfrm>
          </p:grpSpPr>
          <p:sp>
            <p:nvSpPr>
              <p:cNvPr id="82" name="Isosceles Triangle 81"/>
              <p:cNvSpPr/>
              <p:nvPr/>
            </p:nvSpPr>
            <p:spPr>
              <a:xfrm rot="1464109">
                <a:off x="1884129" y="1685314"/>
                <a:ext cx="2943440" cy="3352800"/>
              </a:xfrm>
              <a:prstGeom prst="triangle">
                <a:avLst/>
              </a:prstGeom>
              <a:solidFill>
                <a:srgbClr val="98EE42">
                  <a:alpha val="21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grpSp>
            <p:nvGrpSpPr>
              <p:cNvPr id="83" name="Group 82"/>
              <p:cNvGrpSpPr/>
              <p:nvPr/>
            </p:nvGrpSpPr>
            <p:grpSpPr>
              <a:xfrm>
                <a:off x="1413534" y="1589642"/>
                <a:ext cx="3085440" cy="4395247"/>
                <a:chOff x="1413534" y="1589642"/>
                <a:chExt cx="3085440" cy="4395247"/>
              </a:xfrm>
            </p:grpSpPr>
            <p:sp>
              <p:nvSpPr>
                <p:cNvPr id="84" name="Isosceles Triangle 83"/>
                <p:cNvSpPr/>
                <p:nvPr/>
              </p:nvSpPr>
              <p:spPr>
                <a:xfrm rot="1464109">
                  <a:off x="1555534" y="1589642"/>
                  <a:ext cx="2943440" cy="3352800"/>
                </a:xfrm>
                <a:prstGeom prst="triangle">
                  <a:avLst/>
                </a:prstGeom>
                <a:solidFill>
                  <a:srgbClr val="98EE42">
                    <a:alpha val="21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sp>
              <p:nvSpPr>
                <p:cNvPr id="85" name="Isosceles Triangle 84"/>
                <p:cNvSpPr/>
                <p:nvPr/>
              </p:nvSpPr>
              <p:spPr>
                <a:xfrm rot="8265233">
                  <a:off x="1413534" y="2632089"/>
                  <a:ext cx="2943440" cy="3352800"/>
                </a:xfrm>
                <a:prstGeom prst="triangle">
                  <a:avLst/>
                </a:prstGeom>
                <a:solidFill>
                  <a:srgbClr val="98EE42">
                    <a:alpha val="21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</p:grpSp>
        </p:grpSp>
        <p:sp>
          <p:nvSpPr>
            <p:cNvPr id="89" name="Rounded Rectangle 88"/>
            <p:cNvSpPr/>
            <p:nvPr/>
          </p:nvSpPr>
          <p:spPr>
            <a:xfrm>
              <a:off x="1289829" y="1640606"/>
              <a:ext cx="1956593" cy="226116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 dirty="0"/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1426266" y="1649945"/>
              <a:ext cx="172081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900" dirty="0" smtClean="0">
                  <a:solidFill>
                    <a:schemeClr val="bg1"/>
                  </a:solidFill>
                  <a:latin typeface="Cooper Black" panose="0208090404030B020404" pitchFamily="18" charset="0"/>
                </a:rPr>
                <a:t>GROWTH OPPORTUNITY</a:t>
              </a:r>
              <a:endParaRPr lang="en-CA" sz="900" dirty="0">
                <a:solidFill>
                  <a:schemeClr val="bg1"/>
                </a:solidFill>
                <a:latin typeface="Cooper Black" panose="0208090404030B020404" pitchFamily="18" charset="0"/>
              </a:endParaRPr>
            </a:p>
          </p:txBody>
        </p:sp>
        <p:sp>
          <p:nvSpPr>
            <p:cNvPr id="92" name="Rectangle 91"/>
            <p:cNvSpPr/>
            <p:nvPr/>
          </p:nvSpPr>
          <p:spPr>
            <a:xfrm>
              <a:off x="1204554" y="1885113"/>
              <a:ext cx="2529246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CA" sz="1400" dirty="0" smtClean="0">
                  <a:solidFill>
                    <a:schemeClr val="bg1"/>
                  </a:solidFill>
                  <a:latin typeface="Britannic Bold" panose="020B0903060703020204" pitchFamily="34" charset="0"/>
                  <a:cs typeface="Times New Roman" panose="02020603050405020304" pitchFamily="18" charset="0"/>
                </a:rPr>
                <a:t>Women’s Athletic Footwear</a:t>
              </a:r>
              <a:endParaRPr lang="en-CA" sz="1400" dirty="0">
                <a:solidFill>
                  <a:schemeClr val="bg1"/>
                </a:solidFill>
                <a:latin typeface="Britannic Bold" panose="020B0903060703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93" name="Rounded Rectangle 92"/>
            <p:cNvSpPr/>
            <p:nvPr/>
          </p:nvSpPr>
          <p:spPr>
            <a:xfrm>
              <a:off x="624533" y="2309086"/>
              <a:ext cx="2502839" cy="786427"/>
            </a:xfrm>
            <a:prstGeom prst="roundRect">
              <a:avLst>
                <a:gd name="adj" fmla="val 18401"/>
              </a:avLst>
            </a:prstGeom>
            <a:solidFill>
              <a:srgbClr val="98EE4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94" name="Rectangle 93"/>
            <p:cNvSpPr/>
            <p:nvPr/>
          </p:nvSpPr>
          <p:spPr>
            <a:xfrm>
              <a:off x="707892" y="2407168"/>
              <a:ext cx="851127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CA" sz="1200" b="1" kern="1500" spc="100" dirty="0" smtClean="0">
                  <a:solidFill>
                    <a:schemeClr val="bg1"/>
                  </a:solidFill>
                  <a:latin typeface="Impact" panose="020B0806030902050204" pitchFamily="34" charset="0"/>
                  <a:cs typeface="Times New Roman" panose="02020603050405020304" pitchFamily="18" charset="0"/>
                </a:rPr>
                <a:t>$108.9M</a:t>
              </a:r>
              <a:endParaRPr lang="en-CA" sz="1200" b="1" kern="1500" spc="100" dirty="0">
                <a:solidFill>
                  <a:schemeClr val="bg1"/>
                </a:solidFill>
                <a:latin typeface="Impact" panose="020B080603090205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95" name="Rectangle 94"/>
            <p:cNvSpPr/>
            <p:nvPr/>
          </p:nvSpPr>
          <p:spPr>
            <a:xfrm>
              <a:off x="702523" y="2694188"/>
              <a:ext cx="1037463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CA" sz="1100" dirty="0" smtClean="0">
                  <a:solidFill>
                    <a:schemeClr val="bg1">
                      <a:lumMod val="95000"/>
                      <a:lumOff val="5000"/>
                    </a:schemeClr>
                  </a:solidFill>
                  <a:latin typeface="Britannic Bold" panose="020B0903060703020204" pitchFamily="34" charset="0"/>
                </a:rPr>
                <a:t>Current Sales</a:t>
              </a:r>
              <a:endParaRPr lang="en-CA" dirty="0">
                <a:solidFill>
                  <a:schemeClr val="bg1">
                    <a:lumMod val="95000"/>
                    <a:lumOff val="5000"/>
                  </a:schemeClr>
                </a:solidFill>
                <a:latin typeface="Britannic Bold" panose="020B0903060703020204" pitchFamily="34" charset="0"/>
              </a:endParaRPr>
            </a:p>
          </p:txBody>
        </p:sp>
        <p:sp>
          <p:nvSpPr>
            <p:cNvPr id="96" name="Rounded Rectangle 95"/>
            <p:cNvSpPr/>
            <p:nvPr/>
          </p:nvSpPr>
          <p:spPr>
            <a:xfrm>
              <a:off x="3234296" y="2309086"/>
              <a:ext cx="2694184" cy="786427"/>
            </a:xfrm>
            <a:prstGeom prst="roundRect">
              <a:avLst>
                <a:gd name="adj" fmla="val 18401"/>
              </a:avLst>
            </a:prstGeom>
            <a:solidFill>
              <a:srgbClr val="98EE4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97" name="Rectangle 96"/>
            <p:cNvSpPr/>
            <p:nvPr/>
          </p:nvSpPr>
          <p:spPr>
            <a:xfrm>
              <a:off x="3334825" y="2407168"/>
              <a:ext cx="851127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CA" sz="1200" b="1" kern="1500" spc="100" dirty="0" smtClean="0">
                  <a:solidFill>
                    <a:schemeClr val="bg1"/>
                  </a:solidFill>
                  <a:latin typeface="Impact" panose="020B0806030902050204" pitchFamily="34" charset="0"/>
                  <a:cs typeface="Times New Roman" panose="02020603050405020304" pitchFamily="18" charset="0"/>
                </a:rPr>
                <a:t>11.8%</a:t>
              </a:r>
              <a:endParaRPr lang="en-CA" sz="1200" b="1" kern="1500" spc="100" dirty="0">
                <a:solidFill>
                  <a:schemeClr val="bg1"/>
                </a:solidFill>
                <a:latin typeface="Impact" panose="020B080603090205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98" name="Rectangle 97"/>
            <p:cNvSpPr/>
            <p:nvPr/>
          </p:nvSpPr>
          <p:spPr>
            <a:xfrm>
              <a:off x="3329456" y="2694188"/>
              <a:ext cx="1019831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CA" sz="1100" dirty="0" smtClean="0">
                  <a:solidFill>
                    <a:schemeClr val="bg1">
                      <a:lumMod val="95000"/>
                      <a:lumOff val="5000"/>
                    </a:schemeClr>
                  </a:solidFill>
                  <a:latin typeface="Britannic Bold" panose="020B0903060703020204" pitchFamily="34" charset="0"/>
                </a:rPr>
                <a:t>Market Share</a:t>
              </a:r>
              <a:endParaRPr lang="en-CA" dirty="0">
                <a:solidFill>
                  <a:schemeClr val="bg1">
                    <a:lumMod val="95000"/>
                    <a:lumOff val="5000"/>
                  </a:schemeClr>
                </a:solidFill>
                <a:latin typeface="Britannic Bold" panose="020B0903060703020204" pitchFamily="34" charset="0"/>
              </a:endParaRPr>
            </a:p>
          </p:txBody>
        </p:sp>
        <p:sp>
          <p:nvSpPr>
            <p:cNvPr id="99" name="Rectangle 98"/>
            <p:cNvSpPr/>
            <p:nvPr/>
          </p:nvSpPr>
          <p:spPr>
            <a:xfrm>
              <a:off x="527763" y="3220930"/>
              <a:ext cx="5459925" cy="4770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CA" sz="1400" dirty="0" smtClean="0">
                  <a:solidFill>
                    <a:schemeClr val="bg1">
                      <a:lumMod val="95000"/>
                      <a:lumOff val="5000"/>
                    </a:schemeClr>
                  </a:solidFill>
                  <a:latin typeface="Britannic Bold" panose="020B0903060703020204" pitchFamily="34" charset="0"/>
                  <a:cs typeface="Times New Roman" panose="02020603050405020304" pitchFamily="18" charset="0"/>
                </a:rPr>
                <a:t>STRATEGY: </a:t>
              </a:r>
              <a:r>
                <a:rPr lang="en-CA" sz="1100" dirty="0" smtClean="0">
                  <a:solidFill>
                    <a:schemeClr val="bg1">
                      <a:lumMod val="95000"/>
                      <a:lumOff val="5000"/>
                    </a:schemeClr>
                  </a:solidFill>
                  <a:latin typeface="Britannic Bold" panose="020B0903060703020204" pitchFamily="34" charset="0"/>
                  <a:cs typeface="Times New Roman" panose="02020603050405020304" pitchFamily="18" charset="0"/>
                </a:rPr>
                <a:t>Expand product lines, increase marketing investment and leverage the growing women’s fitness market trend</a:t>
              </a:r>
              <a:endParaRPr lang="en-CA" sz="1400" dirty="0">
                <a:solidFill>
                  <a:schemeClr val="bg1">
                    <a:lumMod val="95000"/>
                    <a:lumOff val="5000"/>
                  </a:schemeClr>
                </a:solidFill>
                <a:latin typeface="Britannic Bold" panose="020B0903060703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00" name="Rounded Rectangle 99"/>
            <p:cNvSpPr/>
            <p:nvPr/>
          </p:nvSpPr>
          <p:spPr>
            <a:xfrm>
              <a:off x="474630" y="4306061"/>
              <a:ext cx="11163556" cy="2108809"/>
            </a:xfrm>
            <a:prstGeom prst="roundRect">
              <a:avLst/>
            </a:prstGeom>
            <a:solidFill>
              <a:srgbClr val="5DDE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101" name="Rounded Rectangle 100"/>
            <p:cNvSpPr/>
            <p:nvPr/>
          </p:nvSpPr>
          <p:spPr>
            <a:xfrm>
              <a:off x="624533" y="4300733"/>
              <a:ext cx="11571422" cy="2112789"/>
            </a:xfrm>
            <a:prstGeom prst="roundRect">
              <a:avLst/>
            </a:prstGeom>
            <a:solidFill>
              <a:srgbClr val="0D0D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118" name="Flowchart: Summing Junction 117"/>
            <p:cNvSpPr/>
            <p:nvPr/>
          </p:nvSpPr>
          <p:spPr>
            <a:xfrm>
              <a:off x="848249" y="4682511"/>
              <a:ext cx="370155" cy="329095"/>
            </a:xfrm>
            <a:prstGeom prst="flowChartSummingJunction">
              <a:avLst/>
            </a:prstGeom>
            <a:solidFill>
              <a:srgbClr val="5DDE16"/>
            </a:solidFill>
            <a:ln w="38100">
              <a:solidFill>
                <a:srgbClr val="1C1C1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19" name="Rectangle 118"/>
            <p:cNvSpPr/>
            <p:nvPr/>
          </p:nvSpPr>
          <p:spPr>
            <a:xfrm>
              <a:off x="1268913" y="4760705"/>
              <a:ext cx="2591732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CA" dirty="0" smtClean="0">
                  <a:latin typeface="Britannic Bold" panose="020B0903060703020204" pitchFamily="34" charset="0"/>
                  <a:cs typeface="Times New Roman" panose="02020603050405020304" pitchFamily="18" charset="0"/>
                </a:rPr>
                <a:t>Men’s Street Footwear</a:t>
              </a:r>
              <a:endParaRPr lang="en-CA" dirty="0">
                <a:latin typeface="Britannic Bold" panose="020B0903060703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20" name="Rectangle 119"/>
            <p:cNvSpPr/>
            <p:nvPr/>
          </p:nvSpPr>
          <p:spPr>
            <a:xfrm>
              <a:off x="1307013" y="4601423"/>
              <a:ext cx="1311578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CA" sz="1200" dirty="0" smtClean="0">
                  <a:solidFill>
                    <a:srgbClr val="5DDE16"/>
                  </a:solidFill>
                  <a:latin typeface="Britannic Bold" panose="020B0903060703020204" pitchFamily="34" charset="0"/>
                  <a:cs typeface="Times New Roman" panose="02020603050405020304" pitchFamily="18" charset="0"/>
                </a:rPr>
                <a:t>MARKET LEADER</a:t>
              </a:r>
              <a:endParaRPr lang="en-CA" sz="1200" dirty="0">
                <a:solidFill>
                  <a:srgbClr val="5DDE16"/>
                </a:solidFill>
                <a:latin typeface="Britannic Bold" panose="020B0903060703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21" name="Rectangle 120"/>
            <p:cNvSpPr/>
            <p:nvPr/>
          </p:nvSpPr>
          <p:spPr>
            <a:xfrm>
              <a:off x="1470804" y="5325564"/>
              <a:ext cx="109517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CA" b="1" kern="1500" spc="100" dirty="0" smtClean="0">
                  <a:solidFill>
                    <a:srgbClr val="5DDE16"/>
                  </a:solidFill>
                  <a:latin typeface="Impact" panose="020B0806030902050204" pitchFamily="34" charset="0"/>
                  <a:cs typeface="Times New Roman" panose="02020603050405020304" pitchFamily="18" charset="0"/>
                </a:rPr>
                <a:t>$208.8M</a:t>
              </a:r>
              <a:endParaRPr lang="en-CA" b="1" kern="1500" spc="100" dirty="0">
                <a:solidFill>
                  <a:srgbClr val="5DDE16"/>
                </a:solidFill>
                <a:latin typeface="Impact" panose="020B080603090205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22" name="Rectangle 121"/>
            <p:cNvSpPr/>
            <p:nvPr/>
          </p:nvSpPr>
          <p:spPr>
            <a:xfrm>
              <a:off x="1613677" y="5712063"/>
              <a:ext cx="590226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CA" sz="1200" dirty="0" smtClean="0">
                  <a:solidFill>
                    <a:srgbClr val="C9C9B5"/>
                  </a:solidFill>
                  <a:latin typeface="Britannic Bold" panose="020B0903060703020204" pitchFamily="34" charset="0"/>
                </a:rPr>
                <a:t> </a:t>
              </a:r>
              <a:r>
                <a:rPr lang="en-CA" sz="1200" dirty="0">
                  <a:solidFill>
                    <a:srgbClr val="C9C9B5"/>
                  </a:solidFill>
                  <a:latin typeface="Britannic Bold" panose="020B0903060703020204" pitchFamily="34" charset="0"/>
                </a:rPr>
                <a:t>Sales</a:t>
              </a:r>
              <a:endParaRPr lang="en-CA" dirty="0">
                <a:solidFill>
                  <a:srgbClr val="C9C9B5"/>
                </a:solidFill>
                <a:latin typeface="Britannic Bold" panose="020B0903060703020204" pitchFamily="34" charset="0"/>
              </a:endParaRPr>
            </a:p>
          </p:txBody>
        </p:sp>
        <p:sp>
          <p:nvSpPr>
            <p:cNvPr id="125" name="Rectangle 124"/>
            <p:cNvSpPr/>
            <p:nvPr/>
          </p:nvSpPr>
          <p:spPr>
            <a:xfrm>
              <a:off x="5440425" y="5306365"/>
              <a:ext cx="80502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CA" b="1" kern="1500" spc="100" dirty="0" smtClean="0">
                  <a:solidFill>
                    <a:srgbClr val="5DDE16"/>
                  </a:solidFill>
                  <a:latin typeface="Impact" panose="020B0806030902050204" pitchFamily="34" charset="0"/>
                  <a:cs typeface="Times New Roman" panose="02020603050405020304" pitchFamily="18" charset="0"/>
                </a:rPr>
                <a:t>23.2%</a:t>
              </a:r>
              <a:endParaRPr lang="en-CA" b="1" kern="1500" spc="100" dirty="0">
                <a:solidFill>
                  <a:srgbClr val="5DDE16"/>
                </a:solidFill>
                <a:latin typeface="Impact" panose="020B080603090205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26" name="Rectangle 125"/>
            <p:cNvSpPr/>
            <p:nvPr/>
          </p:nvSpPr>
          <p:spPr>
            <a:xfrm>
              <a:off x="5529391" y="5692864"/>
              <a:ext cx="627095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CA" sz="1200" dirty="0" smtClean="0">
                  <a:solidFill>
                    <a:srgbClr val="C9C9B5"/>
                  </a:solidFill>
                  <a:latin typeface="Britannic Bold" panose="020B0903060703020204" pitchFamily="34" charset="0"/>
                </a:rPr>
                <a:t> Share</a:t>
              </a:r>
              <a:endParaRPr lang="en-CA" dirty="0">
                <a:solidFill>
                  <a:srgbClr val="C9C9B5"/>
                </a:solidFill>
                <a:latin typeface="Britannic Bold" panose="020B0903060703020204" pitchFamily="34" charset="0"/>
              </a:endParaRPr>
            </a:p>
          </p:txBody>
        </p:sp>
        <p:sp>
          <p:nvSpPr>
            <p:cNvPr id="127" name="Rectangle 126"/>
            <p:cNvSpPr/>
            <p:nvPr/>
          </p:nvSpPr>
          <p:spPr>
            <a:xfrm>
              <a:off x="9781642" y="5306365"/>
              <a:ext cx="112562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CA" b="1" kern="1500" spc="100" dirty="0" smtClean="0">
                  <a:solidFill>
                    <a:srgbClr val="5DDE16"/>
                  </a:solidFill>
                  <a:latin typeface="Impact" panose="020B0806030902050204" pitchFamily="34" charset="0"/>
                  <a:cs typeface="Times New Roman" panose="02020603050405020304" pitchFamily="18" charset="0"/>
                </a:rPr>
                <a:t>Maintain</a:t>
              </a:r>
              <a:endParaRPr lang="en-CA" b="1" kern="1500" spc="100" dirty="0">
                <a:solidFill>
                  <a:srgbClr val="5DDE16"/>
                </a:solidFill>
                <a:latin typeface="Impact" panose="020B080603090205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28" name="Rectangle 127"/>
            <p:cNvSpPr/>
            <p:nvPr/>
          </p:nvSpPr>
          <p:spPr>
            <a:xfrm>
              <a:off x="9924515" y="5692864"/>
              <a:ext cx="790601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CA" sz="1200" dirty="0" smtClean="0">
                  <a:solidFill>
                    <a:srgbClr val="C9C9B5"/>
                  </a:solidFill>
                  <a:latin typeface="Britannic Bold" panose="020B0903060703020204" pitchFamily="34" charset="0"/>
                </a:rPr>
                <a:t> Strategy</a:t>
              </a:r>
              <a:endParaRPr lang="en-CA" dirty="0">
                <a:solidFill>
                  <a:srgbClr val="C9C9B5"/>
                </a:solidFill>
                <a:latin typeface="Britannic Bold" panose="020B0903060703020204" pitchFamily="34" charset="0"/>
              </a:endParaRPr>
            </a:p>
          </p:txBody>
        </p:sp>
        <p:sp>
          <p:nvSpPr>
            <p:cNvPr id="129" name="Rounded Rectangle 128"/>
            <p:cNvSpPr/>
            <p:nvPr/>
          </p:nvSpPr>
          <p:spPr>
            <a:xfrm>
              <a:off x="6275382" y="1478531"/>
              <a:ext cx="5430843" cy="2447535"/>
            </a:xfrm>
            <a:prstGeom prst="roundRect">
              <a:avLst/>
            </a:prstGeom>
            <a:solidFill>
              <a:srgbClr val="0D0D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130" name="Oval 129"/>
            <p:cNvSpPr/>
            <p:nvPr/>
          </p:nvSpPr>
          <p:spPr>
            <a:xfrm>
              <a:off x="6609293" y="2140468"/>
              <a:ext cx="230399" cy="265636"/>
            </a:xfrm>
            <a:prstGeom prst="ellipse">
              <a:avLst/>
            </a:prstGeom>
            <a:solidFill>
              <a:srgbClr val="5DDE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31" name="Oval 130"/>
            <p:cNvSpPr/>
            <p:nvPr/>
          </p:nvSpPr>
          <p:spPr>
            <a:xfrm>
              <a:off x="6600648" y="2615196"/>
              <a:ext cx="230399" cy="265636"/>
            </a:xfrm>
            <a:prstGeom prst="ellipse">
              <a:avLst/>
            </a:pr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132" name="Oval 131"/>
            <p:cNvSpPr/>
            <p:nvPr/>
          </p:nvSpPr>
          <p:spPr>
            <a:xfrm>
              <a:off x="6600647" y="3137813"/>
              <a:ext cx="230399" cy="265636"/>
            </a:xfrm>
            <a:prstGeom prst="ellipse">
              <a:avLst/>
            </a:prstGeom>
            <a:solidFill>
              <a:srgbClr val="5DDE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133" name="TextBox 132"/>
            <p:cNvSpPr txBox="1"/>
            <p:nvPr/>
          </p:nvSpPr>
          <p:spPr>
            <a:xfrm>
              <a:off x="6902616" y="1731224"/>
              <a:ext cx="240482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1400" dirty="0">
                  <a:latin typeface="Britannic Bold" panose="020B0903060703020204" pitchFamily="34" charset="0"/>
                  <a:cs typeface="Times New Roman" panose="02020603050405020304" pitchFamily="18" charset="0"/>
                </a:rPr>
                <a:t>Strategic Recommendations</a:t>
              </a:r>
            </a:p>
          </p:txBody>
        </p:sp>
        <p:sp>
          <p:nvSpPr>
            <p:cNvPr id="134" name="TextBox 133"/>
            <p:cNvSpPr txBox="1"/>
            <p:nvPr/>
          </p:nvSpPr>
          <p:spPr>
            <a:xfrm flipH="1">
              <a:off x="6902615" y="2119385"/>
              <a:ext cx="480360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100" dirty="0">
                  <a:solidFill>
                    <a:schemeClr val="tx2">
                      <a:lumMod val="90000"/>
                    </a:schemeClr>
                  </a:solidFill>
                  <a:latin typeface="Britannic Bold" panose="020B0903060703020204" pitchFamily="34" charset="0"/>
                  <a:cs typeface="Times New Roman" panose="02020603050405020304" pitchFamily="18" charset="0"/>
                </a:rPr>
                <a:t>Expand Women’s Athletic: Increase product variety and marketing spend</a:t>
              </a:r>
            </a:p>
          </p:txBody>
        </p:sp>
        <p:sp>
          <p:nvSpPr>
            <p:cNvPr id="135" name="Rectangle 134"/>
            <p:cNvSpPr/>
            <p:nvPr/>
          </p:nvSpPr>
          <p:spPr>
            <a:xfrm>
              <a:off x="6902615" y="2615196"/>
              <a:ext cx="4953513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CA" sz="1100" dirty="0" smtClean="0">
                  <a:solidFill>
                    <a:schemeClr val="tx2">
                      <a:lumMod val="90000"/>
                    </a:schemeClr>
                  </a:solidFill>
                  <a:latin typeface="Britannic Bold" panose="020B0903060703020204" pitchFamily="34" charset="0"/>
                  <a:cs typeface="Times New Roman" panose="02020603050405020304" pitchFamily="18" charset="0"/>
                </a:rPr>
                <a:t>Optimize Apparel Mix</a:t>
              </a:r>
              <a:r>
                <a:rPr lang="en-CA" sz="1100" dirty="0" smtClean="0">
                  <a:solidFill>
                    <a:schemeClr val="tx2">
                      <a:lumMod val="90000"/>
                    </a:schemeClr>
                  </a:solidFill>
                  <a:latin typeface="Britannic Bold" panose="020B0903060703020204" pitchFamily="34" charset="0"/>
                  <a:cs typeface="Times New Roman" panose="02020603050405020304" pitchFamily="18" charset="0"/>
                </a:rPr>
                <a:t>: Balance Men’s and Women’s Apparel portfolio</a:t>
              </a:r>
              <a:endParaRPr lang="en-CA" sz="1100" dirty="0">
                <a:solidFill>
                  <a:schemeClr val="tx2">
                    <a:lumMod val="90000"/>
                  </a:schemeClr>
                </a:solidFill>
                <a:latin typeface="Britannic Bold" panose="020B0903060703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36" name="Rectangle 135"/>
            <p:cNvSpPr/>
            <p:nvPr/>
          </p:nvSpPr>
          <p:spPr>
            <a:xfrm>
              <a:off x="6902615" y="3147055"/>
              <a:ext cx="6096000" cy="26161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r>
                <a:rPr lang="en-CA" sz="1100" dirty="0" smtClean="0">
                  <a:solidFill>
                    <a:schemeClr val="tx2">
                      <a:lumMod val="90000"/>
                    </a:schemeClr>
                  </a:solidFill>
                  <a:latin typeface="Britannic Bold" panose="020B0903060703020204" pitchFamily="34" charset="0"/>
                  <a:cs typeface="Times New Roman" panose="02020603050405020304" pitchFamily="18" charset="0"/>
                </a:rPr>
                <a:t>Maintain Footwear </a:t>
              </a:r>
              <a:r>
                <a:rPr lang="en-CA" sz="1100" dirty="0" err="1" smtClean="0">
                  <a:solidFill>
                    <a:schemeClr val="tx2">
                      <a:lumMod val="90000"/>
                    </a:schemeClr>
                  </a:solidFill>
                  <a:latin typeface="Britannic Bold" panose="020B0903060703020204" pitchFamily="34" charset="0"/>
                  <a:cs typeface="Times New Roman" panose="02020603050405020304" pitchFamily="18" charset="0"/>
                </a:rPr>
                <a:t>Leadershio</a:t>
              </a:r>
              <a:r>
                <a:rPr lang="en-CA" sz="1100" dirty="0" smtClean="0">
                  <a:solidFill>
                    <a:schemeClr val="tx2">
                      <a:lumMod val="90000"/>
                    </a:schemeClr>
                  </a:solidFill>
                  <a:latin typeface="Britannic Bold" panose="020B0903060703020204" pitchFamily="34" charset="0"/>
                  <a:cs typeface="Times New Roman" panose="02020603050405020304" pitchFamily="18" charset="0"/>
                </a:rPr>
                <a:t>: </a:t>
              </a:r>
              <a:r>
                <a:rPr lang="en-CA" sz="1100" dirty="0">
                  <a:solidFill>
                    <a:schemeClr val="tx2">
                      <a:lumMod val="90000"/>
                    </a:schemeClr>
                  </a:solidFill>
                  <a:latin typeface="Britannic Bold" panose="020B0903060703020204" pitchFamily="34" charset="0"/>
                  <a:cs typeface="Times New Roman" panose="02020603050405020304" pitchFamily="18" charset="0"/>
                </a:rPr>
                <a:t>Increase product variety and marketing spend</a:t>
              </a:r>
              <a:endParaRPr lang="en-CA" sz="1100" dirty="0">
                <a:solidFill>
                  <a:schemeClr val="tx2">
                    <a:lumMod val="90000"/>
                  </a:schemeClr>
                </a:solidFill>
                <a:latin typeface="Britannic Bold" panose="020B090306070302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47024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roup 105"/>
          <p:cNvGrpSpPr/>
          <p:nvPr/>
        </p:nvGrpSpPr>
        <p:grpSpPr>
          <a:xfrm>
            <a:off x="373627" y="215262"/>
            <a:ext cx="11333717" cy="6347463"/>
            <a:chOff x="373627" y="158112"/>
            <a:chExt cx="11333717" cy="6347463"/>
          </a:xfrm>
        </p:grpSpPr>
        <p:sp>
          <p:nvSpPr>
            <p:cNvPr id="2" name="Rounded Rectangle 1"/>
            <p:cNvSpPr/>
            <p:nvPr/>
          </p:nvSpPr>
          <p:spPr>
            <a:xfrm>
              <a:off x="474630" y="158112"/>
              <a:ext cx="2844768" cy="308805"/>
            </a:xfrm>
            <a:prstGeom prst="roundRect">
              <a:avLst/>
            </a:prstGeom>
            <a:solidFill>
              <a:srgbClr val="5DDE16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CA" sz="1050" dirty="0" smtClean="0">
                  <a:solidFill>
                    <a:schemeClr val="bg1"/>
                  </a:solidFill>
                  <a:latin typeface="Cooper Black" panose="0208090404030B020404" pitchFamily="18" charset="0"/>
                </a:rPr>
                <a:t>08/STRATEGIC RECOMMENDATIONS</a:t>
              </a:r>
              <a:endParaRPr lang="en-CA" sz="1200" dirty="0">
                <a:solidFill>
                  <a:schemeClr val="bg1"/>
                </a:solidFill>
                <a:latin typeface="Cooper Black" panose="0208090404030B020404" pitchFamily="18" charset="0"/>
              </a:endParaRP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373627" y="504423"/>
              <a:ext cx="50937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dirty="0" smtClean="0">
                  <a:solidFill>
                    <a:schemeClr val="tx2">
                      <a:lumMod val="90000"/>
                    </a:schemeClr>
                  </a:solidFill>
                  <a:latin typeface="Cooper Black" panose="0208090404030B020404" pitchFamily="18" charset="0"/>
                </a:rPr>
                <a:t>Product Strategy &amp; Cannel Optimization</a:t>
              </a:r>
              <a:endParaRPr lang="en-CA" sz="2800" dirty="0" smtClean="0">
                <a:solidFill>
                  <a:schemeClr val="tx2">
                    <a:lumMod val="90000"/>
                  </a:schemeClr>
                </a:solidFill>
                <a:latin typeface="Cooper Black" panose="0208090404030B020404" pitchFamily="18" charset="0"/>
              </a:endParaRPr>
            </a:p>
          </p:txBody>
        </p:sp>
        <p:sp>
          <p:nvSpPr>
            <p:cNvPr id="4" name="Rectangle 3"/>
            <p:cNvSpPr/>
            <p:nvPr/>
          </p:nvSpPr>
          <p:spPr>
            <a:xfrm>
              <a:off x="373627" y="876823"/>
              <a:ext cx="7558479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CA" sz="1100" dirty="0" smtClean="0">
                  <a:solidFill>
                    <a:schemeClr val="tx2">
                      <a:lumMod val="90000"/>
                    </a:schemeClr>
                  </a:solidFill>
                  <a:latin typeface="Britannic Bold" panose="020B0903060703020204" pitchFamily="34" charset="0"/>
                  <a:cs typeface="Times New Roman" panose="02020603050405020304" pitchFamily="18" charset="0"/>
                </a:rPr>
                <a:t>Actionable recommendations to drive growth and optimize</a:t>
              </a:r>
            </a:p>
          </p:txBody>
        </p:sp>
        <p:grpSp>
          <p:nvGrpSpPr>
            <p:cNvPr id="41" name="Group 40"/>
            <p:cNvGrpSpPr/>
            <p:nvPr/>
          </p:nvGrpSpPr>
          <p:grpSpPr>
            <a:xfrm>
              <a:off x="383152" y="1228725"/>
              <a:ext cx="5522348" cy="5276850"/>
              <a:chOff x="383152" y="1304925"/>
              <a:chExt cx="4866241" cy="5200650"/>
            </a:xfrm>
          </p:grpSpPr>
          <p:sp>
            <p:nvSpPr>
              <p:cNvPr id="22" name="Rounded Rectangle 21"/>
              <p:cNvSpPr/>
              <p:nvPr/>
            </p:nvSpPr>
            <p:spPr>
              <a:xfrm>
                <a:off x="388514" y="1304925"/>
                <a:ext cx="4859761" cy="3457469"/>
              </a:xfrm>
              <a:prstGeom prst="roundRect">
                <a:avLst/>
              </a:prstGeom>
              <a:solidFill>
                <a:srgbClr val="5DDE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sp>
            <p:nvSpPr>
              <p:cNvPr id="23" name="Rounded Rectangle 22"/>
              <p:cNvSpPr/>
              <p:nvPr/>
            </p:nvSpPr>
            <p:spPr>
              <a:xfrm>
                <a:off x="383152" y="1389041"/>
                <a:ext cx="4866241" cy="5116534"/>
              </a:xfrm>
              <a:prstGeom prst="roundRect">
                <a:avLst>
                  <a:gd name="adj" fmla="val 11082"/>
                </a:avLst>
              </a:prstGeom>
              <a:solidFill>
                <a:srgbClr val="0D0D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</p:grpSp>
        <p:grpSp>
          <p:nvGrpSpPr>
            <p:cNvPr id="43" name="Group 42"/>
            <p:cNvGrpSpPr/>
            <p:nvPr/>
          </p:nvGrpSpPr>
          <p:grpSpPr>
            <a:xfrm>
              <a:off x="720348" y="1757500"/>
              <a:ext cx="2200140" cy="505046"/>
              <a:chOff x="762134" y="1870501"/>
              <a:chExt cx="2200140" cy="505046"/>
            </a:xfrm>
          </p:grpSpPr>
          <p:sp>
            <p:nvSpPr>
              <p:cNvPr id="24" name="Flowchart: Summing Junction 23"/>
              <p:cNvSpPr/>
              <p:nvPr/>
            </p:nvSpPr>
            <p:spPr>
              <a:xfrm>
                <a:off x="762134" y="1929786"/>
                <a:ext cx="295141" cy="375264"/>
              </a:xfrm>
              <a:prstGeom prst="flowChartSummingJunction">
                <a:avLst/>
              </a:prstGeom>
              <a:solidFill>
                <a:srgbClr val="5DDE16"/>
              </a:solidFill>
              <a:ln w="38100">
                <a:solidFill>
                  <a:srgbClr val="1C1C1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6" name="Rectangle 25"/>
              <p:cNvSpPr/>
              <p:nvPr/>
            </p:nvSpPr>
            <p:spPr>
              <a:xfrm>
                <a:off x="1145413" y="1870501"/>
                <a:ext cx="1816861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CA" sz="1600" dirty="0" smtClean="0">
                    <a:solidFill>
                      <a:srgbClr val="C9C9B5"/>
                    </a:solidFill>
                    <a:latin typeface="Britannic Bold" panose="020B0903060703020204" pitchFamily="34" charset="0"/>
                    <a:cs typeface="Times New Roman" panose="02020603050405020304" pitchFamily="18" charset="0"/>
                  </a:rPr>
                  <a:t>Product Strategy</a:t>
                </a:r>
                <a:endParaRPr lang="en-CA" sz="1600" dirty="0">
                  <a:solidFill>
                    <a:srgbClr val="C9C9B5"/>
                  </a:solidFill>
                  <a:latin typeface="Britannic Bold" panose="020B09030607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2" name="Rectangle 41"/>
              <p:cNvSpPr/>
              <p:nvPr/>
            </p:nvSpPr>
            <p:spPr>
              <a:xfrm>
                <a:off x="1144295" y="2121631"/>
                <a:ext cx="1491114" cy="25391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CA" sz="1050" dirty="0" smtClean="0">
                    <a:solidFill>
                      <a:srgbClr val="5DDE16"/>
                    </a:solidFill>
                    <a:latin typeface="Britannic Bold" panose="020B0903060703020204" pitchFamily="34" charset="0"/>
                    <a:cs typeface="Times New Roman" panose="02020603050405020304" pitchFamily="18" charset="0"/>
                  </a:rPr>
                  <a:t>Portfolio Optimization</a:t>
                </a:r>
                <a:endParaRPr lang="en-CA" sz="1050" dirty="0">
                  <a:solidFill>
                    <a:srgbClr val="5DDE16"/>
                  </a:solidFill>
                  <a:latin typeface="Britannic Bold" panose="020B0903060703020204" pitchFamily="34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7" name="Group 46"/>
            <p:cNvGrpSpPr/>
            <p:nvPr/>
          </p:nvGrpSpPr>
          <p:grpSpPr>
            <a:xfrm>
              <a:off x="6162676" y="1228725"/>
              <a:ext cx="5544668" cy="5200650"/>
              <a:chOff x="383152" y="1304925"/>
              <a:chExt cx="4866241" cy="5200650"/>
            </a:xfrm>
          </p:grpSpPr>
          <p:sp>
            <p:nvSpPr>
              <p:cNvPr id="48" name="Rounded Rectangle 47"/>
              <p:cNvSpPr/>
              <p:nvPr/>
            </p:nvSpPr>
            <p:spPr>
              <a:xfrm>
                <a:off x="388514" y="1304925"/>
                <a:ext cx="4859761" cy="3457469"/>
              </a:xfrm>
              <a:prstGeom prst="roundRect">
                <a:avLst/>
              </a:prstGeom>
              <a:solidFill>
                <a:srgbClr val="5DDE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49" name="Rounded Rectangle 48"/>
              <p:cNvSpPr/>
              <p:nvPr/>
            </p:nvSpPr>
            <p:spPr>
              <a:xfrm>
                <a:off x="383152" y="1389041"/>
                <a:ext cx="4866241" cy="5116534"/>
              </a:xfrm>
              <a:prstGeom prst="roundRect">
                <a:avLst>
                  <a:gd name="adj" fmla="val 11082"/>
                </a:avLst>
              </a:prstGeom>
              <a:solidFill>
                <a:srgbClr val="0D0D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56" name="Rectangle 55"/>
            <p:cNvSpPr/>
            <p:nvPr/>
          </p:nvSpPr>
          <p:spPr>
            <a:xfrm>
              <a:off x="542925" y="2352675"/>
              <a:ext cx="5019675" cy="885825"/>
            </a:xfrm>
            <a:prstGeom prst="rect">
              <a:avLst/>
            </a:prstGeom>
            <a:solidFill>
              <a:srgbClr val="1C1C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0" name="Oval 49"/>
            <p:cNvSpPr/>
            <p:nvPr/>
          </p:nvSpPr>
          <p:spPr>
            <a:xfrm>
              <a:off x="651258" y="2579336"/>
              <a:ext cx="364231" cy="373922"/>
            </a:xfrm>
            <a:prstGeom prst="ellipse">
              <a:avLst/>
            </a:prstGeom>
            <a:solidFill>
              <a:srgbClr val="5DDE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dirty="0" smtClean="0">
                  <a:solidFill>
                    <a:schemeClr val="bg1"/>
                  </a:solidFill>
                </a:rPr>
                <a:t>1</a:t>
              </a:r>
              <a:endParaRPr lang="en-CA" dirty="0"/>
            </a:p>
          </p:txBody>
        </p:sp>
        <p:sp>
          <p:nvSpPr>
            <p:cNvPr id="57" name="Rectangle 56"/>
            <p:cNvSpPr/>
            <p:nvPr/>
          </p:nvSpPr>
          <p:spPr>
            <a:xfrm>
              <a:off x="555273" y="3323848"/>
              <a:ext cx="5019675" cy="885825"/>
            </a:xfrm>
            <a:prstGeom prst="rect">
              <a:avLst/>
            </a:prstGeom>
            <a:solidFill>
              <a:srgbClr val="1C1C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2" name="Oval 51"/>
            <p:cNvSpPr/>
            <p:nvPr/>
          </p:nvSpPr>
          <p:spPr>
            <a:xfrm>
              <a:off x="651258" y="3535902"/>
              <a:ext cx="373922" cy="373922"/>
            </a:xfrm>
            <a:prstGeom prst="ellipse">
              <a:avLst/>
            </a:prstGeom>
            <a:solidFill>
              <a:srgbClr val="C9C9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dirty="0">
                  <a:solidFill>
                    <a:schemeClr val="bg1"/>
                  </a:solidFill>
                </a:rPr>
                <a:t>2</a:t>
              </a:r>
              <a:endParaRPr lang="en-CA" dirty="0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542925" y="4309113"/>
              <a:ext cx="5019675" cy="885825"/>
            </a:xfrm>
            <a:prstGeom prst="rect">
              <a:avLst/>
            </a:prstGeom>
            <a:solidFill>
              <a:srgbClr val="1C1C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9" name="Oval 58"/>
            <p:cNvSpPr/>
            <p:nvPr/>
          </p:nvSpPr>
          <p:spPr>
            <a:xfrm>
              <a:off x="641567" y="4512856"/>
              <a:ext cx="373922" cy="373922"/>
            </a:xfrm>
            <a:prstGeom prst="ellipse">
              <a:avLst/>
            </a:prstGeom>
            <a:solidFill>
              <a:srgbClr val="5DDE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dirty="0">
                  <a:solidFill>
                    <a:schemeClr val="bg1"/>
                  </a:solidFill>
                </a:rPr>
                <a:t>3</a:t>
              </a:r>
              <a:endParaRPr lang="en-CA" dirty="0"/>
            </a:p>
          </p:txBody>
        </p:sp>
        <p:sp>
          <p:nvSpPr>
            <p:cNvPr id="60" name="Rectangle 59"/>
            <p:cNvSpPr/>
            <p:nvPr/>
          </p:nvSpPr>
          <p:spPr>
            <a:xfrm>
              <a:off x="555273" y="5280286"/>
              <a:ext cx="5019675" cy="885825"/>
            </a:xfrm>
            <a:prstGeom prst="rect">
              <a:avLst/>
            </a:prstGeom>
            <a:solidFill>
              <a:srgbClr val="1C1C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1" name="Oval 60"/>
            <p:cNvSpPr/>
            <p:nvPr/>
          </p:nvSpPr>
          <p:spPr>
            <a:xfrm>
              <a:off x="651258" y="5492469"/>
              <a:ext cx="373922" cy="373922"/>
            </a:xfrm>
            <a:prstGeom prst="ellipse">
              <a:avLst/>
            </a:prstGeom>
            <a:solidFill>
              <a:srgbClr val="C9C9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dirty="0">
                  <a:solidFill>
                    <a:schemeClr val="bg1"/>
                  </a:solidFill>
                </a:rPr>
                <a:t>4</a:t>
              </a:r>
              <a:endParaRPr lang="en-CA" dirty="0"/>
            </a:p>
          </p:txBody>
        </p:sp>
        <p:sp>
          <p:nvSpPr>
            <p:cNvPr id="62" name="Rectangle 61"/>
            <p:cNvSpPr/>
            <p:nvPr/>
          </p:nvSpPr>
          <p:spPr>
            <a:xfrm>
              <a:off x="6505575" y="2352675"/>
              <a:ext cx="5019675" cy="885825"/>
            </a:xfrm>
            <a:prstGeom prst="rect">
              <a:avLst/>
            </a:prstGeom>
            <a:solidFill>
              <a:srgbClr val="1C1C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3" name="Oval 62"/>
            <p:cNvSpPr/>
            <p:nvPr/>
          </p:nvSpPr>
          <p:spPr>
            <a:xfrm>
              <a:off x="6635854" y="2584677"/>
              <a:ext cx="373922" cy="373922"/>
            </a:xfrm>
            <a:prstGeom prst="ellipse">
              <a:avLst/>
            </a:prstGeom>
            <a:solidFill>
              <a:srgbClr val="C9C9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dirty="0" smtClean="0">
                  <a:solidFill>
                    <a:schemeClr val="bg1"/>
                  </a:solidFill>
                </a:rPr>
                <a:t>1</a:t>
              </a:r>
              <a:endParaRPr lang="en-CA" dirty="0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6517923" y="3323848"/>
              <a:ext cx="5019675" cy="885825"/>
            </a:xfrm>
            <a:prstGeom prst="rect">
              <a:avLst/>
            </a:prstGeom>
            <a:solidFill>
              <a:srgbClr val="1C1C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5" name="Oval 64"/>
            <p:cNvSpPr/>
            <p:nvPr/>
          </p:nvSpPr>
          <p:spPr>
            <a:xfrm>
              <a:off x="6635854" y="3579799"/>
              <a:ext cx="373922" cy="373922"/>
            </a:xfrm>
            <a:prstGeom prst="ellipse">
              <a:avLst/>
            </a:prstGeom>
            <a:solidFill>
              <a:srgbClr val="5DDE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dirty="0" smtClean="0">
                  <a:solidFill>
                    <a:schemeClr val="bg1"/>
                  </a:solidFill>
                </a:rPr>
                <a:t>2</a:t>
              </a:r>
              <a:endParaRPr lang="en-CA" dirty="0"/>
            </a:p>
          </p:txBody>
        </p:sp>
        <p:sp>
          <p:nvSpPr>
            <p:cNvPr id="66" name="Rectangle 65"/>
            <p:cNvSpPr/>
            <p:nvPr/>
          </p:nvSpPr>
          <p:spPr>
            <a:xfrm>
              <a:off x="6505575" y="4309113"/>
              <a:ext cx="5019675" cy="885825"/>
            </a:xfrm>
            <a:prstGeom prst="rect">
              <a:avLst/>
            </a:prstGeom>
            <a:solidFill>
              <a:srgbClr val="1C1C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7" name="Oval 66"/>
            <p:cNvSpPr/>
            <p:nvPr/>
          </p:nvSpPr>
          <p:spPr>
            <a:xfrm>
              <a:off x="6633453" y="4509792"/>
              <a:ext cx="373922" cy="373922"/>
            </a:xfrm>
            <a:prstGeom prst="ellipse">
              <a:avLst/>
            </a:prstGeom>
            <a:solidFill>
              <a:srgbClr val="C9C9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dirty="0" smtClean="0">
                  <a:solidFill>
                    <a:schemeClr val="bg1"/>
                  </a:solidFill>
                </a:rPr>
                <a:t>3</a:t>
              </a:r>
              <a:endParaRPr lang="en-CA" dirty="0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6517923" y="5280286"/>
              <a:ext cx="5019675" cy="885825"/>
            </a:xfrm>
            <a:prstGeom prst="rect">
              <a:avLst/>
            </a:prstGeom>
            <a:solidFill>
              <a:srgbClr val="1C1C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9" name="Oval 68"/>
            <p:cNvSpPr/>
            <p:nvPr/>
          </p:nvSpPr>
          <p:spPr>
            <a:xfrm>
              <a:off x="6635854" y="5492469"/>
              <a:ext cx="373922" cy="373922"/>
            </a:xfrm>
            <a:prstGeom prst="ellipse">
              <a:avLst/>
            </a:prstGeom>
            <a:solidFill>
              <a:srgbClr val="5DDE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dirty="0" smtClean="0">
                  <a:solidFill>
                    <a:schemeClr val="bg1"/>
                  </a:solidFill>
                </a:rPr>
                <a:t>4</a:t>
              </a:r>
              <a:endParaRPr lang="en-CA" dirty="0"/>
            </a:p>
          </p:txBody>
        </p:sp>
        <p:grpSp>
          <p:nvGrpSpPr>
            <p:cNvPr id="78" name="Group 77"/>
            <p:cNvGrpSpPr/>
            <p:nvPr/>
          </p:nvGrpSpPr>
          <p:grpSpPr>
            <a:xfrm>
              <a:off x="1015489" y="2476692"/>
              <a:ext cx="4270886" cy="628159"/>
              <a:chOff x="1015489" y="2476692"/>
              <a:chExt cx="4270886" cy="628159"/>
            </a:xfrm>
          </p:grpSpPr>
          <p:sp>
            <p:nvSpPr>
              <p:cNvPr id="70" name="TextBox 69"/>
              <p:cNvSpPr txBox="1"/>
              <p:nvPr/>
            </p:nvSpPr>
            <p:spPr>
              <a:xfrm>
                <a:off x="1015489" y="2476692"/>
                <a:ext cx="259077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1200" dirty="0">
                    <a:solidFill>
                      <a:schemeClr val="tx2">
                        <a:lumMod val="90000"/>
                      </a:schemeClr>
                    </a:solidFill>
                    <a:latin typeface="Britannic Bold" panose="020B0903060703020204" pitchFamily="34" charset="0"/>
                    <a:cs typeface="Times New Roman" panose="02020603050405020304" pitchFamily="18" charset="0"/>
                  </a:rPr>
                  <a:t>Expand Women’s Athletic </a:t>
                </a:r>
                <a:r>
                  <a:rPr lang="en-CA" sz="1200" dirty="0" smtClean="0">
                    <a:solidFill>
                      <a:schemeClr val="tx2">
                        <a:lumMod val="90000"/>
                      </a:schemeClr>
                    </a:solidFill>
                    <a:latin typeface="Britannic Bold" panose="020B0903060703020204" pitchFamily="34" charset="0"/>
                    <a:cs typeface="Times New Roman" panose="02020603050405020304" pitchFamily="18" charset="0"/>
                  </a:rPr>
                  <a:t>Footwear</a:t>
                </a:r>
                <a:endParaRPr lang="en-CA" sz="1100" dirty="0">
                  <a:solidFill>
                    <a:schemeClr val="tx2">
                      <a:lumMod val="90000"/>
                    </a:schemeClr>
                  </a:solidFill>
                  <a:latin typeface="Britannic Bold" panose="020B09030607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1" name="Rectangle 70"/>
              <p:cNvSpPr/>
              <p:nvPr/>
            </p:nvSpPr>
            <p:spPr>
              <a:xfrm>
                <a:off x="1046937" y="2766297"/>
                <a:ext cx="4239438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CA" sz="800" dirty="0" smtClean="0">
                    <a:solidFill>
                      <a:schemeClr val="tx2">
                        <a:lumMod val="90000"/>
                      </a:schemeClr>
                    </a:solidFill>
                    <a:latin typeface="Britannic Bold" panose="020B0903060703020204" pitchFamily="34" charset="0"/>
                    <a:cs typeface="Times New Roman" panose="02020603050405020304" pitchFamily="18" charset="0"/>
                  </a:rPr>
                  <a:t>Current: $106.6M(11.8%). </a:t>
                </a:r>
                <a:r>
                  <a:rPr lang="en-CA" sz="800" dirty="0" smtClean="0">
                    <a:solidFill>
                      <a:srgbClr val="5DDE16"/>
                    </a:solidFill>
                    <a:latin typeface="Britannic Bold" panose="020B0903060703020204" pitchFamily="34" charset="0"/>
                    <a:cs typeface="Times New Roman" panose="02020603050405020304" pitchFamily="18" charset="0"/>
                  </a:rPr>
                  <a:t>Target: 15% share</a:t>
                </a:r>
                <a:r>
                  <a:rPr lang="en-CA" sz="800" dirty="0" smtClean="0">
                    <a:solidFill>
                      <a:schemeClr val="tx2">
                        <a:lumMod val="90000"/>
                      </a:schemeClr>
                    </a:solidFill>
                    <a:latin typeface="Britannic Bold" panose="020B0903060703020204" pitchFamily="34" charset="0"/>
                    <a:cs typeface="Times New Roman" panose="02020603050405020304" pitchFamily="18" charset="0"/>
                  </a:rPr>
                  <a:t> by adding premium lines and increasing marketing investment by 25%</a:t>
                </a:r>
                <a:endParaRPr lang="en-CA" sz="800" dirty="0"/>
              </a:p>
            </p:txBody>
          </p:sp>
        </p:grpSp>
        <p:grpSp>
          <p:nvGrpSpPr>
            <p:cNvPr id="79" name="Group 78"/>
            <p:cNvGrpSpPr/>
            <p:nvPr/>
          </p:nvGrpSpPr>
          <p:grpSpPr>
            <a:xfrm>
              <a:off x="1008883" y="3399126"/>
              <a:ext cx="4270886" cy="628159"/>
              <a:chOff x="1015489" y="2476692"/>
              <a:chExt cx="4270886" cy="628159"/>
            </a:xfrm>
          </p:grpSpPr>
          <p:sp>
            <p:nvSpPr>
              <p:cNvPr id="80" name="TextBox 79"/>
              <p:cNvSpPr txBox="1"/>
              <p:nvPr/>
            </p:nvSpPr>
            <p:spPr>
              <a:xfrm>
                <a:off x="1015489" y="2476692"/>
                <a:ext cx="312297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1200" dirty="0" smtClean="0">
                    <a:solidFill>
                      <a:schemeClr val="tx2">
                        <a:lumMod val="90000"/>
                      </a:schemeClr>
                    </a:solidFill>
                    <a:latin typeface="Britannic Bold" panose="020B0903060703020204" pitchFamily="34" charset="0"/>
                    <a:cs typeface="Times New Roman" panose="02020603050405020304" pitchFamily="18" charset="0"/>
                  </a:rPr>
                  <a:t>Maintain Men’s Street Footwear Leadership</a:t>
                </a:r>
                <a:endParaRPr lang="en-CA" sz="1100" dirty="0">
                  <a:solidFill>
                    <a:schemeClr val="tx2">
                      <a:lumMod val="90000"/>
                    </a:schemeClr>
                  </a:solidFill>
                  <a:latin typeface="Britannic Bold" panose="020B09030607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1" name="Rectangle 80"/>
              <p:cNvSpPr/>
              <p:nvPr/>
            </p:nvSpPr>
            <p:spPr>
              <a:xfrm>
                <a:off x="1046937" y="2766297"/>
                <a:ext cx="4239438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CA" sz="800" dirty="0" smtClean="0">
                    <a:solidFill>
                      <a:schemeClr val="tx2">
                        <a:lumMod val="90000"/>
                      </a:schemeClr>
                    </a:solidFill>
                    <a:latin typeface="Britannic Bold" panose="020B0903060703020204" pitchFamily="34" charset="0"/>
                    <a:cs typeface="Times New Roman" panose="02020603050405020304" pitchFamily="18" charset="0"/>
                  </a:rPr>
                  <a:t>Current leader: $208.8M. </a:t>
                </a:r>
                <a:r>
                  <a:rPr lang="en-CA" sz="800" dirty="0" smtClean="0">
                    <a:latin typeface="Britannic Bold" panose="020B0903060703020204" pitchFamily="34" charset="0"/>
                    <a:cs typeface="Times New Roman" panose="02020603050405020304" pitchFamily="18" charset="0"/>
                  </a:rPr>
                  <a:t>Strategy: </a:t>
                </a:r>
                <a:r>
                  <a:rPr lang="en-CA" sz="800" dirty="0" smtClean="0">
                    <a:solidFill>
                      <a:schemeClr val="tx2">
                        <a:lumMod val="90000"/>
                      </a:schemeClr>
                    </a:solidFill>
                    <a:latin typeface="Britannic Bold" panose="020B0903060703020204" pitchFamily="34" charset="0"/>
                    <a:cs typeface="Times New Roman" panose="02020603050405020304" pitchFamily="18" charset="0"/>
                  </a:rPr>
                  <a:t>Continue innovation, limited editions, and exclusive retailer partnership</a:t>
                </a:r>
                <a:endParaRPr lang="en-CA" sz="800" dirty="0"/>
              </a:p>
            </p:txBody>
          </p:sp>
        </p:grpSp>
        <p:grpSp>
          <p:nvGrpSpPr>
            <p:cNvPr id="82" name="Group 81"/>
            <p:cNvGrpSpPr/>
            <p:nvPr/>
          </p:nvGrpSpPr>
          <p:grpSpPr>
            <a:xfrm>
              <a:off x="1035434" y="4351098"/>
              <a:ext cx="4270886" cy="628159"/>
              <a:chOff x="1015489" y="2476692"/>
              <a:chExt cx="4270886" cy="628159"/>
            </a:xfrm>
          </p:grpSpPr>
          <p:sp>
            <p:nvSpPr>
              <p:cNvPr id="83" name="TextBox 82"/>
              <p:cNvSpPr txBox="1"/>
              <p:nvPr/>
            </p:nvSpPr>
            <p:spPr>
              <a:xfrm>
                <a:off x="1015489" y="2476692"/>
                <a:ext cx="192392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1200" dirty="0" smtClean="0">
                    <a:solidFill>
                      <a:schemeClr val="tx2">
                        <a:lumMod val="90000"/>
                      </a:schemeClr>
                    </a:solidFill>
                    <a:latin typeface="Britannic Bold" panose="020B0903060703020204" pitchFamily="34" charset="0"/>
                    <a:cs typeface="Times New Roman" panose="02020603050405020304" pitchFamily="18" charset="0"/>
                  </a:rPr>
                  <a:t>Balance Apparel Portfolio</a:t>
                </a:r>
                <a:endParaRPr lang="en-CA" sz="1100" dirty="0">
                  <a:solidFill>
                    <a:schemeClr val="tx2">
                      <a:lumMod val="90000"/>
                    </a:schemeClr>
                  </a:solidFill>
                  <a:latin typeface="Britannic Bold" panose="020B09030607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4" name="Rectangle 83"/>
              <p:cNvSpPr/>
              <p:nvPr/>
            </p:nvSpPr>
            <p:spPr>
              <a:xfrm>
                <a:off x="1046937" y="2766297"/>
                <a:ext cx="4239438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CA" sz="800" dirty="0" smtClean="0">
                    <a:solidFill>
                      <a:schemeClr val="tx2">
                        <a:lumMod val="90000"/>
                      </a:schemeClr>
                    </a:solidFill>
                    <a:latin typeface="Britannic Bold" panose="020B0903060703020204" pitchFamily="34" charset="0"/>
                    <a:cs typeface="Times New Roman" panose="02020603050405020304" pitchFamily="18" charset="0"/>
                  </a:rPr>
                  <a:t>Women’s Apparel ($179M) outperform Men’s ($123.7M). </a:t>
                </a:r>
                <a:r>
                  <a:rPr lang="en-CA" sz="800" dirty="0" smtClean="0">
                    <a:solidFill>
                      <a:srgbClr val="5DDE16"/>
                    </a:solidFill>
                    <a:latin typeface="Britannic Bold" panose="020B0903060703020204" pitchFamily="34" charset="0"/>
                    <a:cs typeface="Times New Roman" panose="02020603050405020304" pitchFamily="18" charset="0"/>
                  </a:rPr>
                  <a:t>Action:</a:t>
                </a:r>
                <a:r>
                  <a:rPr lang="en-CA" sz="800" dirty="0" smtClean="0">
                    <a:solidFill>
                      <a:schemeClr val="tx2">
                        <a:lumMod val="90000"/>
                      </a:schemeClr>
                    </a:solidFill>
                    <a:latin typeface="Britannic Bold" panose="020B0903060703020204" pitchFamily="34" charset="0"/>
                    <a:cs typeface="Times New Roman" panose="02020603050405020304" pitchFamily="18" charset="0"/>
                  </a:rPr>
                  <a:t> Expand Men’s casual and performance lines</a:t>
                </a:r>
                <a:endParaRPr lang="en-CA" sz="800" dirty="0"/>
              </a:p>
            </p:txBody>
          </p:sp>
        </p:grpSp>
        <p:grpSp>
          <p:nvGrpSpPr>
            <p:cNvPr id="85" name="Group 84"/>
            <p:cNvGrpSpPr/>
            <p:nvPr/>
          </p:nvGrpSpPr>
          <p:grpSpPr>
            <a:xfrm>
              <a:off x="1025180" y="5389825"/>
              <a:ext cx="4270886" cy="628159"/>
              <a:chOff x="1015489" y="2476692"/>
              <a:chExt cx="4270886" cy="628159"/>
            </a:xfrm>
          </p:grpSpPr>
          <p:sp>
            <p:nvSpPr>
              <p:cNvPr id="86" name="TextBox 85"/>
              <p:cNvSpPr txBox="1"/>
              <p:nvPr/>
            </p:nvSpPr>
            <p:spPr>
              <a:xfrm>
                <a:off x="1015489" y="2476692"/>
                <a:ext cx="229421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1200" dirty="0" smtClean="0">
                    <a:solidFill>
                      <a:schemeClr val="tx2">
                        <a:lumMod val="90000"/>
                      </a:schemeClr>
                    </a:solidFill>
                    <a:latin typeface="Britannic Bold" panose="020B0903060703020204" pitchFamily="34" charset="0"/>
                    <a:cs typeface="Times New Roman" panose="02020603050405020304" pitchFamily="18" charset="0"/>
                  </a:rPr>
                  <a:t>Introduce Seasonal Collections</a:t>
                </a:r>
                <a:endParaRPr lang="en-CA" sz="1100" dirty="0">
                  <a:solidFill>
                    <a:schemeClr val="tx2">
                      <a:lumMod val="90000"/>
                    </a:schemeClr>
                  </a:solidFill>
                  <a:latin typeface="Britannic Bold" panose="020B09030607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7" name="Rectangle 86"/>
              <p:cNvSpPr/>
              <p:nvPr/>
            </p:nvSpPr>
            <p:spPr>
              <a:xfrm>
                <a:off x="1046937" y="2766297"/>
                <a:ext cx="4239438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CA" sz="800" dirty="0" smtClean="0">
                    <a:solidFill>
                      <a:schemeClr val="tx2">
                        <a:lumMod val="90000"/>
                      </a:schemeClr>
                    </a:solidFill>
                    <a:latin typeface="Britannic Bold" panose="020B0903060703020204" pitchFamily="34" charset="0"/>
                    <a:cs typeface="Times New Roman" panose="02020603050405020304" pitchFamily="18" charset="0"/>
                  </a:rPr>
                  <a:t>Align </a:t>
                </a:r>
                <a:r>
                  <a:rPr lang="en-CA" sz="800" dirty="0" smtClean="0">
                    <a:solidFill>
                      <a:schemeClr val="tx2">
                        <a:lumMod val="90000"/>
                      </a:schemeClr>
                    </a:solidFill>
                    <a:latin typeface="Britannic Bold" panose="020B0903060703020204" pitchFamily="34" charset="0"/>
                    <a:cs typeface="Times New Roman" panose="02020603050405020304" pitchFamily="18" charset="0"/>
                  </a:rPr>
                  <a:t>product launches with peak  season (July-August). </a:t>
                </a:r>
                <a:r>
                  <a:rPr lang="en-CA" sz="800" dirty="0" smtClean="0">
                    <a:latin typeface="Britannic Bold" panose="020B0903060703020204" pitchFamily="34" charset="0"/>
                    <a:cs typeface="Times New Roman" panose="02020603050405020304" pitchFamily="18" charset="0"/>
                  </a:rPr>
                  <a:t>Goal:</a:t>
                </a:r>
                <a:r>
                  <a:rPr lang="en-CA" sz="800" dirty="0" smtClean="0">
                    <a:solidFill>
                      <a:schemeClr val="tx2">
                        <a:lumMod val="90000"/>
                      </a:schemeClr>
                    </a:solidFill>
                    <a:latin typeface="Britannic Bold" panose="020B0903060703020204" pitchFamily="34" charset="0"/>
                    <a:cs typeface="Times New Roman" panose="02020603050405020304" pitchFamily="18" charset="0"/>
                  </a:rPr>
                  <a:t> Maximize Q3 Revenue potential</a:t>
                </a:r>
                <a:endParaRPr lang="en-CA" sz="800" dirty="0"/>
              </a:p>
            </p:txBody>
          </p:sp>
        </p:grpSp>
        <p:grpSp>
          <p:nvGrpSpPr>
            <p:cNvPr id="88" name="Group 87"/>
            <p:cNvGrpSpPr/>
            <p:nvPr/>
          </p:nvGrpSpPr>
          <p:grpSpPr>
            <a:xfrm>
              <a:off x="6506322" y="1650109"/>
              <a:ext cx="2628153" cy="584775"/>
              <a:chOff x="762134" y="1870501"/>
              <a:chExt cx="2200140" cy="584775"/>
            </a:xfrm>
          </p:grpSpPr>
          <p:sp>
            <p:nvSpPr>
              <p:cNvPr id="89" name="Flowchart: Summing Junction 88"/>
              <p:cNvSpPr/>
              <p:nvPr/>
            </p:nvSpPr>
            <p:spPr>
              <a:xfrm>
                <a:off x="762134" y="1929786"/>
                <a:ext cx="295141" cy="375264"/>
              </a:xfrm>
              <a:prstGeom prst="flowChartSummingJunction">
                <a:avLst/>
              </a:prstGeom>
              <a:solidFill>
                <a:srgbClr val="5DDE16"/>
              </a:solidFill>
              <a:ln w="38100">
                <a:solidFill>
                  <a:srgbClr val="1C1C1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90" name="Rectangle 89"/>
              <p:cNvSpPr/>
              <p:nvPr/>
            </p:nvSpPr>
            <p:spPr>
              <a:xfrm>
                <a:off x="1145413" y="1870501"/>
                <a:ext cx="1816861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CA" sz="1600" dirty="0" smtClean="0">
                    <a:solidFill>
                      <a:srgbClr val="C9C9B5"/>
                    </a:solidFill>
                    <a:latin typeface="Britannic Bold" panose="020B0903060703020204" pitchFamily="34" charset="0"/>
                    <a:cs typeface="Times New Roman" panose="02020603050405020304" pitchFamily="18" charset="0"/>
                  </a:rPr>
                  <a:t>Channel Optimization</a:t>
                </a:r>
                <a:endParaRPr lang="en-CA" sz="1600" dirty="0">
                  <a:solidFill>
                    <a:srgbClr val="C9C9B5"/>
                  </a:solidFill>
                  <a:latin typeface="Britannic Bold" panose="020B09030607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1" name="Rectangle 90"/>
              <p:cNvSpPr/>
              <p:nvPr/>
            </p:nvSpPr>
            <p:spPr>
              <a:xfrm>
                <a:off x="1144295" y="2121631"/>
                <a:ext cx="1283166" cy="25391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CA" sz="1050" dirty="0" smtClean="0">
                    <a:solidFill>
                      <a:srgbClr val="5DDE16"/>
                    </a:solidFill>
                    <a:latin typeface="Britannic Bold" panose="020B0903060703020204" pitchFamily="34" charset="0"/>
                    <a:cs typeface="Times New Roman" panose="02020603050405020304" pitchFamily="18" charset="0"/>
                  </a:rPr>
                  <a:t>Omni channel Strategy</a:t>
                </a:r>
                <a:endParaRPr lang="en-CA" sz="1050" dirty="0">
                  <a:solidFill>
                    <a:srgbClr val="5DDE16"/>
                  </a:solidFill>
                  <a:latin typeface="Britannic Bold" panose="020B0903060703020204" pitchFamily="34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93" name="Group 92"/>
            <p:cNvGrpSpPr/>
            <p:nvPr/>
          </p:nvGrpSpPr>
          <p:grpSpPr>
            <a:xfrm>
              <a:off x="6999032" y="2460339"/>
              <a:ext cx="4270886" cy="628159"/>
              <a:chOff x="1015489" y="2476692"/>
              <a:chExt cx="4270886" cy="628159"/>
            </a:xfrm>
          </p:grpSpPr>
          <p:sp>
            <p:nvSpPr>
              <p:cNvPr id="94" name="TextBox 93"/>
              <p:cNvSpPr txBox="1"/>
              <p:nvPr/>
            </p:nvSpPr>
            <p:spPr>
              <a:xfrm>
                <a:off x="1015489" y="2476692"/>
                <a:ext cx="255550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1200" dirty="0" smtClean="0">
                    <a:solidFill>
                      <a:schemeClr val="tx2">
                        <a:lumMod val="90000"/>
                      </a:schemeClr>
                    </a:solidFill>
                    <a:latin typeface="Britannic Bold" panose="020B0903060703020204" pitchFamily="34" charset="0"/>
                    <a:cs typeface="Times New Roman" panose="02020603050405020304" pitchFamily="18" charset="0"/>
                  </a:rPr>
                  <a:t>Strengthen the In-Store Experience</a:t>
                </a:r>
                <a:endParaRPr lang="en-CA" sz="1100" dirty="0">
                  <a:solidFill>
                    <a:schemeClr val="tx2">
                      <a:lumMod val="90000"/>
                    </a:schemeClr>
                  </a:solidFill>
                  <a:latin typeface="Britannic Bold" panose="020B09030607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5" name="Rectangle 94"/>
              <p:cNvSpPr/>
              <p:nvPr/>
            </p:nvSpPr>
            <p:spPr>
              <a:xfrm>
                <a:off x="1046937" y="2766297"/>
                <a:ext cx="4239438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CA" sz="800" dirty="0" smtClean="0">
                    <a:solidFill>
                      <a:schemeClr val="tx2">
                        <a:lumMod val="90000"/>
                      </a:schemeClr>
                    </a:solidFill>
                    <a:latin typeface="Britannic Bold" panose="020B0903060703020204" pitchFamily="34" charset="0"/>
                    <a:cs typeface="Times New Roman" panose="02020603050405020304" pitchFamily="18" charset="0"/>
                  </a:rPr>
                  <a:t>Current: $356.6M(39.6%). </a:t>
                </a:r>
                <a:r>
                  <a:rPr lang="en-CA" sz="800" dirty="0" smtClean="0">
                    <a:latin typeface="Britannic Bold" panose="020B0903060703020204" pitchFamily="34" charset="0"/>
                    <a:cs typeface="Times New Roman" panose="02020603050405020304" pitchFamily="18" charset="0"/>
                  </a:rPr>
                  <a:t>Strategy:</a:t>
                </a:r>
                <a:r>
                  <a:rPr lang="en-CA" sz="800" dirty="0" smtClean="0">
                    <a:solidFill>
                      <a:srgbClr val="5DDE16"/>
                    </a:solidFill>
                    <a:latin typeface="Britannic Bold" panose="020B0903060703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CA" sz="800" dirty="0" smtClean="0">
                    <a:solidFill>
                      <a:schemeClr val="tx2">
                        <a:lumMod val="90000"/>
                      </a:schemeClr>
                    </a:solidFill>
                    <a:latin typeface="Britannic Bold" panose="020B0903060703020204" pitchFamily="34" charset="0"/>
                    <a:cs typeface="Times New Roman" panose="02020603050405020304" pitchFamily="18" charset="0"/>
                  </a:rPr>
                  <a:t>Enhance visual merchandising</a:t>
                </a:r>
                <a:r>
                  <a:rPr lang="en-CA" sz="800" dirty="0" smtClean="0">
                    <a:solidFill>
                      <a:schemeClr val="tx2">
                        <a:lumMod val="90000"/>
                      </a:schemeClr>
                    </a:solidFill>
                    <a:latin typeface="Britannic Bold" panose="020B0903060703020204" pitchFamily="34" charset="0"/>
                    <a:cs typeface="Times New Roman" panose="02020603050405020304" pitchFamily="18" charset="0"/>
                  </a:rPr>
                  <a:t>, staff training, and in-store exclusives</a:t>
                </a:r>
                <a:endParaRPr lang="en-CA" sz="800" dirty="0"/>
              </a:p>
            </p:txBody>
          </p:sp>
        </p:grpSp>
        <p:grpSp>
          <p:nvGrpSpPr>
            <p:cNvPr id="96" name="Group 95"/>
            <p:cNvGrpSpPr/>
            <p:nvPr/>
          </p:nvGrpSpPr>
          <p:grpSpPr>
            <a:xfrm>
              <a:off x="7030480" y="3452680"/>
              <a:ext cx="4270886" cy="628159"/>
              <a:chOff x="1015489" y="2476692"/>
              <a:chExt cx="4270886" cy="628159"/>
            </a:xfrm>
          </p:grpSpPr>
          <p:sp>
            <p:nvSpPr>
              <p:cNvPr id="97" name="TextBox 96"/>
              <p:cNvSpPr txBox="1"/>
              <p:nvPr/>
            </p:nvSpPr>
            <p:spPr>
              <a:xfrm>
                <a:off x="1015489" y="2476692"/>
                <a:ext cx="18998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1200" dirty="0" smtClean="0">
                    <a:solidFill>
                      <a:schemeClr val="tx2">
                        <a:lumMod val="90000"/>
                      </a:schemeClr>
                    </a:solidFill>
                    <a:latin typeface="Britannic Bold" panose="020B0903060703020204" pitchFamily="34" charset="0"/>
                    <a:cs typeface="Times New Roman" panose="02020603050405020304" pitchFamily="18" charset="0"/>
                  </a:rPr>
                  <a:t>Accelerate Online Growth</a:t>
                </a:r>
                <a:endParaRPr lang="en-CA" sz="1100" dirty="0">
                  <a:solidFill>
                    <a:schemeClr val="tx2">
                      <a:lumMod val="90000"/>
                    </a:schemeClr>
                  </a:solidFill>
                  <a:latin typeface="Britannic Bold" panose="020B09030607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8" name="Rectangle 97"/>
              <p:cNvSpPr/>
              <p:nvPr/>
            </p:nvSpPr>
            <p:spPr>
              <a:xfrm>
                <a:off x="1046937" y="2766297"/>
                <a:ext cx="4239438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CA" sz="800" dirty="0" smtClean="0">
                    <a:solidFill>
                      <a:schemeClr val="tx2">
                        <a:lumMod val="90000"/>
                      </a:schemeClr>
                    </a:solidFill>
                    <a:latin typeface="Britannic Bold" panose="020B0903060703020204" pitchFamily="34" charset="0"/>
                    <a:cs typeface="Times New Roman" panose="02020603050405020304" pitchFamily="18" charset="0"/>
                  </a:rPr>
                  <a:t>Current: $247.7M(27.5%). </a:t>
                </a:r>
                <a:r>
                  <a:rPr lang="en-CA" sz="800" dirty="0" smtClean="0">
                    <a:solidFill>
                      <a:srgbClr val="5DDE16"/>
                    </a:solidFill>
                    <a:latin typeface="Britannic Bold" panose="020B0903060703020204" pitchFamily="34" charset="0"/>
                    <a:cs typeface="Times New Roman" panose="02020603050405020304" pitchFamily="18" charset="0"/>
                  </a:rPr>
                  <a:t>Target: 35% share</a:t>
                </a:r>
                <a:r>
                  <a:rPr lang="en-CA" sz="800" dirty="0" smtClean="0">
                    <a:solidFill>
                      <a:schemeClr val="tx2">
                        <a:lumMod val="90000"/>
                      </a:schemeClr>
                    </a:solidFill>
                    <a:latin typeface="Britannic Bold" panose="020B0903060703020204" pitchFamily="34" charset="0"/>
                    <a:cs typeface="Times New Roman" panose="02020603050405020304" pitchFamily="18" charset="0"/>
                  </a:rPr>
                  <a:t> through improved UX, personalization, And digital marketing</a:t>
                </a:r>
                <a:endParaRPr lang="en-CA" sz="800" dirty="0"/>
              </a:p>
            </p:txBody>
          </p:sp>
        </p:grpSp>
        <p:grpSp>
          <p:nvGrpSpPr>
            <p:cNvPr id="99" name="Group 98"/>
            <p:cNvGrpSpPr/>
            <p:nvPr/>
          </p:nvGrpSpPr>
          <p:grpSpPr>
            <a:xfrm>
              <a:off x="7066377" y="4438361"/>
              <a:ext cx="4270886" cy="628159"/>
              <a:chOff x="1015489" y="2476692"/>
              <a:chExt cx="4270886" cy="628159"/>
            </a:xfrm>
          </p:grpSpPr>
          <p:sp>
            <p:nvSpPr>
              <p:cNvPr id="100" name="TextBox 99"/>
              <p:cNvSpPr txBox="1"/>
              <p:nvPr/>
            </p:nvSpPr>
            <p:spPr>
              <a:xfrm>
                <a:off x="1015489" y="2476692"/>
                <a:ext cx="183095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1200" dirty="0" smtClean="0">
                    <a:solidFill>
                      <a:schemeClr val="tx2">
                        <a:lumMod val="90000"/>
                      </a:schemeClr>
                    </a:solidFill>
                    <a:latin typeface="Britannic Bold" panose="020B0903060703020204" pitchFamily="34" charset="0"/>
                    <a:cs typeface="Times New Roman" panose="02020603050405020304" pitchFamily="18" charset="0"/>
                  </a:rPr>
                  <a:t>Optimize Outlet Strategy</a:t>
                </a:r>
                <a:endParaRPr lang="en-CA" sz="1100" dirty="0">
                  <a:solidFill>
                    <a:schemeClr val="tx2">
                      <a:lumMod val="90000"/>
                    </a:schemeClr>
                  </a:solidFill>
                  <a:latin typeface="Britannic Bold" panose="020B09030607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1" name="Rectangle 100"/>
              <p:cNvSpPr/>
              <p:nvPr/>
            </p:nvSpPr>
            <p:spPr>
              <a:xfrm>
                <a:off x="1046937" y="2766297"/>
                <a:ext cx="4239438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CA" sz="800" dirty="0" smtClean="0">
                    <a:solidFill>
                      <a:schemeClr val="tx2">
                        <a:lumMod val="90000"/>
                      </a:schemeClr>
                    </a:solidFill>
                    <a:latin typeface="Britannic Bold" panose="020B0903060703020204" pitchFamily="34" charset="0"/>
                    <a:cs typeface="Times New Roman" panose="02020603050405020304" pitchFamily="18" charset="0"/>
                  </a:rPr>
                  <a:t>Current: $295.6M(27.5%). </a:t>
                </a:r>
                <a:r>
                  <a:rPr lang="en-CA" sz="800" dirty="0" smtClean="0">
                    <a:latin typeface="Britannic Bold" panose="020B0903060703020204" pitchFamily="34" charset="0"/>
                    <a:cs typeface="Times New Roman" panose="02020603050405020304" pitchFamily="18" charset="0"/>
                  </a:rPr>
                  <a:t>Action: Focus on inventory clearance and value- conscious consumers.</a:t>
                </a:r>
                <a:endParaRPr lang="en-CA" sz="800" dirty="0"/>
              </a:p>
            </p:txBody>
          </p:sp>
        </p:grpSp>
        <p:grpSp>
          <p:nvGrpSpPr>
            <p:cNvPr id="102" name="Group 101"/>
            <p:cNvGrpSpPr/>
            <p:nvPr/>
          </p:nvGrpSpPr>
          <p:grpSpPr>
            <a:xfrm>
              <a:off x="7066377" y="5409118"/>
              <a:ext cx="4270886" cy="505049"/>
              <a:chOff x="1015489" y="2476692"/>
              <a:chExt cx="4270886" cy="505049"/>
            </a:xfrm>
          </p:grpSpPr>
          <p:sp>
            <p:nvSpPr>
              <p:cNvPr id="103" name="TextBox 102"/>
              <p:cNvSpPr txBox="1"/>
              <p:nvPr/>
            </p:nvSpPr>
            <p:spPr>
              <a:xfrm>
                <a:off x="1015489" y="2476692"/>
                <a:ext cx="214834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1200" dirty="0" smtClean="0">
                    <a:solidFill>
                      <a:schemeClr val="tx2">
                        <a:lumMod val="90000"/>
                      </a:schemeClr>
                    </a:solidFill>
                    <a:latin typeface="Britannic Bold" panose="020B0903060703020204" pitchFamily="34" charset="0"/>
                    <a:cs typeface="Times New Roman" panose="02020603050405020304" pitchFamily="18" charset="0"/>
                  </a:rPr>
                  <a:t>Implement BOPIS &amp; curbside</a:t>
                </a:r>
                <a:endParaRPr lang="en-CA" sz="1100" dirty="0">
                  <a:solidFill>
                    <a:schemeClr val="tx2">
                      <a:lumMod val="90000"/>
                    </a:schemeClr>
                  </a:solidFill>
                  <a:latin typeface="Britannic Bold" panose="020B09030607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4" name="Rectangle 103"/>
              <p:cNvSpPr/>
              <p:nvPr/>
            </p:nvSpPr>
            <p:spPr>
              <a:xfrm>
                <a:off x="1046937" y="2766297"/>
                <a:ext cx="4239438" cy="21544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CA" sz="800" dirty="0" smtClean="0">
                    <a:solidFill>
                      <a:srgbClr val="5DDE16"/>
                    </a:solidFill>
                    <a:latin typeface="Britannic Bold" panose="020B0903060703020204" pitchFamily="34" charset="0"/>
                    <a:cs typeface="Times New Roman" panose="02020603050405020304" pitchFamily="18" charset="0"/>
                  </a:rPr>
                  <a:t>Bridge online-offline gap:</a:t>
                </a:r>
                <a:r>
                  <a:rPr lang="en-CA" sz="800" dirty="0" smtClean="0">
                    <a:solidFill>
                      <a:schemeClr val="tx2">
                        <a:lumMod val="90000"/>
                      </a:schemeClr>
                    </a:solidFill>
                    <a:latin typeface="Britannic Bold" panose="020B0903060703020204" pitchFamily="34" charset="0"/>
                    <a:cs typeface="Times New Roman" panose="02020603050405020304" pitchFamily="18" charset="0"/>
                  </a:rPr>
                  <a:t> Offer Buy Online, Pick-up in-store to drive traffic</a:t>
                </a:r>
                <a:endParaRPr lang="en-CA" sz="8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06528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roup 59"/>
          <p:cNvGrpSpPr/>
          <p:nvPr/>
        </p:nvGrpSpPr>
        <p:grpSpPr>
          <a:xfrm>
            <a:off x="373627" y="272412"/>
            <a:ext cx="11333717" cy="6347463"/>
            <a:chOff x="373627" y="167637"/>
            <a:chExt cx="11333717" cy="6347463"/>
          </a:xfrm>
        </p:grpSpPr>
        <p:sp>
          <p:nvSpPr>
            <p:cNvPr id="3" name="Rounded Rectangle 2"/>
            <p:cNvSpPr/>
            <p:nvPr/>
          </p:nvSpPr>
          <p:spPr>
            <a:xfrm>
              <a:off x="474630" y="167637"/>
              <a:ext cx="2844768" cy="308805"/>
            </a:xfrm>
            <a:prstGeom prst="roundRect">
              <a:avLst/>
            </a:prstGeom>
            <a:solidFill>
              <a:srgbClr val="5DDE16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CA" sz="1050" dirty="0" smtClean="0">
                  <a:solidFill>
                    <a:schemeClr val="bg1"/>
                  </a:solidFill>
                  <a:latin typeface="Cooper Black" panose="0208090404030B020404" pitchFamily="18" charset="0"/>
                </a:rPr>
                <a:t>09/STRATEGIC RECOMMENDATIONS</a:t>
              </a:r>
              <a:endParaRPr lang="en-CA" sz="1200" dirty="0">
                <a:solidFill>
                  <a:schemeClr val="bg1"/>
                </a:solidFill>
                <a:latin typeface="Cooper Black" panose="0208090404030B020404" pitchFamily="18" charset="0"/>
              </a:endParaRP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373627" y="513948"/>
              <a:ext cx="54080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dirty="0" smtClean="0">
                  <a:solidFill>
                    <a:schemeClr val="tx2">
                      <a:lumMod val="90000"/>
                    </a:schemeClr>
                  </a:solidFill>
                  <a:latin typeface="Cooper Black" panose="0208090404030B020404" pitchFamily="18" charset="0"/>
                </a:rPr>
                <a:t>Regional Focus &amp; Partnership Management</a:t>
              </a:r>
              <a:endParaRPr lang="en-CA" sz="2800" dirty="0" smtClean="0">
                <a:solidFill>
                  <a:schemeClr val="tx2">
                    <a:lumMod val="90000"/>
                  </a:schemeClr>
                </a:solidFill>
                <a:latin typeface="Cooper Black" panose="0208090404030B020404" pitchFamily="18" charset="0"/>
              </a:endParaRPr>
            </a:p>
          </p:txBody>
        </p:sp>
        <p:sp>
          <p:nvSpPr>
            <p:cNvPr id="5" name="Rectangle 4"/>
            <p:cNvSpPr/>
            <p:nvPr/>
          </p:nvSpPr>
          <p:spPr>
            <a:xfrm>
              <a:off x="373627" y="886348"/>
              <a:ext cx="7558479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CA" sz="1100" dirty="0" smtClean="0">
                  <a:solidFill>
                    <a:schemeClr val="tx2">
                      <a:lumMod val="90000"/>
                    </a:schemeClr>
                  </a:solidFill>
                  <a:latin typeface="Britannic Bold" panose="020B0903060703020204" pitchFamily="34" charset="0"/>
                  <a:cs typeface="Times New Roman" panose="02020603050405020304" pitchFamily="18" charset="0"/>
                </a:rPr>
                <a:t>Geographic expansion and retailer relationship optimization</a:t>
              </a:r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383152" y="1238250"/>
              <a:ext cx="5522348" cy="5276850"/>
              <a:chOff x="383152" y="1304925"/>
              <a:chExt cx="4866241" cy="5200650"/>
            </a:xfrm>
          </p:grpSpPr>
          <p:sp>
            <p:nvSpPr>
              <p:cNvPr id="58" name="Rounded Rectangle 57"/>
              <p:cNvSpPr/>
              <p:nvPr/>
            </p:nvSpPr>
            <p:spPr>
              <a:xfrm>
                <a:off x="388514" y="1304925"/>
                <a:ext cx="4859761" cy="3457469"/>
              </a:xfrm>
              <a:prstGeom prst="roundRect">
                <a:avLst/>
              </a:prstGeom>
              <a:solidFill>
                <a:srgbClr val="5DDE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sp>
            <p:nvSpPr>
              <p:cNvPr id="59" name="Rounded Rectangle 58"/>
              <p:cNvSpPr/>
              <p:nvPr/>
            </p:nvSpPr>
            <p:spPr>
              <a:xfrm>
                <a:off x="383152" y="1389041"/>
                <a:ext cx="4866241" cy="5116534"/>
              </a:xfrm>
              <a:prstGeom prst="roundRect">
                <a:avLst>
                  <a:gd name="adj" fmla="val 11082"/>
                </a:avLst>
              </a:prstGeom>
              <a:solidFill>
                <a:srgbClr val="0D0D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</p:grpSp>
        <p:grpSp>
          <p:nvGrpSpPr>
            <p:cNvPr id="7" name="Group 6"/>
            <p:cNvGrpSpPr/>
            <p:nvPr/>
          </p:nvGrpSpPr>
          <p:grpSpPr>
            <a:xfrm>
              <a:off x="720348" y="1767025"/>
              <a:ext cx="2200140" cy="505046"/>
              <a:chOff x="762134" y="1870501"/>
              <a:chExt cx="2200140" cy="505046"/>
            </a:xfrm>
          </p:grpSpPr>
          <p:sp>
            <p:nvSpPr>
              <p:cNvPr id="55" name="Flowchart: Summing Junction 54"/>
              <p:cNvSpPr/>
              <p:nvPr/>
            </p:nvSpPr>
            <p:spPr>
              <a:xfrm>
                <a:off x="762134" y="1929786"/>
                <a:ext cx="295141" cy="375264"/>
              </a:xfrm>
              <a:prstGeom prst="flowChartSummingJunction">
                <a:avLst/>
              </a:prstGeom>
              <a:solidFill>
                <a:srgbClr val="C9C9B5"/>
              </a:solidFill>
              <a:ln w="38100">
                <a:solidFill>
                  <a:srgbClr val="1C1C1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56" name="Rectangle 55"/>
              <p:cNvSpPr/>
              <p:nvPr/>
            </p:nvSpPr>
            <p:spPr>
              <a:xfrm>
                <a:off x="1145413" y="1870501"/>
                <a:ext cx="1816861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CA" sz="1600" dirty="0" smtClean="0">
                    <a:solidFill>
                      <a:srgbClr val="C9C9B5"/>
                    </a:solidFill>
                    <a:latin typeface="Britannic Bold" panose="020B0903060703020204" pitchFamily="34" charset="0"/>
                    <a:cs typeface="Times New Roman" panose="02020603050405020304" pitchFamily="18" charset="0"/>
                  </a:rPr>
                  <a:t>Regional Focus</a:t>
                </a:r>
                <a:endParaRPr lang="en-CA" sz="1600" dirty="0">
                  <a:solidFill>
                    <a:srgbClr val="C9C9B5"/>
                  </a:solidFill>
                  <a:latin typeface="Britannic Bold" panose="020B09030607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7" name="Rectangle 56"/>
              <p:cNvSpPr/>
              <p:nvPr/>
            </p:nvSpPr>
            <p:spPr>
              <a:xfrm>
                <a:off x="1144295" y="2121631"/>
                <a:ext cx="1391728" cy="25391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CA" sz="1050" dirty="0" smtClean="0">
                    <a:solidFill>
                      <a:srgbClr val="C9C9B5"/>
                    </a:solidFill>
                    <a:latin typeface="Britannic Bold" panose="020B0903060703020204" pitchFamily="34" charset="0"/>
                    <a:cs typeface="Times New Roman" panose="02020603050405020304" pitchFamily="18" charset="0"/>
                  </a:rPr>
                  <a:t>Geographic Strategy</a:t>
                </a:r>
                <a:endParaRPr lang="en-CA" sz="1050" dirty="0">
                  <a:solidFill>
                    <a:srgbClr val="C9C9B5"/>
                  </a:solidFill>
                  <a:latin typeface="Britannic Bold" panose="020B0903060703020204" pitchFamily="34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8" name="Group 7"/>
            <p:cNvGrpSpPr/>
            <p:nvPr/>
          </p:nvGrpSpPr>
          <p:grpSpPr>
            <a:xfrm>
              <a:off x="6162676" y="1238250"/>
              <a:ext cx="5544668" cy="5200650"/>
              <a:chOff x="383152" y="1304925"/>
              <a:chExt cx="4866241" cy="5200650"/>
            </a:xfrm>
          </p:grpSpPr>
          <p:sp>
            <p:nvSpPr>
              <p:cNvPr id="53" name="Rounded Rectangle 52"/>
              <p:cNvSpPr/>
              <p:nvPr/>
            </p:nvSpPr>
            <p:spPr>
              <a:xfrm>
                <a:off x="388514" y="1304925"/>
                <a:ext cx="4859761" cy="3457469"/>
              </a:xfrm>
              <a:prstGeom prst="roundRect">
                <a:avLst/>
              </a:prstGeom>
              <a:solidFill>
                <a:srgbClr val="5DDE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54" name="Rounded Rectangle 53"/>
              <p:cNvSpPr/>
              <p:nvPr/>
            </p:nvSpPr>
            <p:spPr>
              <a:xfrm>
                <a:off x="383152" y="1389041"/>
                <a:ext cx="4866241" cy="5116534"/>
              </a:xfrm>
              <a:prstGeom prst="roundRect">
                <a:avLst>
                  <a:gd name="adj" fmla="val 11082"/>
                </a:avLst>
              </a:prstGeom>
              <a:solidFill>
                <a:srgbClr val="0D0D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9" name="Rectangle 8"/>
            <p:cNvSpPr/>
            <p:nvPr/>
          </p:nvSpPr>
          <p:spPr>
            <a:xfrm>
              <a:off x="542925" y="2362200"/>
              <a:ext cx="5019675" cy="885825"/>
            </a:xfrm>
            <a:prstGeom prst="rect">
              <a:avLst/>
            </a:prstGeom>
            <a:solidFill>
              <a:srgbClr val="1C1C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" name="Oval 9"/>
            <p:cNvSpPr/>
            <p:nvPr/>
          </p:nvSpPr>
          <p:spPr>
            <a:xfrm>
              <a:off x="651258" y="2588861"/>
              <a:ext cx="364231" cy="373922"/>
            </a:xfrm>
            <a:prstGeom prst="ellipse">
              <a:avLst/>
            </a:prstGeom>
            <a:solidFill>
              <a:srgbClr val="5DDE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dirty="0" smtClean="0">
                  <a:solidFill>
                    <a:schemeClr val="bg1"/>
                  </a:solidFill>
                </a:rPr>
                <a:t>1</a:t>
              </a:r>
              <a:endParaRPr lang="en-CA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55273" y="3333373"/>
              <a:ext cx="5019675" cy="885825"/>
            </a:xfrm>
            <a:prstGeom prst="rect">
              <a:avLst/>
            </a:prstGeom>
            <a:solidFill>
              <a:srgbClr val="1C1C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2" name="Oval 11"/>
            <p:cNvSpPr/>
            <p:nvPr/>
          </p:nvSpPr>
          <p:spPr>
            <a:xfrm>
              <a:off x="651258" y="3545427"/>
              <a:ext cx="373922" cy="373922"/>
            </a:xfrm>
            <a:prstGeom prst="ellipse">
              <a:avLst/>
            </a:prstGeom>
            <a:solidFill>
              <a:srgbClr val="C9C9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dirty="0">
                  <a:solidFill>
                    <a:schemeClr val="bg1"/>
                  </a:solidFill>
                </a:rPr>
                <a:t>2</a:t>
              </a:r>
              <a:endParaRPr lang="en-CA" dirty="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542925" y="4318638"/>
              <a:ext cx="5019675" cy="885825"/>
            </a:xfrm>
            <a:prstGeom prst="rect">
              <a:avLst/>
            </a:prstGeom>
            <a:solidFill>
              <a:srgbClr val="1C1C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4" name="Oval 13"/>
            <p:cNvSpPr/>
            <p:nvPr/>
          </p:nvSpPr>
          <p:spPr>
            <a:xfrm>
              <a:off x="641567" y="4522381"/>
              <a:ext cx="373922" cy="373922"/>
            </a:xfrm>
            <a:prstGeom prst="ellipse">
              <a:avLst/>
            </a:prstGeom>
            <a:solidFill>
              <a:srgbClr val="5DDE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dirty="0">
                  <a:solidFill>
                    <a:schemeClr val="bg1"/>
                  </a:solidFill>
                </a:rPr>
                <a:t>3</a:t>
              </a:r>
              <a:endParaRPr lang="en-CA" dirty="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555273" y="5289811"/>
              <a:ext cx="5019675" cy="885825"/>
            </a:xfrm>
            <a:prstGeom prst="rect">
              <a:avLst/>
            </a:prstGeom>
            <a:solidFill>
              <a:srgbClr val="1C1C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6" name="Oval 15"/>
            <p:cNvSpPr/>
            <p:nvPr/>
          </p:nvSpPr>
          <p:spPr>
            <a:xfrm>
              <a:off x="651258" y="5501994"/>
              <a:ext cx="373922" cy="373922"/>
            </a:xfrm>
            <a:prstGeom prst="ellipse">
              <a:avLst/>
            </a:prstGeom>
            <a:solidFill>
              <a:srgbClr val="C9C9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dirty="0">
                  <a:solidFill>
                    <a:schemeClr val="bg1"/>
                  </a:solidFill>
                </a:rPr>
                <a:t>4</a:t>
              </a:r>
              <a:endParaRPr lang="en-CA" dirty="0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6505575" y="2362200"/>
              <a:ext cx="5019675" cy="885825"/>
            </a:xfrm>
            <a:prstGeom prst="rect">
              <a:avLst/>
            </a:prstGeom>
            <a:solidFill>
              <a:srgbClr val="1C1C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8" name="Oval 17"/>
            <p:cNvSpPr/>
            <p:nvPr/>
          </p:nvSpPr>
          <p:spPr>
            <a:xfrm>
              <a:off x="6633453" y="2592524"/>
              <a:ext cx="373922" cy="373922"/>
            </a:xfrm>
            <a:prstGeom prst="ellipse">
              <a:avLst/>
            </a:prstGeom>
            <a:solidFill>
              <a:srgbClr val="C9C9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dirty="0" smtClean="0">
                  <a:solidFill>
                    <a:schemeClr val="bg1"/>
                  </a:solidFill>
                </a:rPr>
                <a:t>1</a:t>
              </a:r>
              <a:endParaRPr lang="en-CA" dirty="0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6517923" y="3333373"/>
              <a:ext cx="5019675" cy="885825"/>
            </a:xfrm>
            <a:prstGeom prst="rect">
              <a:avLst/>
            </a:prstGeom>
            <a:solidFill>
              <a:srgbClr val="1C1C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0" name="Oval 19"/>
            <p:cNvSpPr/>
            <p:nvPr/>
          </p:nvSpPr>
          <p:spPr>
            <a:xfrm>
              <a:off x="6635854" y="3589324"/>
              <a:ext cx="373922" cy="373922"/>
            </a:xfrm>
            <a:prstGeom prst="ellipse">
              <a:avLst/>
            </a:prstGeom>
            <a:solidFill>
              <a:srgbClr val="5DDE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dirty="0" smtClean="0">
                  <a:solidFill>
                    <a:schemeClr val="bg1"/>
                  </a:solidFill>
                </a:rPr>
                <a:t>2</a:t>
              </a:r>
              <a:endParaRPr lang="en-CA" dirty="0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6505575" y="4318638"/>
              <a:ext cx="5019675" cy="885825"/>
            </a:xfrm>
            <a:prstGeom prst="rect">
              <a:avLst/>
            </a:prstGeom>
            <a:solidFill>
              <a:srgbClr val="1C1C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2" name="Oval 21"/>
            <p:cNvSpPr/>
            <p:nvPr/>
          </p:nvSpPr>
          <p:spPr>
            <a:xfrm>
              <a:off x="6633453" y="4519317"/>
              <a:ext cx="373922" cy="373922"/>
            </a:xfrm>
            <a:prstGeom prst="ellipse">
              <a:avLst/>
            </a:prstGeom>
            <a:solidFill>
              <a:srgbClr val="C9C9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dirty="0" smtClean="0">
                  <a:solidFill>
                    <a:schemeClr val="bg1"/>
                  </a:solidFill>
                </a:rPr>
                <a:t>3</a:t>
              </a:r>
              <a:endParaRPr lang="en-CA" dirty="0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6517923" y="5289811"/>
              <a:ext cx="5019675" cy="885825"/>
            </a:xfrm>
            <a:prstGeom prst="rect">
              <a:avLst/>
            </a:prstGeom>
            <a:solidFill>
              <a:srgbClr val="1C1C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" name="Oval 23"/>
            <p:cNvSpPr/>
            <p:nvPr/>
          </p:nvSpPr>
          <p:spPr>
            <a:xfrm>
              <a:off x="6635854" y="5501994"/>
              <a:ext cx="373922" cy="373922"/>
            </a:xfrm>
            <a:prstGeom prst="ellipse">
              <a:avLst/>
            </a:prstGeom>
            <a:solidFill>
              <a:srgbClr val="5DDE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dirty="0" smtClean="0">
                  <a:solidFill>
                    <a:schemeClr val="bg1"/>
                  </a:solidFill>
                </a:rPr>
                <a:t>4</a:t>
              </a:r>
              <a:endParaRPr lang="en-CA" dirty="0"/>
            </a:p>
          </p:txBody>
        </p:sp>
        <p:grpSp>
          <p:nvGrpSpPr>
            <p:cNvPr id="25" name="Group 24"/>
            <p:cNvGrpSpPr/>
            <p:nvPr/>
          </p:nvGrpSpPr>
          <p:grpSpPr>
            <a:xfrm>
              <a:off x="1015489" y="2486217"/>
              <a:ext cx="4270886" cy="628159"/>
              <a:chOff x="1015489" y="2476692"/>
              <a:chExt cx="4270886" cy="628159"/>
            </a:xfrm>
          </p:grpSpPr>
          <p:sp>
            <p:nvSpPr>
              <p:cNvPr id="51" name="TextBox 50"/>
              <p:cNvSpPr txBox="1"/>
              <p:nvPr/>
            </p:nvSpPr>
            <p:spPr>
              <a:xfrm>
                <a:off x="1015489" y="2476692"/>
                <a:ext cx="246253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1200" dirty="0" smtClean="0">
                    <a:solidFill>
                      <a:schemeClr val="tx2">
                        <a:lumMod val="90000"/>
                      </a:schemeClr>
                    </a:solidFill>
                    <a:latin typeface="Britannic Bold" panose="020B0903060703020204" pitchFamily="34" charset="0"/>
                    <a:cs typeface="Times New Roman" panose="02020603050405020304" pitchFamily="18" charset="0"/>
                  </a:rPr>
                  <a:t>Maintain West Region Dominance</a:t>
                </a:r>
                <a:endParaRPr lang="en-CA" sz="1100" dirty="0">
                  <a:solidFill>
                    <a:schemeClr val="tx2">
                      <a:lumMod val="90000"/>
                    </a:schemeClr>
                  </a:solidFill>
                  <a:latin typeface="Britannic Bold" panose="020B09030607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2" name="Rectangle 51"/>
              <p:cNvSpPr/>
              <p:nvPr/>
            </p:nvSpPr>
            <p:spPr>
              <a:xfrm>
                <a:off x="1046937" y="2766297"/>
                <a:ext cx="4239438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CA" sz="800" dirty="0" smtClean="0">
                    <a:solidFill>
                      <a:schemeClr val="tx2">
                        <a:lumMod val="90000"/>
                      </a:schemeClr>
                    </a:solidFill>
                    <a:latin typeface="Britannic Bold" panose="020B0903060703020204" pitchFamily="34" charset="0"/>
                    <a:cs typeface="Times New Roman" panose="02020603050405020304" pitchFamily="18" charset="0"/>
                  </a:rPr>
                  <a:t>Current: $269.9M(30%). </a:t>
                </a:r>
                <a:r>
                  <a:rPr lang="en-CA" sz="800" dirty="0" smtClean="0">
                    <a:solidFill>
                      <a:srgbClr val="5DDE16"/>
                    </a:solidFill>
                    <a:latin typeface="Britannic Bold" panose="020B0903060703020204" pitchFamily="34" charset="0"/>
                    <a:cs typeface="Times New Roman" panose="02020603050405020304" pitchFamily="18" charset="0"/>
                  </a:rPr>
                  <a:t>Strategy:</a:t>
                </a:r>
                <a:r>
                  <a:rPr lang="en-CA" sz="800" dirty="0">
                    <a:solidFill>
                      <a:schemeClr val="tx2">
                        <a:lumMod val="90000"/>
                      </a:schemeClr>
                    </a:solidFill>
                    <a:latin typeface="Britannic Bold" panose="020B0903060703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CA" sz="800" dirty="0" smtClean="0">
                    <a:solidFill>
                      <a:schemeClr val="tx2">
                        <a:lumMod val="90000"/>
                      </a:schemeClr>
                    </a:solidFill>
                    <a:latin typeface="Britannic Bold" panose="020B0903060703020204" pitchFamily="34" charset="0"/>
                    <a:cs typeface="Times New Roman" panose="02020603050405020304" pitchFamily="18" charset="0"/>
                  </a:rPr>
                  <a:t>Continue premium positioning in California, Nevada ad Washington market</a:t>
                </a:r>
                <a:endParaRPr lang="en-CA" sz="800" dirty="0"/>
              </a:p>
            </p:txBody>
          </p:sp>
        </p:grpSp>
        <p:grpSp>
          <p:nvGrpSpPr>
            <p:cNvPr id="26" name="Group 25"/>
            <p:cNvGrpSpPr/>
            <p:nvPr/>
          </p:nvGrpSpPr>
          <p:grpSpPr>
            <a:xfrm>
              <a:off x="1008883" y="3408651"/>
              <a:ext cx="4270886" cy="628159"/>
              <a:chOff x="1015489" y="2476692"/>
              <a:chExt cx="4270886" cy="628159"/>
            </a:xfrm>
          </p:grpSpPr>
          <p:sp>
            <p:nvSpPr>
              <p:cNvPr id="49" name="TextBox 48"/>
              <p:cNvSpPr txBox="1"/>
              <p:nvPr/>
            </p:nvSpPr>
            <p:spPr>
              <a:xfrm>
                <a:off x="1015489" y="2476692"/>
                <a:ext cx="265329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1200" dirty="0" smtClean="0">
                    <a:solidFill>
                      <a:schemeClr val="tx2">
                        <a:lumMod val="90000"/>
                      </a:schemeClr>
                    </a:solidFill>
                    <a:latin typeface="Britannic Bold" panose="020B0903060703020204" pitchFamily="34" charset="0"/>
                    <a:cs typeface="Times New Roman" panose="02020603050405020304" pitchFamily="18" charset="0"/>
                  </a:rPr>
                  <a:t>Expand in Underperforming Regions</a:t>
                </a:r>
                <a:endParaRPr lang="en-CA" sz="1100" dirty="0">
                  <a:solidFill>
                    <a:schemeClr val="tx2">
                      <a:lumMod val="90000"/>
                    </a:schemeClr>
                  </a:solidFill>
                  <a:latin typeface="Britannic Bold" panose="020B09030607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0" name="Rectangle 49"/>
              <p:cNvSpPr/>
              <p:nvPr/>
            </p:nvSpPr>
            <p:spPr>
              <a:xfrm>
                <a:off x="1046937" y="2766297"/>
                <a:ext cx="4239438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CA" sz="800" dirty="0" smtClean="0">
                    <a:solidFill>
                      <a:schemeClr val="tx2">
                        <a:lumMod val="90000"/>
                      </a:schemeClr>
                    </a:solidFill>
                    <a:latin typeface="Britannic Bold" panose="020B0903060703020204" pitchFamily="34" charset="0"/>
                    <a:cs typeface="Times New Roman" panose="02020603050405020304" pitchFamily="18" charset="0"/>
                  </a:rPr>
                  <a:t>Midwest($135.8M)and South ($i44.7M) show 2x </a:t>
                </a:r>
                <a:r>
                  <a:rPr lang="en-CA" sz="800" dirty="0" err="1" smtClean="0">
                    <a:latin typeface="Britannic Bold" panose="020B0903060703020204" pitchFamily="34" charset="0"/>
                    <a:cs typeface="Times New Roman" panose="02020603050405020304" pitchFamily="18" charset="0"/>
                  </a:rPr>
                  <a:t>2x</a:t>
                </a:r>
                <a:r>
                  <a:rPr lang="en-CA" sz="800" dirty="0" smtClean="0">
                    <a:latin typeface="Britannic Bold" panose="020B0903060703020204" pitchFamily="34" charset="0"/>
                    <a:cs typeface="Times New Roman" panose="02020603050405020304" pitchFamily="18" charset="0"/>
                  </a:rPr>
                  <a:t> gap vs west</a:t>
                </a:r>
                <a:r>
                  <a:rPr lang="en-CA" sz="800" dirty="0" smtClean="0">
                    <a:solidFill>
                      <a:schemeClr val="tx2">
                        <a:lumMod val="90000"/>
                      </a:schemeClr>
                    </a:solidFill>
                    <a:latin typeface="Britannic Bold" panose="020B0903060703020204" pitchFamily="34" charset="0"/>
                    <a:cs typeface="Times New Roman" panose="02020603050405020304" pitchFamily="18" charset="0"/>
                  </a:rPr>
                  <a:t>. Increase distribution and localized marketing</a:t>
                </a:r>
                <a:endParaRPr lang="en-CA" sz="800" dirty="0"/>
              </a:p>
            </p:txBody>
          </p:sp>
        </p:grpSp>
        <p:grpSp>
          <p:nvGrpSpPr>
            <p:cNvPr id="27" name="Group 26"/>
            <p:cNvGrpSpPr/>
            <p:nvPr/>
          </p:nvGrpSpPr>
          <p:grpSpPr>
            <a:xfrm>
              <a:off x="1035434" y="4360623"/>
              <a:ext cx="4270886" cy="628159"/>
              <a:chOff x="1015489" y="2476692"/>
              <a:chExt cx="4270886" cy="628159"/>
            </a:xfrm>
          </p:grpSpPr>
          <p:sp>
            <p:nvSpPr>
              <p:cNvPr id="47" name="TextBox 46"/>
              <p:cNvSpPr txBox="1"/>
              <p:nvPr/>
            </p:nvSpPr>
            <p:spPr>
              <a:xfrm>
                <a:off x="1015489" y="2476692"/>
                <a:ext cx="187262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1200" dirty="0" smtClean="0">
                    <a:solidFill>
                      <a:schemeClr val="tx2">
                        <a:lumMod val="90000"/>
                      </a:schemeClr>
                    </a:solidFill>
                    <a:latin typeface="Britannic Bold" panose="020B0903060703020204" pitchFamily="34" charset="0"/>
                    <a:cs typeface="Times New Roman" panose="02020603050405020304" pitchFamily="18" charset="0"/>
                  </a:rPr>
                  <a:t>Target Southeast Growth</a:t>
                </a:r>
                <a:endParaRPr lang="en-CA" sz="1100" dirty="0">
                  <a:solidFill>
                    <a:schemeClr val="tx2">
                      <a:lumMod val="90000"/>
                    </a:schemeClr>
                  </a:solidFill>
                  <a:latin typeface="Britannic Bold" panose="020B09030607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8" name="Rectangle 47"/>
              <p:cNvSpPr/>
              <p:nvPr/>
            </p:nvSpPr>
            <p:spPr>
              <a:xfrm>
                <a:off x="1046937" y="2766297"/>
                <a:ext cx="4239438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CA" sz="800" dirty="0" smtClean="0">
                    <a:solidFill>
                      <a:schemeClr val="tx2">
                        <a:lumMod val="90000"/>
                      </a:schemeClr>
                    </a:solidFill>
                    <a:latin typeface="Britannic Bold" panose="020B0903060703020204" pitchFamily="34" charset="0"/>
                    <a:cs typeface="Times New Roman" panose="02020603050405020304" pitchFamily="18" charset="0"/>
                  </a:rPr>
                  <a:t>Current: $163.2M(18.1%). </a:t>
                </a:r>
                <a:r>
                  <a:rPr lang="en-CA" sz="800" dirty="0" smtClean="0">
                    <a:solidFill>
                      <a:srgbClr val="5DDE16"/>
                    </a:solidFill>
                    <a:latin typeface="Britannic Bold" panose="020B0903060703020204" pitchFamily="34" charset="0"/>
                    <a:cs typeface="Times New Roman" panose="02020603050405020304" pitchFamily="18" charset="0"/>
                  </a:rPr>
                  <a:t>Opportunity:</a:t>
                </a:r>
                <a:r>
                  <a:rPr lang="en-CA" sz="800" dirty="0" smtClean="0">
                    <a:solidFill>
                      <a:schemeClr val="tx2">
                        <a:lumMod val="90000"/>
                      </a:schemeClr>
                    </a:solidFill>
                    <a:latin typeface="Britannic Bold" panose="020B0903060703020204" pitchFamily="34" charset="0"/>
                    <a:cs typeface="Times New Roman" panose="02020603050405020304" pitchFamily="18" charset="0"/>
                  </a:rPr>
                  <a:t> Florida and Texas markets show strong athletic wear adoption.</a:t>
                </a:r>
                <a:endParaRPr lang="en-CA" sz="800" dirty="0"/>
              </a:p>
            </p:txBody>
          </p:sp>
        </p:grpSp>
        <p:grpSp>
          <p:nvGrpSpPr>
            <p:cNvPr id="28" name="Group 27"/>
            <p:cNvGrpSpPr/>
            <p:nvPr/>
          </p:nvGrpSpPr>
          <p:grpSpPr>
            <a:xfrm>
              <a:off x="1025180" y="5399350"/>
              <a:ext cx="4270886" cy="628159"/>
              <a:chOff x="1015489" y="2476692"/>
              <a:chExt cx="4270886" cy="628159"/>
            </a:xfrm>
          </p:grpSpPr>
          <p:sp>
            <p:nvSpPr>
              <p:cNvPr id="45" name="TextBox 44"/>
              <p:cNvSpPr txBox="1"/>
              <p:nvPr/>
            </p:nvSpPr>
            <p:spPr>
              <a:xfrm>
                <a:off x="1015489" y="2476692"/>
                <a:ext cx="208101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1200" dirty="0" smtClean="0">
                    <a:solidFill>
                      <a:schemeClr val="tx2">
                        <a:lumMod val="90000"/>
                      </a:schemeClr>
                    </a:solidFill>
                    <a:latin typeface="Britannic Bold" panose="020B0903060703020204" pitchFamily="34" charset="0"/>
                    <a:cs typeface="Times New Roman" panose="02020603050405020304" pitchFamily="18" charset="0"/>
                  </a:rPr>
                  <a:t>Regional Retailer Alignment</a:t>
                </a:r>
                <a:endParaRPr lang="en-CA" sz="1100" dirty="0">
                  <a:solidFill>
                    <a:schemeClr val="tx2">
                      <a:lumMod val="90000"/>
                    </a:schemeClr>
                  </a:solidFill>
                  <a:latin typeface="Britannic Bold" panose="020B09030607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6" name="Rectangle 45"/>
              <p:cNvSpPr/>
              <p:nvPr/>
            </p:nvSpPr>
            <p:spPr>
              <a:xfrm>
                <a:off x="1046937" y="2766297"/>
                <a:ext cx="4239438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CA" sz="800" dirty="0" smtClean="0">
                    <a:latin typeface="Britannic Bold" panose="020B0903060703020204" pitchFamily="34" charset="0"/>
                    <a:cs typeface="Times New Roman" panose="02020603050405020304" pitchFamily="18" charset="0"/>
                  </a:rPr>
                  <a:t>Strategy:</a:t>
                </a:r>
                <a:r>
                  <a:rPr lang="en-CA" sz="800" dirty="0" smtClean="0">
                    <a:solidFill>
                      <a:schemeClr val="tx2">
                        <a:lumMod val="90000"/>
                      </a:schemeClr>
                    </a:solidFill>
                    <a:latin typeface="Britannic Bold" panose="020B0903060703020204" pitchFamily="34" charset="0"/>
                    <a:cs typeface="Times New Roman" panose="02020603050405020304" pitchFamily="18" charset="0"/>
                  </a:rPr>
                  <a:t> Partner with region-specific retailers (e.g., West Gear in West) for better </a:t>
                </a:r>
                <a:r>
                  <a:rPr lang="en-CA" sz="800" dirty="0" err="1" smtClean="0">
                    <a:solidFill>
                      <a:schemeClr val="tx2">
                        <a:lumMod val="90000"/>
                      </a:schemeClr>
                    </a:solidFill>
                    <a:latin typeface="Britannic Bold" panose="020B0903060703020204" pitchFamily="34" charset="0"/>
                    <a:cs typeface="Times New Roman" panose="02020603050405020304" pitchFamily="18" charset="0"/>
                  </a:rPr>
                  <a:t>pentration</a:t>
                </a:r>
                <a:r>
                  <a:rPr lang="en-CA" sz="800" dirty="0" smtClean="0">
                    <a:solidFill>
                      <a:schemeClr val="tx2">
                        <a:lumMod val="90000"/>
                      </a:schemeClr>
                    </a:solidFill>
                    <a:latin typeface="Britannic Bold" panose="020B0903060703020204" pitchFamily="34" charset="0"/>
                    <a:cs typeface="Times New Roman" panose="02020603050405020304" pitchFamily="18" charset="0"/>
                  </a:rPr>
                  <a:t>.</a:t>
                </a:r>
                <a:endParaRPr lang="en-CA" sz="800" dirty="0"/>
              </a:p>
            </p:txBody>
          </p:sp>
        </p:grpSp>
        <p:sp>
          <p:nvSpPr>
            <p:cNvPr id="42" name="Flowchart: Summing Junction 41"/>
            <p:cNvSpPr/>
            <p:nvPr/>
          </p:nvSpPr>
          <p:spPr>
            <a:xfrm>
              <a:off x="6506322" y="1718919"/>
              <a:ext cx="352557" cy="375264"/>
            </a:xfrm>
            <a:prstGeom prst="flowChartSummingJunction">
              <a:avLst/>
            </a:prstGeom>
            <a:solidFill>
              <a:srgbClr val="5DDE16"/>
            </a:solidFill>
            <a:ln w="38100">
              <a:solidFill>
                <a:srgbClr val="1C1C1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6964164" y="1659634"/>
              <a:ext cx="3189486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CA" sz="1600" dirty="0" smtClean="0">
                  <a:solidFill>
                    <a:srgbClr val="C9C9B5"/>
                  </a:solidFill>
                  <a:latin typeface="Britannic Bold" panose="020B0903060703020204" pitchFamily="34" charset="0"/>
                  <a:cs typeface="Times New Roman" panose="02020603050405020304" pitchFamily="18" charset="0"/>
                </a:rPr>
                <a:t>Retailer &amp; Partner Management</a:t>
              </a:r>
              <a:endParaRPr lang="en-CA" sz="1600" dirty="0">
                <a:solidFill>
                  <a:srgbClr val="C9C9B5"/>
                </a:solidFill>
                <a:latin typeface="Britannic Bold" panose="020B0903060703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6962828" y="1910764"/>
              <a:ext cx="1678665" cy="25391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CA" sz="1050" dirty="0" smtClean="0">
                  <a:solidFill>
                    <a:srgbClr val="5DDE16"/>
                  </a:solidFill>
                  <a:latin typeface="Britannic Bold" panose="020B0903060703020204" pitchFamily="34" charset="0"/>
                  <a:cs typeface="Times New Roman" panose="02020603050405020304" pitchFamily="18" charset="0"/>
                </a:rPr>
                <a:t>Partnership Optimization</a:t>
              </a:r>
              <a:endParaRPr lang="en-CA" sz="1050" dirty="0">
                <a:solidFill>
                  <a:srgbClr val="5DDE16"/>
                </a:solidFill>
                <a:latin typeface="Britannic Bold" panose="020B0903060703020204" pitchFamily="34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0" name="Group 29"/>
            <p:cNvGrpSpPr/>
            <p:nvPr/>
          </p:nvGrpSpPr>
          <p:grpSpPr>
            <a:xfrm>
              <a:off x="6999032" y="2469864"/>
              <a:ext cx="4270886" cy="628159"/>
              <a:chOff x="1015489" y="2476692"/>
              <a:chExt cx="4270886" cy="628159"/>
            </a:xfrm>
          </p:grpSpPr>
          <p:sp>
            <p:nvSpPr>
              <p:cNvPr id="40" name="TextBox 39"/>
              <p:cNvSpPr txBox="1"/>
              <p:nvPr/>
            </p:nvSpPr>
            <p:spPr>
              <a:xfrm>
                <a:off x="1015489" y="2476692"/>
                <a:ext cx="221567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1200" dirty="0" smtClean="0">
                    <a:solidFill>
                      <a:schemeClr val="tx2">
                        <a:lumMod val="90000"/>
                      </a:schemeClr>
                    </a:solidFill>
                    <a:latin typeface="Britannic Bold" panose="020B0903060703020204" pitchFamily="34" charset="0"/>
                    <a:cs typeface="Times New Roman" panose="02020603050405020304" pitchFamily="18" charset="0"/>
                  </a:rPr>
                  <a:t>Strengthen Top 3 Partnership</a:t>
                </a:r>
                <a:endParaRPr lang="en-CA" sz="1100" dirty="0">
                  <a:solidFill>
                    <a:schemeClr val="tx2">
                      <a:lumMod val="90000"/>
                    </a:schemeClr>
                  </a:solidFill>
                  <a:latin typeface="Britannic Bold" panose="020B09030607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1" name="Rectangle 40"/>
              <p:cNvSpPr/>
              <p:nvPr/>
            </p:nvSpPr>
            <p:spPr>
              <a:xfrm>
                <a:off x="1046937" y="2766297"/>
                <a:ext cx="4239438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CA" sz="800" dirty="0" smtClean="0">
                    <a:solidFill>
                      <a:schemeClr val="tx2">
                        <a:lumMod val="90000"/>
                      </a:schemeClr>
                    </a:solidFill>
                    <a:latin typeface="Britannic Bold" panose="020B0903060703020204" pitchFamily="34" charset="0"/>
                    <a:cs typeface="Times New Roman" panose="02020603050405020304" pitchFamily="18" charset="0"/>
                  </a:rPr>
                  <a:t>West Gear, Foot locker and Sports Direct =</a:t>
                </a:r>
                <a:r>
                  <a:rPr lang="en-CA" sz="800" dirty="0" smtClean="0">
                    <a:solidFill>
                      <a:schemeClr val="tx2">
                        <a:lumMod val="90000"/>
                      </a:schemeClr>
                    </a:solidFill>
                    <a:latin typeface="Britannic Bold" panose="020B0903060703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CA" sz="800" dirty="0" smtClean="0">
                    <a:solidFill>
                      <a:srgbClr val="5DDE16"/>
                    </a:solidFill>
                    <a:latin typeface="Britannic Bold" panose="020B0903060703020204" pitchFamily="34" charset="0"/>
                    <a:cs typeface="Times New Roman" panose="02020603050405020304" pitchFamily="18" charset="0"/>
                  </a:rPr>
                  <a:t>71.8% of sales.</a:t>
                </a:r>
                <a:r>
                  <a:rPr lang="en-CA" sz="800" dirty="0" smtClean="0">
                    <a:solidFill>
                      <a:schemeClr val="tx2">
                        <a:lumMod val="90000"/>
                      </a:schemeClr>
                    </a:solidFill>
                    <a:latin typeface="Britannic Bold" panose="020B0903060703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CA" sz="800" dirty="0" smtClean="0">
                    <a:solidFill>
                      <a:schemeClr val="tx2">
                        <a:lumMod val="90000"/>
                      </a:schemeClr>
                    </a:solidFill>
                    <a:latin typeface="Britannic Bold" panose="020B0903060703020204" pitchFamily="34" charset="0"/>
                    <a:cs typeface="Times New Roman" panose="02020603050405020304" pitchFamily="18" charset="0"/>
                  </a:rPr>
                  <a:t>Negotiate exclusive lines and co-marketing</a:t>
                </a:r>
                <a:endParaRPr lang="en-CA" sz="800" dirty="0"/>
              </a:p>
            </p:txBody>
          </p:sp>
        </p:grpSp>
        <p:grpSp>
          <p:nvGrpSpPr>
            <p:cNvPr id="31" name="Group 30"/>
            <p:cNvGrpSpPr/>
            <p:nvPr/>
          </p:nvGrpSpPr>
          <p:grpSpPr>
            <a:xfrm>
              <a:off x="7030480" y="3462205"/>
              <a:ext cx="4270886" cy="628159"/>
              <a:chOff x="1015489" y="2476692"/>
              <a:chExt cx="4270886" cy="628159"/>
            </a:xfrm>
          </p:grpSpPr>
          <p:sp>
            <p:nvSpPr>
              <p:cNvPr id="38" name="TextBox 37"/>
              <p:cNvSpPr txBox="1"/>
              <p:nvPr/>
            </p:nvSpPr>
            <p:spPr>
              <a:xfrm>
                <a:off x="1015489" y="2476692"/>
                <a:ext cx="210506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1200" dirty="0" smtClean="0">
                    <a:solidFill>
                      <a:schemeClr val="tx2">
                        <a:lumMod val="90000"/>
                      </a:schemeClr>
                    </a:solidFill>
                    <a:latin typeface="Britannic Bold" panose="020B0903060703020204" pitchFamily="34" charset="0"/>
                    <a:cs typeface="Times New Roman" panose="02020603050405020304" pitchFamily="18" charset="0"/>
                  </a:rPr>
                  <a:t>Optimize Amazon &amp; Walmart</a:t>
                </a:r>
                <a:endParaRPr lang="en-CA" sz="1100" dirty="0">
                  <a:solidFill>
                    <a:schemeClr val="tx2">
                      <a:lumMod val="90000"/>
                    </a:schemeClr>
                  </a:solidFill>
                  <a:latin typeface="Britannic Bold" panose="020B09030607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9" name="Rectangle 38"/>
              <p:cNvSpPr/>
              <p:nvPr/>
            </p:nvSpPr>
            <p:spPr>
              <a:xfrm>
                <a:off x="1046937" y="2766297"/>
                <a:ext cx="4239438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CA" sz="800" dirty="0" smtClean="0">
                    <a:solidFill>
                      <a:schemeClr val="tx2">
                        <a:lumMod val="90000"/>
                      </a:schemeClr>
                    </a:solidFill>
                    <a:latin typeface="Britannic Bold" panose="020B0903060703020204" pitchFamily="34" charset="0"/>
                    <a:cs typeface="Times New Roman" panose="02020603050405020304" pitchFamily="18" charset="0"/>
                  </a:rPr>
                  <a:t>Combined: </a:t>
                </a:r>
                <a:r>
                  <a:rPr lang="en-CA" sz="800" dirty="0" smtClean="0">
                    <a:solidFill>
                      <a:schemeClr val="tx2">
                        <a:lumMod val="90000"/>
                      </a:schemeClr>
                    </a:solidFill>
                    <a:latin typeface="Britannic Bold" panose="020B0903060703020204" pitchFamily="34" charset="0"/>
                    <a:cs typeface="Times New Roman" panose="02020603050405020304" pitchFamily="18" charset="0"/>
                  </a:rPr>
                  <a:t>$152.3M(16.9%). </a:t>
                </a:r>
                <a:r>
                  <a:rPr lang="en-CA" sz="800" dirty="0" smtClean="0">
                    <a:latin typeface="Britannic Bold" panose="020B0903060703020204" pitchFamily="34" charset="0"/>
                    <a:cs typeface="Times New Roman" panose="02020603050405020304" pitchFamily="18" charset="0"/>
                  </a:rPr>
                  <a:t>Action:</a:t>
                </a:r>
                <a:r>
                  <a:rPr lang="en-CA" sz="800" dirty="0" smtClean="0">
                    <a:solidFill>
                      <a:schemeClr val="tx2">
                        <a:lumMod val="90000"/>
                      </a:schemeClr>
                    </a:solidFill>
                    <a:latin typeface="Britannic Bold" panose="020B0903060703020204" pitchFamily="34" charset="0"/>
                    <a:cs typeface="Times New Roman" panose="02020603050405020304" pitchFamily="18" charset="0"/>
                  </a:rPr>
                  <a:t> Increase product visibility, improve listings, and leverage </a:t>
                </a:r>
                <a:r>
                  <a:rPr lang="en-CA" sz="800" dirty="0">
                    <a:solidFill>
                      <a:schemeClr val="tx2">
                        <a:lumMod val="90000"/>
                      </a:schemeClr>
                    </a:solidFill>
                    <a:latin typeface="Britannic Bold" panose="020B0903060703020204" pitchFamily="34" charset="0"/>
                    <a:cs typeface="Times New Roman" panose="02020603050405020304" pitchFamily="18" charset="0"/>
                  </a:rPr>
                  <a:t>P</a:t>
                </a:r>
                <a:r>
                  <a:rPr lang="en-CA" sz="800" dirty="0" smtClean="0">
                    <a:solidFill>
                      <a:schemeClr val="tx2">
                        <a:lumMod val="90000"/>
                      </a:schemeClr>
                    </a:solidFill>
                    <a:latin typeface="Britannic Bold" panose="020B0903060703020204" pitchFamily="34" charset="0"/>
                    <a:cs typeface="Times New Roman" panose="02020603050405020304" pitchFamily="18" charset="0"/>
                  </a:rPr>
                  <a:t>rime/Plus benefits</a:t>
                </a:r>
                <a:endParaRPr lang="en-CA" sz="800" dirty="0"/>
              </a:p>
            </p:txBody>
          </p:sp>
        </p:grpSp>
        <p:grpSp>
          <p:nvGrpSpPr>
            <p:cNvPr id="32" name="Group 31"/>
            <p:cNvGrpSpPr/>
            <p:nvPr/>
          </p:nvGrpSpPr>
          <p:grpSpPr>
            <a:xfrm>
              <a:off x="7066377" y="4447886"/>
              <a:ext cx="4270886" cy="628159"/>
              <a:chOff x="1015489" y="2476692"/>
              <a:chExt cx="4270886" cy="628159"/>
            </a:xfrm>
          </p:grpSpPr>
          <p:sp>
            <p:nvSpPr>
              <p:cNvPr id="36" name="TextBox 35"/>
              <p:cNvSpPr txBox="1"/>
              <p:nvPr/>
            </p:nvSpPr>
            <p:spPr>
              <a:xfrm>
                <a:off x="1015489" y="2476692"/>
                <a:ext cx="267092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1200" dirty="0" smtClean="0">
                    <a:solidFill>
                      <a:schemeClr val="tx2">
                        <a:lumMod val="90000"/>
                      </a:schemeClr>
                    </a:solidFill>
                    <a:latin typeface="Britannic Bold" panose="020B0903060703020204" pitchFamily="34" charset="0"/>
                    <a:cs typeface="Times New Roman" panose="02020603050405020304" pitchFamily="18" charset="0"/>
                  </a:rPr>
                  <a:t>Enhance Sports Direct Collaboration</a:t>
                </a:r>
                <a:endParaRPr lang="en-CA" sz="1100" dirty="0">
                  <a:solidFill>
                    <a:schemeClr val="tx2">
                      <a:lumMod val="90000"/>
                    </a:schemeClr>
                  </a:solidFill>
                  <a:latin typeface="Britannic Bold" panose="020B09030607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7" name="Rectangle 36"/>
              <p:cNvSpPr/>
              <p:nvPr/>
            </p:nvSpPr>
            <p:spPr>
              <a:xfrm>
                <a:off x="1046937" y="2766297"/>
                <a:ext cx="4239438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CA" sz="800" dirty="0" smtClean="0">
                    <a:solidFill>
                      <a:schemeClr val="tx2">
                        <a:lumMod val="90000"/>
                      </a:schemeClr>
                    </a:solidFill>
                    <a:latin typeface="Britannic Bold" panose="020B0903060703020204" pitchFamily="34" charset="0"/>
                    <a:cs typeface="Times New Roman" panose="02020603050405020304" pitchFamily="18" charset="0"/>
                  </a:rPr>
                  <a:t>Current: $182.5(16.9%). </a:t>
                </a:r>
                <a:r>
                  <a:rPr lang="en-CA" sz="800" dirty="0" smtClean="0">
                    <a:solidFill>
                      <a:srgbClr val="5DDE16"/>
                    </a:solidFill>
                    <a:latin typeface="Britannic Bold" panose="020B0903060703020204" pitchFamily="34" charset="0"/>
                    <a:cs typeface="Times New Roman" panose="02020603050405020304" pitchFamily="18" charset="0"/>
                  </a:rPr>
                  <a:t>Growth Potential: </a:t>
                </a:r>
                <a:r>
                  <a:rPr lang="en-CA" sz="800" dirty="0" smtClean="0">
                    <a:solidFill>
                      <a:schemeClr val="tx2">
                        <a:lumMod val="90000"/>
                      </a:schemeClr>
                    </a:solidFill>
                    <a:latin typeface="Britannic Bold" panose="020B0903060703020204" pitchFamily="34" charset="0"/>
                    <a:cs typeface="Times New Roman" panose="02020603050405020304" pitchFamily="18" charset="0"/>
                  </a:rPr>
                  <a:t>Expand product range and promotional frequency</a:t>
                </a:r>
                <a:endParaRPr lang="en-CA" sz="800" dirty="0"/>
              </a:p>
            </p:txBody>
          </p:sp>
        </p:grpSp>
        <p:grpSp>
          <p:nvGrpSpPr>
            <p:cNvPr id="33" name="Group 32"/>
            <p:cNvGrpSpPr/>
            <p:nvPr/>
          </p:nvGrpSpPr>
          <p:grpSpPr>
            <a:xfrm>
              <a:off x="7066377" y="5418643"/>
              <a:ext cx="4270886" cy="505049"/>
              <a:chOff x="1015489" y="2476692"/>
              <a:chExt cx="4270886" cy="505049"/>
            </a:xfrm>
          </p:grpSpPr>
          <p:sp>
            <p:nvSpPr>
              <p:cNvPr id="34" name="TextBox 33"/>
              <p:cNvSpPr txBox="1"/>
              <p:nvPr/>
            </p:nvSpPr>
            <p:spPr>
              <a:xfrm>
                <a:off x="1015489" y="2476692"/>
                <a:ext cx="198964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1200" dirty="0" smtClean="0">
                    <a:solidFill>
                      <a:schemeClr val="tx2">
                        <a:lumMod val="90000"/>
                      </a:schemeClr>
                    </a:solidFill>
                    <a:latin typeface="Britannic Bold" panose="020B0903060703020204" pitchFamily="34" charset="0"/>
                    <a:cs typeface="Times New Roman" panose="02020603050405020304" pitchFamily="18" charset="0"/>
                  </a:rPr>
                  <a:t>Diversify Retailer Portfolio</a:t>
                </a:r>
                <a:endParaRPr lang="en-CA" sz="1100" dirty="0">
                  <a:solidFill>
                    <a:schemeClr val="tx2">
                      <a:lumMod val="90000"/>
                    </a:schemeClr>
                  </a:solidFill>
                  <a:latin typeface="Britannic Bold" panose="020B09030607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5" name="Rectangle 34"/>
              <p:cNvSpPr/>
              <p:nvPr/>
            </p:nvSpPr>
            <p:spPr>
              <a:xfrm>
                <a:off x="1046937" y="2766297"/>
                <a:ext cx="4239438" cy="21544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CA" sz="800" dirty="0" smtClean="0">
                    <a:latin typeface="Britannic Bold" panose="020B0903060703020204" pitchFamily="34" charset="0"/>
                    <a:cs typeface="Times New Roman" panose="02020603050405020304" pitchFamily="18" charset="0"/>
                  </a:rPr>
                  <a:t>Strategy dependency: Explore partnership with speciality fitness and lifestyle retailers</a:t>
                </a:r>
                <a:endParaRPr lang="en-CA" sz="8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60882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" name="Group 148"/>
          <p:cNvGrpSpPr/>
          <p:nvPr/>
        </p:nvGrpSpPr>
        <p:grpSpPr>
          <a:xfrm>
            <a:off x="228190" y="326349"/>
            <a:ext cx="11744735" cy="6276672"/>
            <a:chOff x="294865" y="183474"/>
            <a:chExt cx="11744735" cy="6276672"/>
          </a:xfrm>
        </p:grpSpPr>
        <p:sp>
          <p:nvSpPr>
            <p:cNvPr id="2" name="Rounded Rectangle 1"/>
            <p:cNvSpPr/>
            <p:nvPr/>
          </p:nvSpPr>
          <p:spPr>
            <a:xfrm>
              <a:off x="522255" y="183474"/>
              <a:ext cx="2052413" cy="283443"/>
            </a:xfrm>
            <a:prstGeom prst="roundRect">
              <a:avLst/>
            </a:prstGeom>
            <a:solidFill>
              <a:srgbClr val="5DDE16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CA" sz="1050" dirty="0" smtClean="0">
                  <a:solidFill>
                    <a:schemeClr val="bg1"/>
                  </a:solidFill>
                  <a:latin typeface="Cooper Black" panose="0208090404030B020404" pitchFamily="18" charset="0"/>
                </a:rPr>
                <a:t>10/CONCLUSION</a:t>
              </a:r>
              <a:endParaRPr lang="en-CA" sz="1200" dirty="0">
                <a:solidFill>
                  <a:schemeClr val="bg1"/>
                </a:solidFill>
                <a:latin typeface="Cooper Black" panose="0208090404030B020404" pitchFamily="18" charset="0"/>
              </a:endParaRP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373627" y="504423"/>
              <a:ext cx="49290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dirty="0" smtClean="0">
                  <a:solidFill>
                    <a:schemeClr val="tx2">
                      <a:lumMod val="90000"/>
                    </a:schemeClr>
                  </a:solidFill>
                  <a:latin typeface="Cooper Black" panose="0208090404030B020404" pitchFamily="18" charset="0"/>
                </a:rPr>
                <a:t>Demand Forecasting &amp; Next Steps</a:t>
              </a:r>
              <a:endParaRPr lang="en-CA" sz="2800" dirty="0" smtClean="0">
                <a:solidFill>
                  <a:schemeClr val="tx2">
                    <a:lumMod val="90000"/>
                  </a:schemeClr>
                </a:solidFill>
                <a:latin typeface="Cooper Black" panose="0208090404030B020404" pitchFamily="18" charset="0"/>
              </a:endParaRPr>
            </a:p>
          </p:txBody>
        </p:sp>
        <p:sp>
          <p:nvSpPr>
            <p:cNvPr id="4" name="Rectangle 3"/>
            <p:cNvSpPr/>
            <p:nvPr/>
          </p:nvSpPr>
          <p:spPr>
            <a:xfrm>
              <a:off x="373627" y="873755"/>
              <a:ext cx="7558479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CA" sz="1100" dirty="0" smtClean="0">
                  <a:solidFill>
                    <a:schemeClr val="tx2">
                      <a:lumMod val="90000"/>
                    </a:schemeClr>
                  </a:solidFill>
                  <a:latin typeface="Britannic Bold" panose="020B0903060703020204" pitchFamily="34" charset="0"/>
                  <a:cs typeface="Times New Roman" panose="02020603050405020304" pitchFamily="18" charset="0"/>
                </a:rPr>
                <a:t>Data-driven approach to sustained growth and market leadership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294865" y="1326227"/>
              <a:ext cx="5296822" cy="2552063"/>
            </a:xfrm>
            <a:prstGeom prst="roundRect">
              <a:avLst>
                <a:gd name="adj" fmla="val 11217"/>
              </a:avLst>
            </a:prstGeom>
            <a:solidFill>
              <a:srgbClr val="5DDE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373627" y="1256017"/>
              <a:ext cx="7476045" cy="2611189"/>
            </a:xfrm>
            <a:prstGeom prst="roundRect">
              <a:avLst>
                <a:gd name="adj" fmla="val 10450"/>
              </a:avLst>
            </a:prstGeom>
            <a:solidFill>
              <a:srgbClr val="122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7937073" y="1256017"/>
              <a:ext cx="4102527" cy="2034170"/>
            </a:xfrm>
            <a:prstGeom prst="roundRect">
              <a:avLst>
                <a:gd name="adj" fmla="val 7500"/>
              </a:avLst>
            </a:prstGeom>
            <a:solidFill>
              <a:srgbClr val="5DDE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grpSp>
          <p:nvGrpSpPr>
            <p:cNvPr id="41" name="Group 40"/>
            <p:cNvGrpSpPr/>
            <p:nvPr/>
          </p:nvGrpSpPr>
          <p:grpSpPr>
            <a:xfrm rot="21175577" flipV="1">
              <a:off x="9229025" y="1937786"/>
              <a:ext cx="2614966" cy="59258"/>
              <a:chOff x="1413534" y="1589642"/>
              <a:chExt cx="3414035" cy="4395247"/>
            </a:xfrm>
          </p:grpSpPr>
          <p:sp>
            <p:nvSpPr>
              <p:cNvPr id="42" name="Isosceles Triangle 41"/>
              <p:cNvSpPr/>
              <p:nvPr/>
            </p:nvSpPr>
            <p:spPr>
              <a:xfrm rot="1464109">
                <a:off x="1884129" y="1685314"/>
                <a:ext cx="2943440" cy="3352800"/>
              </a:xfrm>
              <a:prstGeom prst="triangle">
                <a:avLst/>
              </a:prstGeom>
              <a:solidFill>
                <a:srgbClr val="98EE42">
                  <a:alpha val="21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grpSp>
            <p:nvGrpSpPr>
              <p:cNvPr id="43" name="Group 42"/>
              <p:cNvGrpSpPr/>
              <p:nvPr/>
            </p:nvGrpSpPr>
            <p:grpSpPr>
              <a:xfrm>
                <a:off x="1413534" y="1589642"/>
                <a:ext cx="3085440" cy="4395247"/>
                <a:chOff x="1413534" y="1589642"/>
                <a:chExt cx="3085440" cy="4395247"/>
              </a:xfrm>
            </p:grpSpPr>
            <p:sp>
              <p:nvSpPr>
                <p:cNvPr id="44" name="Isosceles Triangle 43"/>
                <p:cNvSpPr/>
                <p:nvPr/>
              </p:nvSpPr>
              <p:spPr>
                <a:xfrm rot="1464109">
                  <a:off x="1555534" y="1589642"/>
                  <a:ext cx="2943440" cy="3352800"/>
                </a:xfrm>
                <a:prstGeom prst="triangle">
                  <a:avLst/>
                </a:prstGeom>
                <a:solidFill>
                  <a:srgbClr val="98EE42">
                    <a:alpha val="21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sp>
              <p:nvSpPr>
                <p:cNvPr id="45" name="Isosceles Triangle 44"/>
                <p:cNvSpPr/>
                <p:nvPr/>
              </p:nvSpPr>
              <p:spPr>
                <a:xfrm rot="8265233">
                  <a:off x="1413534" y="2632089"/>
                  <a:ext cx="2943440" cy="3352800"/>
                </a:xfrm>
                <a:prstGeom prst="triangle">
                  <a:avLst/>
                </a:prstGeom>
                <a:solidFill>
                  <a:srgbClr val="98EE42">
                    <a:alpha val="21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</p:grpSp>
        </p:grpSp>
        <p:sp>
          <p:nvSpPr>
            <p:cNvPr id="68" name="Pie 67"/>
            <p:cNvSpPr/>
            <p:nvPr/>
          </p:nvSpPr>
          <p:spPr>
            <a:xfrm>
              <a:off x="584317" y="1553633"/>
              <a:ext cx="190500" cy="188752"/>
            </a:xfrm>
            <a:prstGeom prst="pie">
              <a:avLst/>
            </a:prstGeom>
            <a:solidFill>
              <a:srgbClr val="5DDE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>
                <a:solidFill>
                  <a:schemeClr val="tx1"/>
                </a:solidFill>
              </a:endParaRP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828295" y="1459453"/>
              <a:ext cx="33105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 smtClean="0">
                  <a:latin typeface="Britannic Bold" panose="020B0903060703020204" pitchFamily="34" charset="0"/>
                </a:rPr>
                <a:t>Demand Forecasting Approach</a:t>
              </a:r>
              <a:endParaRPr lang="en-CA" dirty="0">
                <a:latin typeface="Britannic Bold" panose="020B0903060703020204" pitchFamily="34" charset="0"/>
              </a:endParaRPr>
            </a:p>
          </p:txBody>
        </p:sp>
        <p:sp>
          <p:nvSpPr>
            <p:cNvPr id="70" name="Rounded Rectangle 69"/>
            <p:cNvSpPr/>
            <p:nvPr/>
          </p:nvSpPr>
          <p:spPr>
            <a:xfrm>
              <a:off x="584317" y="2142418"/>
              <a:ext cx="3467099" cy="1510564"/>
            </a:xfrm>
            <a:prstGeom prst="roundRect">
              <a:avLst>
                <a:gd name="adj" fmla="val 10450"/>
              </a:avLst>
            </a:prstGeom>
            <a:solidFill>
              <a:srgbClr val="0D0D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828295" y="2163908"/>
              <a:ext cx="20313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 smtClean="0">
                  <a:solidFill>
                    <a:srgbClr val="5DDE16"/>
                  </a:solidFill>
                  <a:latin typeface="Britannic Bold" panose="020B0903060703020204" pitchFamily="34" charset="0"/>
                </a:rPr>
                <a:t>Seasonal Patterns</a:t>
              </a:r>
              <a:endParaRPr lang="en-CA" dirty="0">
                <a:solidFill>
                  <a:srgbClr val="5DDE16"/>
                </a:solidFill>
                <a:latin typeface="Britannic Bold" panose="020B0903060703020204" pitchFamily="34" charset="0"/>
              </a:endParaRPr>
            </a:p>
          </p:txBody>
        </p:sp>
        <p:sp>
          <p:nvSpPr>
            <p:cNvPr id="72" name="Oval 71"/>
            <p:cNvSpPr/>
            <p:nvPr/>
          </p:nvSpPr>
          <p:spPr>
            <a:xfrm>
              <a:off x="793866" y="2600186"/>
              <a:ext cx="45719" cy="45719"/>
            </a:xfrm>
            <a:prstGeom prst="ellipse">
              <a:avLst/>
            </a:prstGeom>
            <a:solidFill>
              <a:srgbClr val="C9C9B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73" name="Oval 72"/>
            <p:cNvSpPr/>
            <p:nvPr/>
          </p:nvSpPr>
          <p:spPr>
            <a:xfrm>
              <a:off x="793866" y="2857361"/>
              <a:ext cx="45719" cy="45719"/>
            </a:xfrm>
            <a:prstGeom prst="ellipse">
              <a:avLst/>
            </a:prstGeom>
            <a:solidFill>
              <a:srgbClr val="C9C9B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74" name="Oval 73"/>
            <p:cNvSpPr/>
            <p:nvPr/>
          </p:nvSpPr>
          <p:spPr>
            <a:xfrm>
              <a:off x="793866" y="3124061"/>
              <a:ext cx="45719" cy="45719"/>
            </a:xfrm>
            <a:prstGeom prst="ellipse">
              <a:avLst/>
            </a:prstGeom>
            <a:solidFill>
              <a:srgbClr val="C9C9B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860989" y="2492240"/>
              <a:ext cx="284404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1100" b="1" dirty="0" smtClean="0">
                  <a:latin typeface="Britannic Bold" panose="020B0903060703020204" pitchFamily="34" charset="0"/>
                </a:rPr>
                <a:t>Q3 Peak: </a:t>
              </a:r>
              <a:r>
                <a:rPr lang="en-CA" sz="1100" dirty="0" smtClean="0">
                  <a:latin typeface="Britannic Bold" panose="020B0903060703020204" pitchFamily="34" charset="0"/>
                </a:rPr>
                <a:t>July-August (</a:t>
              </a:r>
              <a:r>
                <a:rPr lang="en-CA" sz="1100" dirty="0" err="1" smtClean="0">
                  <a:latin typeface="Britannic Bold" panose="020B0903060703020204" pitchFamily="34" charset="0"/>
                </a:rPr>
                <a:t>avg</a:t>
              </a:r>
              <a:r>
                <a:rPr lang="en-CA" sz="1100" dirty="0" smtClean="0">
                  <a:latin typeface="Britannic Bold" panose="020B0903060703020204" pitchFamily="34" charset="0"/>
                </a:rPr>
                <a:t> $88.4M/month)</a:t>
              </a:r>
              <a:endParaRPr lang="en-CA" sz="1100" b="1" dirty="0">
                <a:latin typeface="Britannic Bold" panose="020B0903060703020204" pitchFamily="34" charset="0"/>
              </a:endParaRPr>
            </a:p>
          </p:txBody>
        </p:sp>
        <p:sp>
          <p:nvSpPr>
            <p:cNvPr id="76" name="Rectangle 75"/>
            <p:cNvSpPr/>
            <p:nvPr/>
          </p:nvSpPr>
          <p:spPr>
            <a:xfrm>
              <a:off x="860989" y="2788240"/>
              <a:ext cx="2720617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CA" sz="1100" b="1" dirty="0" smtClean="0">
                  <a:latin typeface="Britannic Bold" panose="020B0903060703020204" pitchFamily="34" charset="0"/>
                </a:rPr>
                <a:t>Q1 Low: </a:t>
              </a:r>
              <a:r>
                <a:rPr lang="en-CA" sz="1100" dirty="0" smtClean="0">
                  <a:latin typeface="Britannic Bold" panose="020B0903060703020204" pitchFamily="34" charset="0"/>
                </a:rPr>
                <a:t>Feb-March (</a:t>
              </a:r>
              <a:r>
                <a:rPr lang="en-CA" sz="1100" dirty="0" err="1" smtClean="0">
                  <a:latin typeface="Britannic Bold" panose="020B0903060703020204" pitchFamily="34" charset="0"/>
                </a:rPr>
                <a:t>avg</a:t>
              </a:r>
              <a:r>
                <a:rPr lang="en-CA" sz="1100" dirty="0" smtClean="0">
                  <a:latin typeface="Britannic Bold" panose="020B0903060703020204" pitchFamily="34" charset="0"/>
                </a:rPr>
                <a:t> $63.1M/month)</a:t>
              </a:r>
              <a:endParaRPr lang="en-CA" sz="1100" b="1" dirty="0">
                <a:latin typeface="Britannic Bold" panose="020B0903060703020204" pitchFamily="34" charset="0"/>
              </a:endParaRPr>
            </a:p>
          </p:txBody>
        </p:sp>
        <p:sp>
          <p:nvSpPr>
            <p:cNvPr id="77" name="Rectangle 76"/>
            <p:cNvSpPr/>
            <p:nvPr/>
          </p:nvSpPr>
          <p:spPr>
            <a:xfrm>
              <a:off x="862973" y="3069563"/>
              <a:ext cx="2327881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CA" sz="1100" b="1" dirty="0" smtClean="0">
                  <a:latin typeface="Britannic Bold" panose="020B0903060703020204" pitchFamily="34" charset="0"/>
                </a:rPr>
                <a:t>Holiday Boost: </a:t>
              </a:r>
              <a:r>
                <a:rPr lang="en-CA" sz="1100" dirty="0" smtClean="0">
                  <a:latin typeface="Britannic Bold" panose="020B0903060703020204" pitchFamily="34" charset="0"/>
                </a:rPr>
                <a:t>December recovery</a:t>
              </a:r>
              <a:endParaRPr lang="en-CA" sz="1100" b="1" dirty="0">
                <a:latin typeface="Britannic Bold" panose="020B0903060703020204" pitchFamily="34" charset="0"/>
              </a:endParaRPr>
            </a:p>
          </p:txBody>
        </p:sp>
        <p:sp>
          <p:nvSpPr>
            <p:cNvPr id="78" name="Rounded Rectangle 77"/>
            <p:cNvSpPr/>
            <p:nvPr/>
          </p:nvSpPr>
          <p:spPr>
            <a:xfrm>
              <a:off x="4138817" y="2142418"/>
              <a:ext cx="3467099" cy="1510564"/>
            </a:xfrm>
            <a:prstGeom prst="roundRect">
              <a:avLst>
                <a:gd name="adj" fmla="val 10450"/>
              </a:avLst>
            </a:prstGeom>
            <a:solidFill>
              <a:srgbClr val="0D0D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4382795" y="2163908"/>
              <a:ext cx="20457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 smtClean="0">
                  <a:solidFill>
                    <a:srgbClr val="5DDE16"/>
                  </a:solidFill>
                  <a:latin typeface="Britannic Bold" panose="020B0903060703020204" pitchFamily="34" charset="0"/>
                </a:rPr>
                <a:t>Quarterly Targets </a:t>
              </a:r>
              <a:endParaRPr lang="en-CA" dirty="0">
                <a:solidFill>
                  <a:srgbClr val="5DDE16"/>
                </a:solidFill>
                <a:latin typeface="Britannic Bold" panose="020B0903060703020204" pitchFamily="34" charset="0"/>
              </a:endParaRPr>
            </a:p>
          </p:txBody>
        </p:sp>
        <p:sp>
          <p:nvSpPr>
            <p:cNvPr id="80" name="Oval 79"/>
            <p:cNvSpPr/>
            <p:nvPr/>
          </p:nvSpPr>
          <p:spPr>
            <a:xfrm>
              <a:off x="4348366" y="2600186"/>
              <a:ext cx="45719" cy="45719"/>
            </a:xfrm>
            <a:prstGeom prst="ellipse">
              <a:avLst/>
            </a:prstGeom>
            <a:solidFill>
              <a:srgbClr val="C9C9B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81" name="Oval 80"/>
            <p:cNvSpPr/>
            <p:nvPr/>
          </p:nvSpPr>
          <p:spPr>
            <a:xfrm>
              <a:off x="4348366" y="2857361"/>
              <a:ext cx="45719" cy="45719"/>
            </a:xfrm>
            <a:prstGeom prst="ellipse">
              <a:avLst/>
            </a:prstGeom>
            <a:solidFill>
              <a:srgbClr val="C9C9B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4415489" y="2492240"/>
              <a:ext cx="182293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1100" b="1" dirty="0" smtClean="0">
                  <a:solidFill>
                    <a:srgbClr val="5DDE16"/>
                  </a:solidFill>
                  <a:latin typeface="Britannic Bold" panose="020B0903060703020204" pitchFamily="34" charset="0"/>
                </a:rPr>
                <a:t>Q1</a:t>
              </a:r>
              <a:r>
                <a:rPr lang="en-CA" sz="1100" b="1" dirty="0" smtClean="0">
                  <a:latin typeface="Britannic Bold" panose="020B0903060703020204" pitchFamily="34" charset="0"/>
                </a:rPr>
                <a:t>: </a:t>
              </a:r>
              <a:r>
                <a:rPr lang="en-CA" sz="1100" dirty="0" smtClean="0">
                  <a:latin typeface="Britannic Bold" panose="020B0903060703020204" pitchFamily="34" charset="0"/>
                </a:rPr>
                <a:t>$200M (conservative)</a:t>
              </a:r>
              <a:endParaRPr lang="en-CA" sz="1100" b="1" dirty="0">
                <a:latin typeface="Britannic Bold" panose="020B0903060703020204" pitchFamily="34" charset="0"/>
              </a:endParaRPr>
            </a:p>
          </p:txBody>
        </p:sp>
        <p:sp>
          <p:nvSpPr>
            <p:cNvPr id="84" name="Rectangle 83"/>
            <p:cNvSpPr/>
            <p:nvPr/>
          </p:nvSpPr>
          <p:spPr>
            <a:xfrm>
              <a:off x="4415489" y="2788240"/>
              <a:ext cx="1885453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CA" sz="1100" b="1" dirty="0" smtClean="0">
                  <a:latin typeface="Britannic Bold" panose="020B0903060703020204" pitchFamily="34" charset="0"/>
                </a:rPr>
                <a:t>Q2: </a:t>
              </a:r>
              <a:r>
                <a:rPr lang="en-CA" sz="1100" dirty="0" smtClean="0">
                  <a:latin typeface="Britannic Bold" panose="020B0903060703020204" pitchFamily="34" charset="0"/>
                </a:rPr>
                <a:t>$240M (growth phase)</a:t>
              </a:r>
              <a:endParaRPr lang="en-CA" sz="1100" b="1" dirty="0">
                <a:latin typeface="Britannic Bold" panose="020B0903060703020204" pitchFamily="34" charset="0"/>
              </a:endParaRPr>
            </a:p>
          </p:txBody>
        </p:sp>
        <p:grpSp>
          <p:nvGrpSpPr>
            <p:cNvPr id="86" name="Group 85"/>
            <p:cNvGrpSpPr/>
            <p:nvPr/>
          </p:nvGrpSpPr>
          <p:grpSpPr>
            <a:xfrm>
              <a:off x="4348366" y="3069563"/>
              <a:ext cx="1920896" cy="220624"/>
              <a:chOff x="4430800" y="3249481"/>
              <a:chExt cx="1920896" cy="261610"/>
            </a:xfrm>
          </p:grpSpPr>
          <p:sp>
            <p:nvSpPr>
              <p:cNvPr id="82" name="Oval 81"/>
              <p:cNvSpPr/>
              <p:nvPr/>
            </p:nvSpPr>
            <p:spPr>
              <a:xfrm>
                <a:off x="4430800" y="3303979"/>
                <a:ext cx="45719" cy="45719"/>
              </a:xfrm>
              <a:prstGeom prst="ellipse">
                <a:avLst/>
              </a:prstGeom>
              <a:solidFill>
                <a:srgbClr val="C9C9B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85" name="Rectangle 84"/>
              <p:cNvSpPr/>
              <p:nvPr/>
            </p:nvSpPr>
            <p:spPr>
              <a:xfrm>
                <a:off x="4499907" y="3249481"/>
                <a:ext cx="1851789" cy="2616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CA" sz="1100" b="1" dirty="0" smtClean="0">
                    <a:solidFill>
                      <a:srgbClr val="5DDE16"/>
                    </a:solidFill>
                    <a:latin typeface="Britannic Bold" panose="020B0903060703020204" pitchFamily="34" charset="0"/>
                  </a:rPr>
                  <a:t>Q3</a:t>
                </a:r>
                <a:r>
                  <a:rPr lang="en-CA" sz="1100" b="1" dirty="0" smtClean="0">
                    <a:latin typeface="Britannic Bold" panose="020B0903060703020204" pitchFamily="34" charset="0"/>
                  </a:rPr>
                  <a:t>: </a:t>
                </a:r>
                <a:r>
                  <a:rPr lang="en-CA" sz="1100" dirty="0" smtClean="0">
                    <a:latin typeface="Britannic Bold" panose="020B0903060703020204" pitchFamily="34" charset="0"/>
                  </a:rPr>
                  <a:t>$280M 9peak season</a:t>
                </a:r>
                <a:r>
                  <a:rPr lang="en-CA" sz="1100" b="1" dirty="0" smtClean="0">
                    <a:latin typeface="Britannic Bold" panose="020B0903060703020204" pitchFamily="34" charset="0"/>
                  </a:rPr>
                  <a:t>)</a:t>
                </a:r>
                <a:endParaRPr lang="en-CA" sz="1100" b="1" dirty="0">
                  <a:latin typeface="Britannic Bold" panose="020B0903060703020204" pitchFamily="34" charset="0"/>
                </a:endParaRPr>
              </a:p>
            </p:txBody>
          </p:sp>
        </p:grpSp>
        <p:grpSp>
          <p:nvGrpSpPr>
            <p:cNvPr id="87" name="Group 86"/>
            <p:cNvGrpSpPr/>
            <p:nvPr/>
          </p:nvGrpSpPr>
          <p:grpSpPr>
            <a:xfrm>
              <a:off x="4348366" y="3326276"/>
              <a:ext cx="1561823" cy="220624"/>
              <a:chOff x="4430800" y="3249481"/>
              <a:chExt cx="1561823" cy="261610"/>
            </a:xfrm>
          </p:grpSpPr>
          <p:sp>
            <p:nvSpPr>
              <p:cNvPr id="88" name="Oval 87"/>
              <p:cNvSpPr/>
              <p:nvPr/>
            </p:nvSpPr>
            <p:spPr>
              <a:xfrm>
                <a:off x="4430800" y="3303979"/>
                <a:ext cx="45719" cy="45719"/>
              </a:xfrm>
              <a:prstGeom prst="ellipse">
                <a:avLst/>
              </a:prstGeom>
              <a:solidFill>
                <a:srgbClr val="C9C9B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89" name="Rectangle 88"/>
              <p:cNvSpPr/>
              <p:nvPr/>
            </p:nvSpPr>
            <p:spPr>
              <a:xfrm>
                <a:off x="4499907" y="3249481"/>
                <a:ext cx="1492716" cy="2616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CA" sz="1100" b="1" dirty="0" smtClean="0">
                    <a:latin typeface="Britannic Bold" panose="020B0903060703020204" pitchFamily="34" charset="0"/>
                  </a:rPr>
                  <a:t>Q4: </a:t>
                </a:r>
                <a:r>
                  <a:rPr lang="en-CA" sz="1100" dirty="0" smtClean="0">
                    <a:latin typeface="Britannic Bold" panose="020B0903060703020204" pitchFamily="34" charset="0"/>
                  </a:rPr>
                  <a:t>$280M (holiday)</a:t>
                </a:r>
                <a:endParaRPr lang="en-CA" sz="1100" dirty="0">
                  <a:latin typeface="Britannic Bold" panose="020B0903060703020204" pitchFamily="34" charset="0"/>
                </a:endParaRPr>
              </a:p>
            </p:txBody>
          </p:sp>
        </p:grpSp>
        <p:sp>
          <p:nvSpPr>
            <p:cNvPr id="90" name="Rounded Rectangle 89"/>
            <p:cNvSpPr/>
            <p:nvPr/>
          </p:nvSpPr>
          <p:spPr>
            <a:xfrm>
              <a:off x="329832" y="3999617"/>
              <a:ext cx="5296822" cy="2460529"/>
            </a:xfrm>
            <a:prstGeom prst="roundRect">
              <a:avLst>
                <a:gd name="adj" fmla="val 11217"/>
              </a:avLst>
            </a:prstGeom>
            <a:solidFill>
              <a:srgbClr val="5DDE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91" name="Rounded Rectangle 90"/>
            <p:cNvSpPr/>
            <p:nvPr/>
          </p:nvSpPr>
          <p:spPr>
            <a:xfrm>
              <a:off x="408594" y="3929408"/>
              <a:ext cx="7476045" cy="2517534"/>
            </a:xfrm>
            <a:prstGeom prst="roundRect">
              <a:avLst>
                <a:gd name="adj" fmla="val 10450"/>
              </a:avLst>
            </a:prstGeom>
            <a:solidFill>
              <a:srgbClr val="122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92" name="Pie 91"/>
            <p:cNvSpPr/>
            <p:nvPr/>
          </p:nvSpPr>
          <p:spPr>
            <a:xfrm>
              <a:off x="619284" y="4227023"/>
              <a:ext cx="190500" cy="181982"/>
            </a:xfrm>
            <a:prstGeom prst="pie">
              <a:avLst/>
            </a:prstGeom>
            <a:solidFill>
              <a:srgbClr val="5DDE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>
                <a:solidFill>
                  <a:schemeClr val="tx1"/>
                </a:solidFill>
              </a:endParaRPr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863262" y="4132843"/>
              <a:ext cx="18806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 smtClean="0">
                  <a:latin typeface="Britannic Bold" panose="020B0903060703020204" pitchFamily="34" charset="0"/>
                </a:rPr>
                <a:t>Key Action Items</a:t>
              </a:r>
              <a:endParaRPr lang="en-CA" dirty="0">
                <a:latin typeface="Britannic Bold" panose="020B0903060703020204" pitchFamily="34" charset="0"/>
              </a:endParaRPr>
            </a:p>
          </p:txBody>
        </p:sp>
        <p:sp>
          <p:nvSpPr>
            <p:cNvPr id="114" name="Donut 113"/>
            <p:cNvSpPr/>
            <p:nvPr/>
          </p:nvSpPr>
          <p:spPr>
            <a:xfrm>
              <a:off x="9742870" y="1399538"/>
              <a:ext cx="308189" cy="308189"/>
            </a:xfrm>
            <a:prstGeom prst="donut">
              <a:avLst/>
            </a:prstGeom>
            <a:solidFill>
              <a:srgbClr val="5DDE16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>
                <a:solidFill>
                  <a:schemeClr val="tx1"/>
                </a:solidFill>
              </a:endParaRPr>
            </a:p>
          </p:txBody>
        </p:sp>
        <p:sp>
          <p:nvSpPr>
            <p:cNvPr id="115" name="Rectangle 114"/>
            <p:cNvSpPr/>
            <p:nvPr/>
          </p:nvSpPr>
          <p:spPr>
            <a:xfrm>
              <a:off x="9470301" y="1759868"/>
              <a:ext cx="93166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CA" dirty="0" smtClean="0">
                  <a:solidFill>
                    <a:schemeClr val="bg1"/>
                  </a:solidFill>
                  <a:latin typeface="Britannic Bold" panose="020B0903060703020204" pitchFamily="34" charset="0"/>
                </a:rPr>
                <a:t>$1.0B+</a:t>
              </a:r>
              <a:endParaRPr lang="en-CA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9091167" y="2022974"/>
              <a:ext cx="166263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1200" dirty="0">
                  <a:solidFill>
                    <a:schemeClr val="bg1"/>
                  </a:solidFill>
                  <a:latin typeface="Britannic Bold" panose="020B0903060703020204" pitchFamily="34" charset="0"/>
                </a:rPr>
                <a:t>2022 Revenue Target</a:t>
              </a: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8914033" y="2526630"/>
              <a:ext cx="260680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1100" dirty="0" smtClean="0">
                  <a:solidFill>
                    <a:schemeClr val="tx2">
                      <a:lumMod val="90000"/>
                    </a:schemeClr>
                  </a:solidFill>
                  <a:latin typeface="Britannic Bold" panose="020B0903060703020204" pitchFamily="34" charset="0"/>
                  <a:cs typeface="Times New Roman" panose="02020603050405020304" pitchFamily="18" charset="0"/>
                </a:rPr>
                <a:t>11% growth from 2020-2021 baseline</a:t>
              </a:r>
              <a:endParaRPr lang="en-CA" sz="1100" dirty="0">
                <a:solidFill>
                  <a:schemeClr val="tx2">
                    <a:lumMod val="90000"/>
                  </a:schemeClr>
                </a:solidFill>
                <a:latin typeface="Britannic Bold" panose="020B0903060703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18" name="Rounded Rectangle 117"/>
            <p:cNvSpPr/>
            <p:nvPr/>
          </p:nvSpPr>
          <p:spPr>
            <a:xfrm>
              <a:off x="8009544" y="3482132"/>
              <a:ext cx="4030056" cy="2964810"/>
            </a:xfrm>
            <a:prstGeom prst="roundRect">
              <a:avLst>
                <a:gd name="adj" fmla="val 10450"/>
              </a:avLst>
            </a:prstGeom>
            <a:solidFill>
              <a:srgbClr val="122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119" name="Rectangle 118"/>
            <p:cNvSpPr/>
            <p:nvPr/>
          </p:nvSpPr>
          <p:spPr>
            <a:xfrm>
              <a:off x="8109524" y="3687812"/>
              <a:ext cx="1383735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CA" sz="1600" dirty="0" smtClean="0">
                  <a:latin typeface="Britannic Bold" panose="020B0903060703020204" pitchFamily="34" charset="0"/>
                </a:rPr>
                <a:t>Key Insights</a:t>
              </a:r>
              <a:endParaRPr lang="en-CA" sz="1600" dirty="0">
                <a:latin typeface="Britannic Bold" panose="020B0903060703020204" pitchFamily="34" charset="0"/>
              </a:endParaRPr>
            </a:p>
          </p:txBody>
        </p:sp>
        <p:sp>
          <p:nvSpPr>
            <p:cNvPr id="120" name="Flowchart: Summing Junction 119"/>
            <p:cNvSpPr/>
            <p:nvPr/>
          </p:nvSpPr>
          <p:spPr>
            <a:xfrm>
              <a:off x="8215729" y="4227023"/>
              <a:ext cx="181982" cy="181982"/>
            </a:xfrm>
            <a:prstGeom prst="flowChartSummingJunction">
              <a:avLst/>
            </a:prstGeom>
            <a:solidFill>
              <a:srgbClr val="5DDE16"/>
            </a:solidFill>
            <a:ln>
              <a:solidFill>
                <a:srgbClr val="5DDE1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21" name="Flowchart: Summing Junction 120"/>
            <p:cNvSpPr/>
            <p:nvPr/>
          </p:nvSpPr>
          <p:spPr>
            <a:xfrm>
              <a:off x="8215729" y="4671216"/>
              <a:ext cx="181982" cy="181982"/>
            </a:xfrm>
            <a:prstGeom prst="flowChartSummingJunction">
              <a:avLst/>
            </a:prstGeom>
            <a:solidFill>
              <a:srgbClr val="5DDE16"/>
            </a:solidFill>
            <a:ln>
              <a:solidFill>
                <a:srgbClr val="5DDE1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22" name="Flowchart: Summing Junction 121"/>
            <p:cNvSpPr/>
            <p:nvPr/>
          </p:nvSpPr>
          <p:spPr>
            <a:xfrm>
              <a:off x="8233638" y="5155000"/>
              <a:ext cx="181982" cy="181982"/>
            </a:xfrm>
            <a:prstGeom prst="flowChartSummingJunction">
              <a:avLst/>
            </a:prstGeom>
            <a:solidFill>
              <a:srgbClr val="5DDE16"/>
            </a:solidFill>
            <a:ln>
              <a:solidFill>
                <a:srgbClr val="5DDE1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23" name="Flowchart: Summing Junction 122"/>
            <p:cNvSpPr/>
            <p:nvPr/>
          </p:nvSpPr>
          <p:spPr>
            <a:xfrm>
              <a:off x="8233638" y="5599193"/>
              <a:ext cx="181982" cy="181982"/>
            </a:xfrm>
            <a:prstGeom prst="flowChartSummingJunction">
              <a:avLst/>
            </a:prstGeom>
            <a:solidFill>
              <a:srgbClr val="5DDE16"/>
            </a:solidFill>
            <a:ln>
              <a:solidFill>
                <a:srgbClr val="5DDE1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8505565" y="4189388"/>
              <a:ext cx="3076483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1050" dirty="0" smtClean="0">
                  <a:latin typeface="Britannic Bold" panose="020B0903060703020204" pitchFamily="34" charset="0"/>
                </a:rPr>
                <a:t>West Gear leads retailer performance at $243M.</a:t>
              </a:r>
              <a:endParaRPr lang="en-CA" sz="1050" dirty="0">
                <a:latin typeface="Britannic Bold" panose="020B0903060703020204" pitchFamily="34" charset="0"/>
              </a:endParaRPr>
            </a:p>
          </p:txBody>
        </p:sp>
        <p:sp>
          <p:nvSpPr>
            <p:cNvPr id="125" name="Rectangle 124"/>
            <p:cNvSpPr/>
            <p:nvPr/>
          </p:nvSpPr>
          <p:spPr>
            <a:xfrm>
              <a:off x="373627" y="873080"/>
              <a:ext cx="7558479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CA" sz="1100" dirty="0" smtClean="0">
                  <a:solidFill>
                    <a:schemeClr val="tx2">
                      <a:lumMod val="90000"/>
                    </a:schemeClr>
                  </a:solidFill>
                  <a:latin typeface="Britannic Bold" panose="020B0903060703020204" pitchFamily="34" charset="0"/>
                  <a:cs typeface="Times New Roman" panose="02020603050405020304" pitchFamily="18" charset="0"/>
                </a:rPr>
                <a:t>Data-driven approach to sustained growth and market leadership</a:t>
              </a:r>
            </a:p>
          </p:txBody>
        </p:sp>
        <p:sp>
          <p:nvSpPr>
            <p:cNvPr id="126" name="TextBox 125"/>
            <p:cNvSpPr txBox="1"/>
            <p:nvPr/>
          </p:nvSpPr>
          <p:spPr>
            <a:xfrm>
              <a:off x="8505565" y="4635249"/>
              <a:ext cx="2861681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1050" dirty="0" smtClean="0">
                  <a:latin typeface="Britannic Bold" panose="020B0903060703020204" pitchFamily="34" charset="0"/>
                </a:rPr>
                <a:t>In-store channel dominate with 39.6% share.</a:t>
              </a:r>
              <a:endParaRPr lang="en-CA" sz="1050" dirty="0">
                <a:latin typeface="Britannic Bold" panose="020B0903060703020204" pitchFamily="34" charset="0"/>
              </a:endParaRPr>
            </a:p>
          </p:txBody>
        </p:sp>
        <p:sp>
          <p:nvSpPr>
            <p:cNvPr id="127" name="TextBox 126"/>
            <p:cNvSpPr txBox="1"/>
            <p:nvPr/>
          </p:nvSpPr>
          <p:spPr>
            <a:xfrm>
              <a:off x="8505566" y="5119033"/>
              <a:ext cx="2757486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1050" dirty="0" smtClean="0">
                  <a:latin typeface="Britannic Bold" panose="020B0903060703020204" pitchFamily="34" charset="0"/>
                </a:rPr>
                <a:t>Q3 shows strongest seasonal performance.</a:t>
              </a:r>
              <a:endParaRPr lang="en-CA" sz="1050" dirty="0">
                <a:latin typeface="Britannic Bold" panose="020B0903060703020204" pitchFamily="34" charset="0"/>
              </a:endParaRPr>
            </a:p>
          </p:txBody>
        </p:sp>
        <p:sp>
          <p:nvSpPr>
            <p:cNvPr id="128" name="TextBox 127"/>
            <p:cNvSpPr txBox="1"/>
            <p:nvPr/>
          </p:nvSpPr>
          <p:spPr>
            <a:xfrm>
              <a:off x="8508646" y="5559480"/>
              <a:ext cx="2901756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1050" dirty="0" smtClean="0">
                  <a:latin typeface="Britannic Bold" panose="020B0903060703020204" pitchFamily="34" charset="0"/>
                </a:rPr>
                <a:t>Women’s Athletic present growth opportunity.</a:t>
              </a:r>
              <a:endParaRPr lang="en-CA" sz="1050" dirty="0">
                <a:latin typeface="Britannic Bold" panose="020B0903060703020204" pitchFamily="34" charset="0"/>
              </a:endParaRPr>
            </a:p>
          </p:txBody>
        </p:sp>
        <p:grpSp>
          <p:nvGrpSpPr>
            <p:cNvPr id="134" name="Group 133"/>
            <p:cNvGrpSpPr/>
            <p:nvPr/>
          </p:nvGrpSpPr>
          <p:grpSpPr>
            <a:xfrm>
              <a:off x="613659" y="4863433"/>
              <a:ext cx="3472724" cy="1324469"/>
              <a:chOff x="613659" y="4863433"/>
              <a:chExt cx="3472724" cy="1324469"/>
            </a:xfrm>
          </p:grpSpPr>
          <p:sp>
            <p:nvSpPr>
              <p:cNvPr id="94" name="Rounded Rectangle 93"/>
              <p:cNvSpPr/>
              <p:nvPr/>
            </p:nvSpPr>
            <p:spPr>
              <a:xfrm>
                <a:off x="619284" y="4863433"/>
                <a:ext cx="3467099" cy="611432"/>
              </a:xfrm>
              <a:prstGeom prst="roundRect">
                <a:avLst>
                  <a:gd name="adj" fmla="val 10450"/>
                </a:avLst>
              </a:prstGeom>
              <a:solidFill>
                <a:srgbClr val="0D0D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sp>
            <p:nvSpPr>
              <p:cNvPr id="129" name="Flowchart: Summing Junction 128"/>
              <p:cNvSpPr/>
              <p:nvPr/>
            </p:nvSpPr>
            <p:spPr>
              <a:xfrm>
                <a:off x="707882" y="5052739"/>
                <a:ext cx="181982" cy="181982"/>
              </a:xfrm>
              <a:prstGeom prst="flowChartSummingJunction">
                <a:avLst/>
              </a:prstGeom>
              <a:solidFill>
                <a:srgbClr val="5DDE16"/>
              </a:solidFill>
              <a:ln>
                <a:solidFill>
                  <a:srgbClr val="5DDE1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30" name="Rectangle 129"/>
              <p:cNvSpPr/>
              <p:nvPr/>
            </p:nvSpPr>
            <p:spPr>
              <a:xfrm>
                <a:off x="921017" y="4995589"/>
                <a:ext cx="2934265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CA" sz="1000" b="1" dirty="0" smtClean="0">
                    <a:latin typeface="Britannic Bold" panose="020B0903060703020204" pitchFamily="34" charset="0"/>
                  </a:rPr>
                  <a:t>Q1 2022: </a:t>
                </a:r>
                <a:r>
                  <a:rPr lang="en-CA" sz="1000" dirty="0" smtClean="0">
                    <a:latin typeface="Britannic Bold" panose="020B0903060703020204" pitchFamily="34" charset="0"/>
                  </a:rPr>
                  <a:t>Launce Women’s Athletic expansion with 15 new SKUs</a:t>
                </a:r>
                <a:endParaRPr lang="en-CA" sz="1000" dirty="0">
                  <a:latin typeface="Britannic Bold" panose="020B0903060703020204" pitchFamily="34" charset="0"/>
                </a:endParaRPr>
              </a:p>
            </p:txBody>
          </p:sp>
          <p:sp>
            <p:nvSpPr>
              <p:cNvPr id="131" name="Rounded Rectangle 130"/>
              <p:cNvSpPr/>
              <p:nvPr/>
            </p:nvSpPr>
            <p:spPr>
              <a:xfrm>
                <a:off x="613659" y="5576470"/>
                <a:ext cx="3467099" cy="611432"/>
              </a:xfrm>
              <a:prstGeom prst="roundRect">
                <a:avLst>
                  <a:gd name="adj" fmla="val 10450"/>
                </a:avLst>
              </a:prstGeom>
              <a:solidFill>
                <a:srgbClr val="0D0D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sp>
            <p:nvSpPr>
              <p:cNvPr id="132" name="Flowchart: Summing Junction 131"/>
              <p:cNvSpPr/>
              <p:nvPr/>
            </p:nvSpPr>
            <p:spPr>
              <a:xfrm>
                <a:off x="702257" y="5765776"/>
                <a:ext cx="181982" cy="181982"/>
              </a:xfrm>
              <a:prstGeom prst="flowChartSummingJunction">
                <a:avLst/>
              </a:prstGeom>
              <a:solidFill>
                <a:srgbClr val="5DDE16"/>
              </a:solidFill>
              <a:ln>
                <a:solidFill>
                  <a:srgbClr val="5DDE1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33" name="Rectangle 132"/>
              <p:cNvSpPr/>
              <p:nvPr/>
            </p:nvSpPr>
            <p:spPr>
              <a:xfrm>
                <a:off x="915392" y="5708626"/>
                <a:ext cx="2934265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CA" sz="1000" b="1" dirty="0" smtClean="0">
                    <a:latin typeface="Britannic Bold" panose="020B0903060703020204" pitchFamily="34" charset="0"/>
                  </a:rPr>
                  <a:t>Q3 2022: </a:t>
                </a:r>
                <a:r>
                  <a:rPr lang="en-CA" sz="1000" dirty="0" smtClean="0">
                    <a:latin typeface="Britannic Bold" panose="020B0903060703020204" pitchFamily="34" charset="0"/>
                  </a:rPr>
                  <a:t>Execute peak season campaign targeting $95m+ monthly</a:t>
                </a:r>
                <a:endParaRPr lang="en-CA" sz="1000" dirty="0">
                  <a:latin typeface="Britannic Bold" panose="020B0903060703020204" pitchFamily="34" charset="0"/>
                </a:endParaRPr>
              </a:p>
            </p:txBody>
          </p:sp>
        </p:grpSp>
        <p:grpSp>
          <p:nvGrpSpPr>
            <p:cNvPr id="142" name="Group 141"/>
            <p:cNvGrpSpPr/>
            <p:nvPr/>
          </p:nvGrpSpPr>
          <p:grpSpPr>
            <a:xfrm>
              <a:off x="4257039" y="4863433"/>
              <a:ext cx="3472724" cy="1324469"/>
              <a:chOff x="613659" y="4863433"/>
              <a:chExt cx="3472724" cy="1324469"/>
            </a:xfrm>
          </p:grpSpPr>
          <p:sp>
            <p:nvSpPr>
              <p:cNvPr id="143" name="Rounded Rectangle 142"/>
              <p:cNvSpPr/>
              <p:nvPr/>
            </p:nvSpPr>
            <p:spPr>
              <a:xfrm>
                <a:off x="619284" y="4863433"/>
                <a:ext cx="3467099" cy="611432"/>
              </a:xfrm>
              <a:prstGeom prst="roundRect">
                <a:avLst>
                  <a:gd name="adj" fmla="val 10450"/>
                </a:avLst>
              </a:prstGeom>
              <a:solidFill>
                <a:srgbClr val="0D0D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sp>
            <p:nvSpPr>
              <p:cNvPr id="144" name="Flowchart: Summing Junction 143"/>
              <p:cNvSpPr/>
              <p:nvPr/>
            </p:nvSpPr>
            <p:spPr>
              <a:xfrm>
                <a:off x="707882" y="5052739"/>
                <a:ext cx="181982" cy="181982"/>
              </a:xfrm>
              <a:prstGeom prst="flowChartSummingJunction">
                <a:avLst/>
              </a:prstGeom>
              <a:solidFill>
                <a:srgbClr val="5DDE16"/>
              </a:solidFill>
              <a:ln>
                <a:solidFill>
                  <a:srgbClr val="5DDE1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45" name="Rectangle 144"/>
              <p:cNvSpPr/>
              <p:nvPr/>
            </p:nvSpPr>
            <p:spPr>
              <a:xfrm>
                <a:off x="921017" y="4995589"/>
                <a:ext cx="2934265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CA" sz="1000" b="1" dirty="0" smtClean="0">
                    <a:latin typeface="Britannic Bold" panose="020B0903060703020204" pitchFamily="34" charset="0"/>
                  </a:rPr>
                  <a:t>Q2 2022: </a:t>
                </a:r>
                <a:r>
                  <a:rPr lang="en-CA" sz="1000" dirty="0" smtClean="0">
                    <a:latin typeface="Britannic Bold" panose="020B0903060703020204" pitchFamily="34" charset="0"/>
                  </a:rPr>
                  <a:t>Implement online UX improvements and personalization</a:t>
                </a:r>
                <a:endParaRPr lang="en-CA" sz="1000" dirty="0">
                  <a:latin typeface="Britannic Bold" panose="020B0903060703020204" pitchFamily="34" charset="0"/>
                </a:endParaRPr>
              </a:p>
            </p:txBody>
          </p:sp>
          <p:sp>
            <p:nvSpPr>
              <p:cNvPr id="146" name="Rounded Rectangle 145"/>
              <p:cNvSpPr/>
              <p:nvPr/>
            </p:nvSpPr>
            <p:spPr>
              <a:xfrm>
                <a:off x="613659" y="5576470"/>
                <a:ext cx="3467099" cy="611432"/>
              </a:xfrm>
              <a:prstGeom prst="roundRect">
                <a:avLst>
                  <a:gd name="adj" fmla="val 10450"/>
                </a:avLst>
              </a:prstGeom>
              <a:solidFill>
                <a:srgbClr val="0D0D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sp>
            <p:nvSpPr>
              <p:cNvPr id="147" name="Flowchart: Summing Junction 146"/>
              <p:cNvSpPr/>
              <p:nvPr/>
            </p:nvSpPr>
            <p:spPr>
              <a:xfrm>
                <a:off x="702257" y="5765776"/>
                <a:ext cx="181982" cy="181982"/>
              </a:xfrm>
              <a:prstGeom prst="flowChartSummingJunction">
                <a:avLst/>
              </a:prstGeom>
              <a:solidFill>
                <a:srgbClr val="5DDE16"/>
              </a:solidFill>
              <a:ln>
                <a:solidFill>
                  <a:srgbClr val="5DDE1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48" name="Rectangle 147"/>
              <p:cNvSpPr/>
              <p:nvPr/>
            </p:nvSpPr>
            <p:spPr>
              <a:xfrm>
                <a:off x="915392" y="5708626"/>
                <a:ext cx="2934265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CA" sz="1000" b="1" dirty="0" smtClean="0">
                    <a:latin typeface="Britannic Bold" panose="020B0903060703020204" pitchFamily="34" charset="0"/>
                  </a:rPr>
                  <a:t>Q4 2022: </a:t>
                </a:r>
                <a:r>
                  <a:rPr lang="en-CA" sz="1000" dirty="0" smtClean="0">
                    <a:latin typeface="Britannic Bold" panose="020B0903060703020204" pitchFamily="34" charset="0"/>
                  </a:rPr>
                  <a:t>Expand Midwest/South distribution by 20%</a:t>
                </a:r>
                <a:endParaRPr lang="en-CA" sz="1000" dirty="0">
                  <a:latin typeface="Britannic Bold" panose="020B0903060703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80353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685</TotalTime>
  <Words>1283</Words>
  <Application>Microsoft Office PowerPoint</Application>
  <PresentationFormat>Widescreen</PresentationFormat>
  <Paragraphs>309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Britannic Bold</vt:lpstr>
      <vt:lpstr>Calibri</vt:lpstr>
      <vt:lpstr>Calibri Light</vt:lpstr>
      <vt:lpstr>Cooper Black</vt:lpstr>
      <vt:lpstr>Impact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Oduwole</dc:creator>
  <cp:lastModifiedBy>Oduwole</cp:lastModifiedBy>
  <cp:revision>64</cp:revision>
  <dcterms:created xsi:type="dcterms:W3CDTF">2026-03-26T07:39:35Z</dcterms:created>
  <dcterms:modified xsi:type="dcterms:W3CDTF">2026-03-26T19:05:09Z</dcterms:modified>
</cp:coreProperties>
</file>